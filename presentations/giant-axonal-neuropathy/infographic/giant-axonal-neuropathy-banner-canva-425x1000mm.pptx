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300000" cy="36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5000" y="3600000"/>
            <a:ext cx="54000" cy="1080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5000" y="14400000"/>
            <a:ext cx="54000" cy="10800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000" y="25200000"/>
            <a:ext cx="54000" cy="9540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5300000" cy="360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0" y="-4140000"/>
            <a:ext cx="7200000" cy="7200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00000" y="-540000"/>
            <a:ext cx="3960000" cy="3960000"/>
          </a:xfrm>
          <a:prstGeom prst="ellipse">
            <a:avLst/>
          </a:prstGeom>
          <a:solidFill>
            <a:srgbClr val="2A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916000"/>
            <a:ext cx="15300000" cy="216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40000" y="2736000"/>
            <a:ext cx="3960000" cy="612000"/>
          </a:xfrm>
          <a:prstGeom prst="ellipse">
            <a:avLst/>
          </a:prstGeom>
          <a:solidFill>
            <a:srgbClr val="1B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024000"/>
            <a:ext cx="15300000" cy="72000"/>
          </a:xfrm>
          <a:prstGeom prst="rect">
            <a:avLst/>
          </a:prstGeom>
          <a:solidFill>
            <a:srgbClr val="2B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4536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000" y="396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RARE NEUROGENETIC DISEASE · OMIM #256850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0000"/>
            <a:ext cx="111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900" b="0" i="0">
                <a:solidFill>
                  <a:srgbClr val="F6F3EC"/>
                </a:solidFill>
                <a:latin typeface="Fraunces"/>
              </a:rPr>
              <a:t>Giant Axonal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900" b="0" i="1">
                <a:solidFill>
                  <a:srgbClr val="F6F3EC"/>
                </a:solidFill>
                <a:latin typeface="Fraunces"/>
              </a:rPr>
              <a:t>Neuropathy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2376000"/>
            <a:ext cx="10080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300" b="0" i="0">
                <a:solidFill>
                  <a:srgbClr val="B8BCC8"/>
                </a:solidFill>
                <a:latin typeface="Manrope"/>
              </a:rPr>
              <a:t>How the loss of one small protein, gigaxonin, makes nerve fibres swell and die — and how one family's fight produced the world's first intrathecal gene therapy.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" y="3240000"/>
            <a:ext cx="968400" cy="234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240000"/>
            <a:ext cx="968400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7FE0D4"/>
                </a:solidFill>
                <a:latin typeface="Manrope"/>
              </a:rPr>
              <a:t>GENE: 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0400" y="3240000"/>
            <a:ext cx="1648800" cy="234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60400" y="3240000"/>
            <a:ext cx="1648800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B8BCC8"/>
                </a:solidFill>
                <a:latin typeface="Manrope"/>
              </a:rPr>
              <a:t>CHROMOSOME 16Q23.2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7200" y="3240000"/>
            <a:ext cx="1724400" cy="234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7200" y="3240000"/>
            <a:ext cx="1724400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B8BCC8"/>
                </a:solidFill>
                <a:latin typeface="Manrope"/>
              </a:rPr>
              <a:t>AUTOSOMAL RECESSIVE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600" y="3240000"/>
            <a:ext cx="1422000" cy="234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600" y="3240000"/>
            <a:ext cx="1422000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B8BCC8"/>
                </a:solidFill>
                <a:latin typeface="Manrope"/>
              </a:rPr>
              <a:t>ONSET ≈ 3 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9600" y="3240000"/>
            <a:ext cx="2329200" cy="234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9600" y="3240000"/>
            <a:ext cx="2329200" cy="23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B8BCC8"/>
                </a:solidFill>
                <a:latin typeface="Manrope"/>
              </a:rPr>
              <a:t>PREVALENCE &lt; 1 IN 1,000,000</a:t>
            </a:r>
          </a:p>
        </p:txBody>
      </p:sp>
      <p:sp>
        <p:nvSpPr>
          <p:cNvPr id="25" name="Oval 24"/>
          <p:cNvSpPr/>
          <p:nvPr/>
        </p:nvSpPr>
        <p:spPr>
          <a:xfrm>
            <a:off x="126000" y="3996000"/>
            <a:ext cx="432000" cy="432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000" y="399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" y="39816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6000" y="3924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THE GENETIC ROOT 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000" y="4140000"/>
            <a:ext cx="1393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14213D"/>
                </a:solidFill>
                <a:latin typeface="Fraunces"/>
              </a:rPr>
              <a:t>One gene, two broken copies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000" y="4680000"/>
            <a:ext cx="7776000" cy="15480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4851000"/>
            <a:ext cx="12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1A9C8E"/>
                </a:solidFill>
                <a:latin typeface="Manrope"/>
              </a:rPr>
              <a:t>GENE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6000" y="4824000"/>
            <a:ext cx="604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14213D"/>
                </a:solidFill>
                <a:latin typeface="Manrope"/>
              </a:rPr>
              <a:t>GAN</a:t>
            </a:r>
            <a:r>
              <a:rPr sz="1200" b="0" i="0">
                <a:solidFill>
                  <a:srgbClr val="14213D"/>
                </a:solidFill>
                <a:latin typeface="Manrope"/>
              </a:rPr>
              <a:t> — chromosome 16, band 16q23.2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00" y="5175000"/>
            <a:ext cx="12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1A9C8E"/>
                </a:solidFill>
                <a:latin typeface="Manrope"/>
              </a:rPr>
              <a:t>PROTEIN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6000" y="5148000"/>
            <a:ext cx="604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14213D"/>
                </a:solidFill>
                <a:latin typeface="Manrope"/>
              </a:rPr>
              <a:t>Gigaxonin</a:t>
            </a:r>
            <a:r>
              <a:rPr sz="1200" b="0" i="0">
                <a:solidFill>
                  <a:srgbClr val="14213D"/>
                </a:solidFill>
                <a:latin typeface="Manrope"/>
              </a:rPr>
              <a:t> — 597 aa, BTB/Kelch family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000" y="5499000"/>
            <a:ext cx="12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1A9C8E"/>
                </a:solidFill>
                <a:latin typeface="Manrope"/>
              </a:rPr>
              <a:t>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6000" y="5472000"/>
            <a:ext cx="604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0" i="0">
                <a:solidFill>
                  <a:srgbClr val="14213D"/>
                </a:solidFill>
                <a:latin typeface="Manrope"/>
              </a:rPr>
              <a:t>Adaptor for a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Cul3 E3 ubiquitin ligase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000" y="5823000"/>
            <a:ext cx="12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1A9C8E"/>
                </a:solidFill>
                <a:latin typeface="Manrope"/>
              </a:rPr>
              <a:t>MECHANISM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6000" y="5796000"/>
            <a:ext cx="604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0" i="0">
                <a:solidFill>
                  <a:srgbClr val="14213D"/>
                </a:solidFill>
                <a:latin typeface="Manrope"/>
              </a:rPr>
              <a:t>Loss of function —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&gt;100</a:t>
            </a:r>
            <a:r>
              <a:rPr sz="1200" b="0" i="0">
                <a:solidFill>
                  <a:srgbClr val="14213D"/>
                </a:solidFill>
                <a:latin typeface="Manrope"/>
              </a:rPr>
              <a:t> variants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00" y="6408000"/>
            <a:ext cx="7776000" cy="10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1A9C8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Autosomal recessive: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disease appears only when both inherited copies of </a:t>
            </a:r>
            <a:r>
              <a:rPr sz="120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are defective.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1A9C8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Carrier parents are healthy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— one working copy is enough. Each pregnancy carries a 25% risk of an affected child.</a:t>
            </a:r>
          </a:p>
        </p:txBody>
      </p:sp>
      <p:pic>
        <p:nvPicPr>
          <p:cNvPr id="40" name="Picture 39" descr="l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7452000"/>
            <a:ext cx="2982346" cy="1188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4000" y="8712000"/>
            <a:ext cx="7776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680" b="1" i="0">
                <a:solidFill>
                  <a:srgbClr val="14213D"/>
                </a:solidFill>
                <a:latin typeface="Manrope"/>
              </a:rPr>
              <a:t>MUTATION LOCUS   </a:t>
            </a:r>
            <a:r>
              <a:rPr sz="800" b="0" i="0">
                <a:solidFill>
                  <a:srgbClr val="4A5570"/>
                </a:solidFill>
                <a:latin typeface="Manrope"/>
              </a:rPr>
              <a:t>Long arm of chromosome 16, band q23.2 — home of the GAN gene</a:t>
            </a:r>
          </a:p>
        </p:txBody>
      </p:sp>
      <p:pic>
        <p:nvPicPr>
          <p:cNvPr id="42" name="Picture 41" descr="inheri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000" y="4644000"/>
            <a:ext cx="4499278" cy="4068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748000" y="8802000"/>
            <a:ext cx="59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680" b="1" i="0">
                <a:solidFill>
                  <a:srgbClr val="14213D"/>
                </a:solidFill>
                <a:latin typeface="Manrope"/>
              </a:rPr>
              <a:t>INHERITANCE PATTERN   </a:t>
            </a:r>
            <a:r>
              <a:rPr sz="800" b="0" i="0">
                <a:solidFill>
                  <a:srgbClr val="4A5570"/>
                </a:solidFill>
                <a:latin typeface="Manrope"/>
              </a:rPr>
              <a:t>Two carriers → 1 in 4 affected, 2 in 4 carriers, 1 in 4 unaffected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9000000"/>
            <a:ext cx="15300000" cy="5130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5000" y="9000000"/>
            <a:ext cx="54000" cy="513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6000" y="9396000"/>
            <a:ext cx="432000" cy="432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6000" y="939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4000" y="93816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6000" y="9324000"/>
            <a:ext cx="126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WHAT GIGAXONIN DOES — AND WHAT FAILS WITHOUT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000" y="9540000"/>
            <a:ext cx="1393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14213D"/>
                </a:solidFill>
                <a:latin typeface="Fraunces"/>
              </a:rPr>
              <a:t>The cell's filament recycler goes missing</a:t>
            </a:r>
          </a:p>
        </p:txBody>
      </p:sp>
      <p:pic>
        <p:nvPicPr>
          <p:cNvPr id="51" name="Picture 50" descr="path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00" y="10080000"/>
            <a:ext cx="4752000" cy="3456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4000" y="13626000"/>
            <a:ext cx="511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680" b="1" i="0">
                <a:solidFill>
                  <a:srgbClr val="14213D"/>
                </a:solidFill>
                <a:latin typeface="Manrope"/>
              </a:rPr>
              <a:t>AFFECTED PATHWAY   </a:t>
            </a:r>
            <a:r>
              <a:rPr sz="800" b="0" i="0">
                <a:solidFill>
                  <a:srgbClr val="4A5570"/>
                </a:solidFill>
                <a:latin typeface="Manrope"/>
              </a:rPr>
              <a:t>With gigaxonin → Shh ON · Without gigaxonin → Shh OFF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32000" y="10080000"/>
            <a:ext cx="8784000" cy="1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1A9C8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Normal role: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gigaxonin tags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intermediate filament (IF)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proteins — neurofilaments, vimentin, peripherin, GFAP, keratins — for degradation by the proteasome.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1A9C8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Without gigaxonin: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filaments are never cleared and pile up into dense aggregates that choke axonal transport.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1A9C8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Second hit: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gigaxonin also degrades the receptor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Patched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. When Patched accumulates it keeps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Smoothened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off, so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Sonic hedgehog signalling stays OFF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.</a:t>
            </a:r>
          </a:p>
        </p:txBody>
      </p:sp>
      <p:pic>
        <p:nvPicPr>
          <p:cNvPr id="54" name="Picture 53" descr="fila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000" y="12096000"/>
            <a:ext cx="1790698" cy="1800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838698" y="12528000"/>
            <a:ext cx="6777302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680" b="1" i="0">
                <a:solidFill>
                  <a:srgbClr val="14213D"/>
                </a:solidFill>
                <a:latin typeface="Manrope"/>
              </a:rPr>
              <a:t>INTERMEDIATE FILAMENT AGGREGATE</a:t>
            </a:r>
          </a:p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00" b="0" i="0">
                <a:solidFill>
                  <a:srgbClr val="4A5570"/>
                </a:solidFill>
                <a:latin typeface="Manrope"/>
              </a:rPr>
              <a:t>Patient cell — the hallmark of gigaxonin loss (arrow). N = nucleus.</a:t>
            </a:r>
          </a:p>
        </p:txBody>
      </p:sp>
      <p:sp>
        <p:nvSpPr>
          <p:cNvPr id="56" name="Oval 55"/>
          <p:cNvSpPr/>
          <p:nvPr/>
        </p:nvSpPr>
        <p:spPr>
          <a:xfrm>
            <a:off x="126000" y="14526000"/>
            <a:ext cx="432000" cy="432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6000" y="1452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4000" y="14511600"/>
            <a:ext cx="324000" cy="252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6000" y="14454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E4572E"/>
                </a:solidFill>
                <a:latin typeface="Manrope"/>
              </a:rPr>
              <a:t>THE PHENOTYPE, CELL BY CELL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4000" y="14670000"/>
            <a:ext cx="1393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14213D"/>
                </a:solidFill>
                <a:latin typeface="Fraunces"/>
              </a:rPr>
              <a:t>Axons that swell into </a:t>
            </a:r>
            <a:r>
              <a:rPr sz="2700" b="0" i="1">
                <a:solidFill>
                  <a:srgbClr val="14213D"/>
                </a:solidFill>
                <a:latin typeface="Fraunces"/>
              </a:rPr>
              <a:t>giants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4000" y="15210000"/>
            <a:ext cx="846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E4572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Focal axonal swellings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several times the normal diameter, packed with tangled neurofilaments — the "giant axons" that name the disease.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E4572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Myelin thins and degenerates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over each swelling; conduction slows, then fails.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E4572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Both nervous systems are hit: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peripheral nerves (PNS) and the cerebellum, brainstem and white-matter tracts (CNS).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839">
                <a:solidFill>
                  <a:srgbClr val="E4572E"/>
                </a:solidFill>
                <a:latin typeface="Manrope"/>
              </a:rPr>
              <a:t>● 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Not only neurons: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 GFAP aggregates in astrocytes (Rosenthal fibres); disordered keratin gives the characteristic </a:t>
            </a:r>
            <a:r>
              <a:rPr sz="1200" b="1" i="0">
                <a:solidFill>
                  <a:srgbClr val="14213D"/>
                </a:solidFill>
                <a:latin typeface="Manrope"/>
              </a:rPr>
              <a:t>tightly curled "kinky" hair</a:t>
            </a:r>
            <a:r>
              <a:rPr sz="1200" b="0" i="0">
                <a:solidFill>
                  <a:srgbClr val="4A5570"/>
                </a:solidFill>
                <a:latin typeface="Manrope"/>
              </a:rPr>
              <a:t>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4000" y="18306000"/>
            <a:ext cx="270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000" y="18450000"/>
            <a:ext cx="2340000" cy="42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800" b="0" i="0">
                <a:solidFill>
                  <a:srgbClr val="E4572E"/>
                </a:solidFill>
                <a:latin typeface="Fraunces"/>
              </a:rPr>
              <a:t>3–5×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000" y="18912989"/>
            <a:ext cx="2340000" cy="689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typical diameter of a swollen "giant" axon vs. a healthy one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64000" y="18306000"/>
            <a:ext cx="270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44000" y="18450000"/>
            <a:ext cx="2340000" cy="30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000" b="0" i="0">
                <a:solidFill>
                  <a:srgbClr val="14213D"/>
                </a:solidFill>
                <a:latin typeface="Fraunces"/>
              </a:rPr>
              <a:t>PNS + CNS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4000" y="18790992"/>
            <a:ext cx="2340000" cy="811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a length-dependent axonopathy that becomes a whole-brain disease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44000" y="18306000"/>
            <a:ext cx="27000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4000" y="18450000"/>
            <a:ext cx="2340000" cy="42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800" b="0" i="0">
                <a:solidFill>
                  <a:srgbClr val="1A9C8E"/>
                </a:solidFill>
                <a:latin typeface="Fraunces"/>
              </a:rPr>
              <a:t>MRI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4000" y="18912989"/>
            <a:ext cx="2340000" cy="689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cerebellar and brainstem white-matter change supports diagnosis</a:t>
            </a:r>
          </a:p>
        </p:txBody>
      </p:sp>
      <p:pic>
        <p:nvPicPr>
          <p:cNvPr id="71" name="Picture 70" descr="neur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8000" y="15174000"/>
            <a:ext cx="3825000" cy="45000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828000" y="19764000"/>
            <a:ext cx="478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680" b="1" i="0">
                <a:solidFill>
                  <a:srgbClr val="14213D"/>
                </a:solidFill>
                <a:latin typeface="Manrope"/>
              </a:rPr>
              <a:t>NORMAL VS GAN   </a:t>
            </a:r>
            <a:r>
              <a:rPr sz="800" b="0" i="0">
                <a:solidFill>
                  <a:srgbClr val="4A5570"/>
                </a:solidFill>
                <a:latin typeface="Manrope"/>
              </a:rPr>
              <a:t>Neurofilament accumulation → axonal swelling → myelin loss, in CNS and PNS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20250000"/>
            <a:ext cx="15300000" cy="2970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5000" y="20250000"/>
            <a:ext cx="54000" cy="2970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6000" y="20646000"/>
            <a:ext cx="432000" cy="432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6000" y="2064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4000" y="20631600"/>
            <a:ext cx="324000" cy="252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6000" y="20574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E4572E"/>
                </a:solidFill>
                <a:latin typeface="Manrope"/>
              </a:rPr>
              <a:t>SYMPTOMS AND CLINICAL COURSE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4000" y="20790000"/>
            <a:ext cx="1393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14213D"/>
                </a:solidFill>
                <a:latin typeface="Fraunces"/>
              </a:rPr>
              <a:t>A slow, relentless loss — from the feet upward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4000" y="21438000"/>
            <a:ext cx="13932000" cy="28800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84000" y="21348000"/>
            <a:ext cx="216000" cy="216000"/>
          </a:xfrm>
          <a:prstGeom prst="ellipse">
            <a:avLst/>
          </a:prstGeom>
          <a:solidFill>
            <a:srgbClr val="ECE7DB"/>
          </a:solidFill>
          <a:ln w="444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4000" y="21690000"/>
            <a:ext cx="3321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1A9C8E"/>
                </a:solidFill>
                <a:latin typeface="Manrope"/>
              </a:rPr>
              <a:t>ONSET · ≈ 3 YEARS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4000" y="21870000"/>
            <a:ext cx="3321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450" b="1" i="0">
                <a:solidFill>
                  <a:srgbClr val="14213D"/>
                </a:solidFill>
                <a:latin typeface="Manrope"/>
              </a:rPr>
              <a:t>The clumsy walker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4000" y="22158000"/>
            <a:ext cx="3321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50" b="0" i="0">
                <a:solidFill>
                  <a:srgbClr val="4A5570"/>
                </a:solidFill>
                <a:latin typeface="Manrope"/>
              </a:rPr>
              <a:t>Unsteady gait, frequent falls, weak feet and hands, high-arched feet, diminished reflexes. Tightly curled hair unlike either parent is a visible clue.</a:t>
            </a:r>
          </a:p>
        </p:txBody>
      </p:sp>
      <p:sp>
        <p:nvSpPr>
          <p:cNvPr id="85" name="Oval 84"/>
          <p:cNvSpPr/>
          <p:nvPr/>
        </p:nvSpPr>
        <p:spPr>
          <a:xfrm>
            <a:off x="4221000" y="21348000"/>
            <a:ext cx="216000" cy="216000"/>
          </a:xfrm>
          <a:prstGeom prst="ellipse">
            <a:avLst/>
          </a:prstGeom>
          <a:solidFill>
            <a:srgbClr val="ECE7DB"/>
          </a:solidFill>
          <a:ln w="44450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1000" y="21690000"/>
            <a:ext cx="3321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B7801E"/>
                </a:solidFill>
                <a:latin typeface="Manrope"/>
              </a:rPr>
              <a:t>CHILDHOOD · 5–10 YEARS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21000" y="21870000"/>
            <a:ext cx="3321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450" b="1" i="0">
                <a:solidFill>
                  <a:srgbClr val="14213D"/>
                </a:solidFill>
                <a:latin typeface="Manrope"/>
              </a:rPr>
              <a:t>Peripheral neuropathy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1000" y="22158000"/>
            <a:ext cx="3321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50" b="0" i="0">
                <a:solidFill>
                  <a:srgbClr val="4A5570"/>
                </a:solidFill>
                <a:latin typeface="Manrope"/>
              </a:rPr>
              <a:t>Loss of vibration and position sense, absent reflexes, muscle wasting below knees and elbows. Nerve biopsy shows giant axons; genetic testing confirms </a:t>
            </a:r>
            <a:r>
              <a:rPr sz="105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1050" b="0" i="0">
                <a:solidFill>
                  <a:srgbClr val="4A5570"/>
                </a:solidFill>
                <a:latin typeface="Manrope"/>
              </a:rPr>
              <a:t> variants.</a:t>
            </a:r>
          </a:p>
        </p:txBody>
      </p:sp>
      <p:sp>
        <p:nvSpPr>
          <p:cNvPr id="89" name="Oval 88"/>
          <p:cNvSpPr/>
          <p:nvPr/>
        </p:nvSpPr>
        <p:spPr>
          <a:xfrm>
            <a:off x="7758000" y="21348000"/>
            <a:ext cx="216000" cy="216000"/>
          </a:xfrm>
          <a:prstGeom prst="ellipse">
            <a:avLst/>
          </a:prstGeom>
          <a:solidFill>
            <a:srgbClr val="ECE7DB"/>
          </a:solidFill>
          <a:ln w="444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58000" y="21690000"/>
            <a:ext cx="3321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E4572E"/>
                </a:solidFill>
                <a:latin typeface="Manrope"/>
              </a:rPr>
              <a:t>ADOLESCENCE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58000" y="21870000"/>
            <a:ext cx="3321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450" b="1" i="0">
                <a:solidFill>
                  <a:srgbClr val="14213D"/>
                </a:solidFill>
                <a:latin typeface="Manrope"/>
              </a:rPr>
              <a:t>Central nervous system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58000" y="22158000"/>
            <a:ext cx="3321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50" b="0" i="0">
                <a:solidFill>
                  <a:srgbClr val="4A5570"/>
                </a:solidFill>
                <a:latin typeface="Manrope"/>
              </a:rPr>
              <a:t>Wheelchair dependence, cerebellar ataxia, nystagmus, slurred speech, scoliosis, seizures and cognitive decline as brain white matter degenerates.</a:t>
            </a:r>
          </a:p>
        </p:txBody>
      </p:sp>
      <p:sp>
        <p:nvSpPr>
          <p:cNvPr id="93" name="Oval 92"/>
          <p:cNvSpPr/>
          <p:nvPr/>
        </p:nvSpPr>
        <p:spPr>
          <a:xfrm>
            <a:off x="11295000" y="21348000"/>
            <a:ext cx="216000" cy="216000"/>
          </a:xfrm>
          <a:prstGeom prst="ellipse">
            <a:avLst/>
          </a:prstGeom>
          <a:solidFill>
            <a:srgbClr val="ECE7DB"/>
          </a:solidFill>
          <a:ln w="44450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295000" y="21690000"/>
            <a:ext cx="3321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1" i="0">
                <a:solidFill>
                  <a:srgbClr val="4A5570"/>
                </a:solidFill>
                <a:latin typeface="Manrope"/>
              </a:rPr>
              <a:t>EARLY ADULTHOOD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95000" y="21870000"/>
            <a:ext cx="3321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450" b="1" i="0">
                <a:solidFill>
                  <a:srgbClr val="14213D"/>
                </a:solidFill>
                <a:latin typeface="Manrope"/>
              </a:rPr>
              <a:t>Late stage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95000" y="22158000"/>
            <a:ext cx="3321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050" b="0" i="0">
                <a:solidFill>
                  <a:srgbClr val="4A5570"/>
                </a:solidFill>
                <a:latin typeface="Manrope"/>
              </a:rPr>
              <a:t>Swallowing and breathing muscles weaken; most patients die of respiratory failure in the 2nd–3rd decade. Until 2015 there was </a:t>
            </a:r>
            <a:r>
              <a:rPr sz="1050" b="1" i="0">
                <a:solidFill>
                  <a:srgbClr val="4A5570"/>
                </a:solidFill>
                <a:latin typeface="Manrope"/>
              </a:rPr>
              <a:t>no treatment</a:t>
            </a:r>
            <a:r>
              <a:rPr sz="1050" b="0" i="0">
                <a:solidFill>
                  <a:srgbClr val="4A5570"/>
                </a:solidFill>
                <a:latin typeface="Manrope"/>
              </a:rPr>
              <a:t> beyond supportive care.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23220000"/>
            <a:ext cx="15300000" cy="378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2960000" y="23940000"/>
            <a:ext cx="2880000" cy="2880000"/>
          </a:xfrm>
          <a:prstGeom prst="ellipse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15000" y="23220000"/>
            <a:ext cx="54000" cy="3780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26000" y="23616000"/>
            <a:ext cx="432000" cy="432000"/>
          </a:xfrm>
          <a:prstGeom prst="ellipse">
            <a:avLst/>
          </a:prstGeom>
          <a:solidFill>
            <a:srgbClr val="0F1B33"/>
          </a:solidFill>
          <a:ln w="5715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6000" y="2361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F6F3EC"/>
                </a:solidFill>
                <a:latin typeface="Fraunces"/>
              </a:rPr>
              <a:t>5</a:t>
            </a:r>
          </a:p>
        </p:txBody>
      </p:sp>
      <p:pic>
        <p:nvPicPr>
          <p:cNvPr id="102" name="Picture 101" descr="hann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000" y="23580000"/>
            <a:ext cx="4860000" cy="307379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828000" y="26113792"/>
            <a:ext cx="3600000" cy="39600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6000" y="26167792"/>
            <a:ext cx="34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"/>
              </a:spcAft>
            </a:pPr>
            <a:r>
              <a:rPr sz="680" b="1" i="0">
                <a:solidFill>
                  <a:srgbClr val="7FE0D4"/>
                </a:solidFill>
                <a:latin typeface="Manrope"/>
              </a:rPr>
              <a:t>HANNAH SAMES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720" b="0" i="0">
                <a:solidFill>
                  <a:srgbClr val="F6F3EC"/>
                </a:solidFill>
                <a:latin typeface="Manrope"/>
              </a:rPr>
              <a:t>Rexford, New York · diagnosed 24 March 2008, aged 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940000" y="23601600"/>
            <a:ext cx="324000" cy="252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72000" y="23544000"/>
            <a:ext cx="90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E9B44C"/>
                </a:solidFill>
                <a:latin typeface="Manrope"/>
              </a:rPr>
              <a:t>THE CASE THAT CHANGED THE FIELD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0000" y="23760000"/>
            <a:ext cx="867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F6F3EC"/>
                </a:solidFill>
                <a:latin typeface="Fraunces"/>
              </a:rPr>
              <a:t>"We decided to </a:t>
            </a:r>
            <a:r>
              <a:rPr sz="2700" b="0" i="1">
                <a:solidFill>
                  <a:srgbClr val="F6F3EC"/>
                </a:solidFill>
                <a:latin typeface="Fraunces"/>
              </a:rPr>
              <a:t>fight</a:t>
            </a:r>
            <a:r>
              <a:rPr sz="2700" b="0" i="0">
                <a:solidFill>
                  <a:srgbClr val="F6F3EC"/>
                </a:solidFill>
                <a:latin typeface="Fraunces"/>
              </a:rPr>
              <a:t>."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40000" y="24300000"/>
            <a:ext cx="8676000" cy="17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769">
                <a:solidFill>
                  <a:srgbClr val="1A9C8E"/>
                </a:solidFill>
                <a:latin typeface="Manrope"/>
              </a:rPr>
              <a:t>● </a:t>
            </a:r>
            <a:r>
              <a:rPr sz="1100" b="1" i="0">
                <a:solidFill>
                  <a:srgbClr val="F6F3EC"/>
                </a:solidFill>
                <a:latin typeface="Manrope"/>
              </a:rPr>
              <a:t>2007:</a:t>
            </a:r>
            <a:r>
              <a:rPr sz="1100" b="0" i="0">
                <a:solidFill>
                  <a:srgbClr val="B8BCC8"/>
                </a:solidFill>
                <a:latin typeface="Manrope"/>
              </a:rPr>
              <a:t> at age 3 Hannah's walking lags behind; a year of tests ends with a GAN diagnosis in </a:t>
            </a:r>
            <a:r>
              <a:rPr sz="1100" b="1" i="0">
                <a:solidFill>
                  <a:srgbClr val="F6F3EC"/>
                </a:solidFill>
                <a:latin typeface="Manrope"/>
              </a:rPr>
              <a:t>March 2008</a:t>
            </a:r>
            <a:r>
              <a:rPr sz="1100" b="0" i="0">
                <a:solidFill>
                  <a:srgbClr val="B8BCC8"/>
                </a:solidFill>
                <a:latin typeface="Manrope"/>
              </a:rPr>
              <a:t>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769">
                <a:solidFill>
                  <a:srgbClr val="1A9C8E"/>
                </a:solidFill>
                <a:latin typeface="Manrope"/>
              </a:rPr>
              <a:t>● </a:t>
            </a:r>
            <a:r>
              <a:rPr sz="1100" b="1" i="0">
                <a:solidFill>
                  <a:srgbClr val="F6F3EC"/>
                </a:solidFill>
                <a:latin typeface="Manrope"/>
              </a:rPr>
              <a:t>The hardest genotype:</a:t>
            </a:r>
            <a:r>
              <a:rPr sz="1100" b="0" i="0">
                <a:solidFill>
                  <a:srgbClr val="B8BCC8"/>
                </a:solidFill>
                <a:latin typeface="Manrope"/>
              </a:rPr>
              <a:t> two deletions — Hannah makes </a:t>
            </a:r>
            <a:r>
              <a:rPr sz="1100" b="1" i="0">
                <a:solidFill>
                  <a:srgbClr val="F6F3EC"/>
                </a:solidFill>
                <a:latin typeface="Manrope"/>
              </a:rPr>
              <a:t>no gigaxonin at all</a:t>
            </a:r>
            <a:r>
              <a:rPr sz="1100" b="0" i="0">
                <a:solidFill>
                  <a:srgbClr val="B8BCC8"/>
                </a:solidFill>
                <a:latin typeface="Manrope"/>
              </a:rPr>
              <a:t> (CRIM-negative), so her immune system had never "seen" the protein.</a:t>
            </a:r>
          </a:p>
          <a:p>
            <a:pPr marL="198000" indent="-198000">
              <a:lnSpc>
                <a:spcPct val="115000"/>
              </a:lnSpc>
              <a:spcAft>
                <a:spcPts val="350"/>
              </a:spcAft>
            </a:pPr>
            <a:r>
              <a:rPr sz="769">
                <a:solidFill>
                  <a:srgbClr val="1A9C8E"/>
                </a:solidFill>
                <a:latin typeface="Manrope"/>
              </a:rPr>
              <a:t>● </a:t>
            </a:r>
            <a:r>
              <a:rPr sz="1100" b="1" i="0">
                <a:solidFill>
                  <a:srgbClr val="F6F3EC"/>
                </a:solidFill>
                <a:latin typeface="Manrope"/>
              </a:rPr>
              <a:t>Hannah's Hope Fund</a:t>
            </a:r>
            <a:r>
              <a:rPr sz="1100" b="0" i="0">
                <a:solidFill>
                  <a:srgbClr val="B8BCC8"/>
                </a:solidFill>
                <a:latin typeface="Manrope"/>
              </a:rPr>
              <a:t>, founded within months by Lori and Matt Sames, convenes the first GAN symposium (2008), raises </a:t>
            </a:r>
            <a:r>
              <a:rPr sz="1100" b="1" i="0">
                <a:solidFill>
                  <a:srgbClr val="F6F3EC"/>
                </a:solidFill>
                <a:latin typeface="Manrope"/>
              </a:rPr>
              <a:t>&gt;$8 million</a:t>
            </a:r>
            <a:r>
              <a:rPr sz="1100" b="0" i="0">
                <a:solidFill>
                  <a:srgbClr val="B8BCC8"/>
                </a:solidFill>
                <a:latin typeface="Manrope"/>
              </a:rPr>
              <a:t> and funds Steven Gray (UNC) to build the vector.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40000" y="26100000"/>
            <a:ext cx="45000" cy="72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20000" y="26064000"/>
            <a:ext cx="8496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250" b="0" i="0">
                <a:solidFill>
                  <a:srgbClr val="F6F3EC"/>
                </a:solidFill>
                <a:latin typeface="Fraunces"/>
              </a:rPr>
              <a:t>Hannah's parents found themselves in the unimaginable situation of having funded a clinical trial that might have to exclude their own child.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680" b="1" i="0">
                <a:solidFill>
                  <a:srgbClr val="B8BCC8"/>
                </a:solidFill>
                <a:latin typeface="Manrope"/>
              </a:rPr>
              <a:t>DNA SCIENCE, JULY 2016</a:t>
            </a:r>
          </a:p>
        </p:txBody>
      </p:sp>
      <p:sp>
        <p:nvSpPr>
          <p:cNvPr id="111" name="Oval 110"/>
          <p:cNvSpPr/>
          <p:nvPr/>
        </p:nvSpPr>
        <p:spPr>
          <a:xfrm>
            <a:off x="126000" y="27396000"/>
            <a:ext cx="432000" cy="432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6000" y="2739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4000" y="273816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16000" y="27324000"/>
            <a:ext cx="136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THE GENETIC TREATMENT · SCAAV9/JET-GAN · FIRST-IN-HUMAN INTRATHECAL AAV TRIAL, NIH CLINICAL CENTER 2015 (NCT02362438)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4000" y="27540000"/>
            <a:ext cx="1393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14213D"/>
                </a:solidFill>
                <a:latin typeface="Fraunces"/>
              </a:rPr>
              <a:t>A working gene, delivered into the spinal fluid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84000" y="28116000"/>
            <a:ext cx="3321000" cy="18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00000" y="282600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1A9C8E"/>
                </a:solidFill>
                <a:latin typeface="Fraunces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0000" y="28620000"/>
            <a:ext cx="2889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Build the vector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0000" y="28890000"/>
            <a:ext cx="2889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950" b="1" i="0">
                <a:solidFill>
                  <a:srgbClr val="4A5570"/>
                </a:solidFill>
                <a:latin typeface="Manrope"/>
              </a:rPr>
              <a:t>scAAV9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: a self-complementary AAV9 shell that enters neurons and spreads through spinal cord and brain. No viral genes; does not integrate.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69000" y="28512000"/>
            <a:ext cx="28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21000" y="28116000"/>
            <a:ext cx="3321000" cy="18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37000" y="282600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1A9C8E"/>
                </a:solidFill>
                <a:latin typeface="Fraunces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37000" y="28620000"/>
            <a:ext cx="2889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Load the cargo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37000" y="28890000"/>
            <a:ext cx="2889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A </a:t>
            </a:r>
            <a:r>
              <a:rPr sz="950" b="1" i="0">
                <a:solidFill>
                  <a:srgbClr val="4A5570"/>
                </a:solidFill>
                <a:latin typeface="Manrope"/>
              </a:rPr>
              <a:t>codon-optimised human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 </a:t>
            </a:r>
            <a:r>
              <a:rPr sz="95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 gene driven by </a:t>
            </a:r>
            <a:r>
              <a:rPr sz="950" b="1" i="0">
                <a:solidFill>
                  <a:srgbClr val="4A5570"/>
                </a:solidFill>
                <a:latin typeface="Manrope"/>
              </a:rPr>
              <a:t>JeT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, a tiny synthetic promoter that fits the compact genome.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06000" y="28512000"/>
            <a:ext cx="28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758000" y="28116000"/>
            <a:ext cx="3321000" cy="18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974000" y="282600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1A9C8E"/>
                </a:solidFill>
                <a:latin typeface="Fraunces"/>
              </a:rPr>
              <a:t>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974000" y="28620000"/>
            <a:ext cx="2889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Single lumbar injection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974000" y="28890000"/>
            <a:ext cx="2889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One dose — up to </a:t>
            </a:r>
            <a:r>
              <a:rPr sz="950" b="1" i="0">
                <a:solidFill>
                  <a:srgbClr val="4A5570"/>
                </a:solidFill>
                <a:latin typeface="Manrope"/>
              </a:rPr>
              <a:t>3.5 × 10¹⁴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 vector genomes — into the CSF, bathing motor neurons and dorsal root ganglia and bypassing the blood–brain barrier.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43000" y="28512000"/>
            <a:ext cx="288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1295000" y="28116000"/>
            <a:ext cx="3321000" cy="18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511000" y="282600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1A9C8E"/>
                </a:solidFill>
                <a:latin typeface="Fraunces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511000" y="28620000"/>
            <a:ext cx="2889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Restore gigaxonin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511000" y="28890000"/>
            <a:ext cx="28890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Transduced neurons make gigaxonin within ~2 weeks, clearing aggregates and letting damaged sensory nerves </a:t>
            </a:r>
            <a:r>
              <a:rPr sz="950" b="1" i="0">
                <a:solidFill>
                  <a:srgbClr val="4A5570"/>
                </a:solidFill>
                <a:latin typeface="Manrope"/>
              </a:rPr>
              <a:t>regenerate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84000" y="30168000"/>
            <a:ext cx="4500000" cy="10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64000" y="30312000"/>
            <a:ext cx="4140000" cy="30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000" b="0" i="0">
                <a:solidFill>
                  <a:srgbClr val="1A9C8E"/>
                </a:solidFill>
                <a:latin typeface="Fraunces"/>
              </a:rPr>
              <a:t>May 2015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4000" y="30652992"/>
            <a:ext cx="4140000" cy="379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first human ever to receive a therapeutic gene via the spinal fluid — a GAN patient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400000" y="30168000"/>
            <a:ext cx="4500000" cy="10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80000" y="30312000"/>
            <a:ext cx="4140000" cy="30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000" b="0" i="0">
                <a:solidFill>
                  <a:srgbClr val="B7801E"/>
                </a:solidFill>
                <a:latin typeface="Fraunces"/>
              </a:rPr>
              <a:t>21 July 2016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80000" y="30652992"/>
            <a:ext cx="4140000" cy="379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Hannah, aged 12, treated as the 5th child (≈120 trillion vector genomes)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116000" y="30168000"/>
            <a:ext cx="4500000" cy="10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296000" y="30312000"/>
            <a:ext cx="4140000" cy="30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000" b="0" i="0">
                <a:solidFill>
                  <a:srgbClr val="E4572E"/>
                </a:solidFill>
                <a:latin typeface="Fraunces"/>
              </a:rPr>
              <a:t>CRIM-negative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296000" y="30652992"/>
            <a:ext cx="4140000" cy="379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making no gigaxonin, Hannah needed a dedicated immunosuppression protocol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0" y="31320000"/>
            <a:ext cx="15300000" cy="468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-2520000" y="31500000"/>
            <a:ext cx="4500000" cy="4500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15000" y="31320000"/>
            <a:ext cx="54000" cy="3420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26000" y="31716000"/>
            <a:ext cx="432000" cy="432000"/>
          </a:xfrm>
          <a:prstGeom prst="ellipse">
            <a:avLst/>
          </a:prstGeom>
          <a:solidFill>
            <a:srgbClr val="0F1B33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6000" y="31716000"/>
            <a:ext cx="432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F6F3EC"/>
                </a:solidFill>
                <a:latin typeface="Fraunces"/>
              </a:rPr>
              <a:t>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84000" y="317016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16000" y="31644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WHAT THE TRIAL SHOWED — NEJM, MARCH 2024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4000" y="31860000"/>
            <a:ext cx="1393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2700" b="0" i="0">
                <a:solidFill>
                  <a:srgbClr val="F6F3EC"/>
                </a:solidFill>
                <a:latin typeface="Fraunces"/>
              </a:rPr>
              <a:t>Bending the curve of an "untreatable" disease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84000" y="32400000"/>
            <a:ext cx="2520000" cy="1044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4000" y="32544000"/>
            <a:ext cx="2160000" cy="335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F6F3EC"/>
                </a:solidFill>
                <a:latin typeface="Fraunces"/>
              </a:rPr>
              <a:t>14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64000" y="32915491"/>
            <a:ext cx="2160000" cy="384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children aged 6–14 treated at four dose levels, followed for a median of 68.7 months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384000" y="32400000"/>
            <a:ext cx="2520000" cy="1044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564000" y="32544000"/>
            <a:ext cx="2160000" cy="335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F6F3EC"/>
                </a:solidFill>
                <a:latin typeface="Fraunces"/>
              </a:rP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64000" y="32915491"/>
            <a:ext cx="2160000" cy="384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serious adverse event (fever) possibly related; CSF inflammation managed with steroids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84000" y="32400000"/>
            <a:ext cx="2520000" cy="1044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64000" y="32544000"/>
            <a:ext cx="2160000" cy="259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1700" b="0" i="0">
                <a:solidFill>
                  <a:srgbClr val="F6F3EC"/>
                </a:solidFill>
                <a:latin typeface="Fraunces"/>
              </a:rPr>
              <a:t>−7.2 → −1.9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64000" y="32839243"/>
            <a:ext cx="2160000" cy="4607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MFM-32 points lost per year before vs. after the 1.8 × 10¹⁴ vg dose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84000" y="33588000"/>
            <a:ext cx="2520000" cy="1044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64000" y="33732000"/>
            <a:ext cx="2160000" cy="335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F6F3EC"/>
                </a:solidFill>
                <a:latin typeface="Fraunces"/>
              </a:rPr>
              <a:t>99%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64000" y="34103491"/>
            <a:ext cx="2160000" cy="384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posterior probability that motor decline slowed at that dose — above the 95% bar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384000" y="33588000"/>
            <a:ext cx="2520000" cy="1044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564000" y="33732000"/>
            <a:ext cx="2160000" cy="335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F6F3EC"/>
                </a:solidFill>
                <a:latin typeface="Fraunces"/>
              </a:rPr>
              <a:t>6 / 14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64000" y="34103491"/>
            <a:ext cx="2160000" cy="384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regained, stabilised or newly recordable sensory nerve responses after dosing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84000" y="33588000"/>
            <a:ext cx="2520000" cy="1044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64000" y="33732000"/>
            <a:ext cx="2160000" cy="335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200" b="0" i="0">
                <a:solidFill>
                  <a:srgbClr val="F6F3EC"/>
                </a:solidFill>
                <a:latin typeface="Fraunces"/>
              </a:rPr>
              <a:t>3–48×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64000" y="34103491"/>
            <a:ext cx="2160000" cy="384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more regenerating nerve-fibre clusters in sensory-nerve biopsies at one year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000000" y="32400000"/>
            <a:ext cx="5616000" cy="14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8000" indent="-198000">
              <a:lnSpc>
                <a:spcPct val="115000"/>
              </a:lnSpc>
              <a:spcAft>
                <a:spcPts val="250"/>
              </a:spcAft>
            </a:pPr>
            <a:r>
              <a:rPr sz="735">
                <a:solidFill>
                  <a:srgbClr val="1A9C8E"/>
                </a:solidFill>
                <a:latin typeface="Manrope"/>
              </a:rPr>
              <a:t>● </a:t>
            </a:r>
            <a:r>
              <a:rPr sz="1050" b="1" i="0">
                <a:solidFill>
                  <a:srgbClr val="F6F3EC"/>
                </a:solidFill>
                <a:latin typeface="Manrope"/>
              </a:rPr>
              <a:t>Not a cure — yet.</a:t>
            </a:r>
            <a:r>
              <a:rPr sz="1050" b="0" i="0">
                <a:solidFill>
                  <a:srgbClr val="B8BCC8"/>
                </a:solidFill>
                <a:latin typeface="Manrope"/>
              </a:rPr>
              <a:t> Existing damage is not reversed; benefit is largest when children are treated </a:t>
            </a:r>
            <a:r>
              <a:rPr sz="1050" b="1" i="0">
                <a:solidFill>
                  <a:srgbClr val="F6F3EC"/>
                </a:solidFill>
                <a:latin typeface="Manrope"/>
              </a:rPr>
              <a:t>young and early</a:t>
            </a:r>
            <a:r>
              <a:rPr sz="1050" b="0" i="0">
                <a:solidFill>
                  <a:srgbClr val="B8BCC8"/>
                </a:solidFill>
                <a:latin typeface="Manrope"/>
              </a:rPr>
              <a:t>.</a:t>
            </a:r>
          </a:p>
          <a:p>
            <a:pPr marL="198000" indent="-198000">
              <a:lnSpc>
                <a:spcPct val="115000"/>
              </a:lnSpc>
              <a:spcAft>
                <a:spcPts val="250"/>
              </a:spcAft>
            </a:pPr>
            <a:r>
              <a:rPr sz="735">
                <a:solidFill>
                  <a:srgbClr val="1A9C8E"/>
                </a:solidFill>
                <a:latin typeface="Manrope"/>
              </a:rPr>
              <a:t>● </a:t>
            </a:r>
            <a:r>
              <a:rPr sz="1050" b="1" i="0">
                <a:solidFill>
                  <a:srgbClr val="F6F3EC"/>
                </a:solidFill>
                <a:latin typeface="Manrope"/>
              </a:rPr>
              <a:t>A template for the field:</a:t>
            </a:r>
            <a:r>
              <a:rPr sz="1050" b="0" i="0">
                <a:solidFill>
                  <a:srgbClr val="B8BCC8"/>
                </a:solidFill>
                <a:latin typeface="Manrope"/>
              </a:rPr>
              <a:t> intrathecal AAV9 delivery pioneered here now underpins trials for many other childhood brain diseases.</a:t>
            </a:r>
          </a:p>
          <a:p>
            <a:pPr marL="198000" indent="-198000">
              <a:lnSpc>
                <a:spcPct val="115000"/>
              </a:lnSpc>
              <a:spcAft>
                <a:spcPts val="250"/>
              </a:spcAft>
            </a:pPr>
            <a:r>
              <a:rPr sz="735">
                <a:solidFill>
                  <a:srgbClr val="1A9C8E"/>
                </a:solidFill>
                <a:latin typeface="Manrope"/>
              </a:rPr>
              <a:t>● </a:t>
            </a:r>
            <a:r>
              <a:rPr sz="1050" b="1" i="0">
                <a:solidFill>
                  <a:srgbClr val="F6F3EC"/>
                </a:solidFill>
                <a:latin typeface="Manrope"/>
              </a:rPr>
              <a:t>Next:</a:t>
            </a:r>
            <a:r>
              <a:rPr sz="1050" b="0" i="0">
                <a:solidFill>
                  <a:srgbClr val="B8BCC8"/>
                </a:solidFill>
                <a:latin typeface="Manrope"/>
              </a:rPr>
              <a:t> programme licensed to industry (Taysha, TSHA-120); Hannah's Hope Fund funds a second injection site.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000000" y="33948000"/>
            <a:ext cx="45000" cy="648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80000" y="33912000"/>
            <a:ext cx="54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150" b="0" i="0">
                <a:solidFill>
                  <a:srgbClr val="F6F3EC"/>
                </a:solidFill>
                <a:latin typeface="Fraunces"/>
              </a:rPr>
              <a:t>One family with no medical background turned a diagnosis into a first-in-human therapy — proof of what patient-driven science can do.</a:t>
            </a:r>
          </a:p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680" b="1" i="0">
                <a:solidFill>
                  <a:srgbClr val="B8BCC8"/>
                </a:solidFill>
                <a:latin typeface="Manrope"/>
              </a:rPr>
              <a:t>TAKE-HOME MESSAGE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0" y="34740000"/>
            <a:ext cx="15300000" cy="144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84000" y="34992000"/>
            <a:ext cx="1008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50"/>
              </a:spcAft>
            </a:pPr>
            <a:r>
              <a:rPr sz="720" b="0" i="0">
                <a:solidFill>
                  <a:srgbClr val="B8BCC8"/>
                </a:solidFill>
                <a:latin typeface="Manrope"/>
              </a:rPr>
              <a:t>Sources: Bharucha-Goebel DX et al. </a:t>
            </a:r>
            <a:r>
              <a:rPr sz="720" b="0" i="1">
                <a:solidFill>
                  <a:srgbClr val="B8BCC8"/>
                </a:solidFill>
                <a:latin typeface="Fraunces"/>
              </a:rPr>
              <a:t>Intrathecal Gene Therapy for Giant Axonal Neuropathy.</a:t>
            </a:r>
            <a:r>
              <a:rPr sz="720" b="0" i="0">
                <a:solidFill>
                  <a:srgbClr val="B8BCC8"/>
                </a:solidFill>
                <a:latin typeface="Manrope"/>
              </a:rPr>
              <a:t> N Engl J Med 2024;390:1092-1104 · ClinicalTrials.gov NCT02362438 · NIH News, March 2024 · Hannah's Hope Fund (hannahshopefund.org) · The Children's Inn at NIH, "Hannah's Story" · DNA Science (PLOS), July 2016. Figures adapted from the source poster.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800000" y="35028000"/>
            <a:ext cx="381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500" b="0" i="0">
                <a:solidFill>
                  <a:srgbClr val="F6F3EC"/>
                </a:solidFill>
                <a:latin typeface="Fraunces"/>
              </a:rPr>
              <a:t>Giant Axonal Neuropathy</a:t>
            </a:r>
          </a:p>
          <a:p>
            <a:pPr algn="r">
              <a:lnSpc>
                <a:spcPct val="115000"/>
              </a:lnSpc>
              <a:spcAft>
                <a:spcPts val="150"/>
              </a:spcAft>
            </a:pPr>
            <a:r>
              <a:rPr sz="680" b="1" i="0">
                <a:solidFill>
                  <a:srgbClr val="7FE0D4"/>
                </a:solidFill>
                <a:latin typeface="Manrope"/>
              </a:rPr>
              <a:t>FROM GENE TO GENE THERAPY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