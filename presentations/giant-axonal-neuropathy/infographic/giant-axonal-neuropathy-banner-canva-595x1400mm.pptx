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420000" cy="50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41000" y="5040000"/>
            <a:ext cx="75600" cy="15120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1000" y="20160000"/>
            <a:ext cx="75600" cy="1512000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1000" y="35280000"/>
            <a:ext cx="75600" cy="133560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420000" cy="5040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128000" y="-5796000"/>
            <a:ext cx="10080000" cy="10080000"/>
          </a:xfrm>
          <a:prstGeom prst="ellipse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3780000" y="-756000"/>
            <a:ext cx="5544000" cy="5544000"/>
          </a:xfrm>
          <a:prstGeom prst="ellipse">
            <a:avLst/>
          </a:prstGeom>
          <a:solidFill>
            <a:srgbClr val="2A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082400"/>
            <a:ext cx="21420000" cy="3024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76000" y="3830400"/>
            <a:ext cx="5544000" cy="856800"/>
          </a:xfrm>
          <a:prstGeom prst="ellipse">
            <a:avLst/>
          </a:prstGeom>
          <a:solidFill>
            <a:srgbClr val="1B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233600"/>
            <a:ext cx="21420000" cy="100800"/>
          </a:xfrm>
          <a:prstGeom prst="rect">
            <a:avLst/>
          </a:prstGeom>
          <a:solidFill>
            <a:srgbClr val="2B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7600" y="635040"/>
            <a:ext cx="453600" cy="3528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62400" y="554400"/>
            <a:ext cx="1512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1A9C8E"/>
                </a:solidFill>
                <a:latin typeface="Manrope"/>
              </a:rPr>
              <a:t>RARE NEUROGENETIC DISEASE · OMIM #256850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600" y="756000"/>
            <a:ext cx="15624000" cy="2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260" b="0" i="0">
                <a:solidFill>
                  <a:srgbClr val="F6F3EC"/>
                </a:solidFill>
                <a:latin typeface="Fraunces"/>
              </a:rPr>
              <a:t>Giant Axonal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260" b="0" i="1">
                <a:solidFill>
                  <a:srgbClr val="F6F3EC"/>
                </a:solidFill>
                <a:latin typeface="Fraunces"/>
              </a:rPr>
              <a:t>Neuropathy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600" y="3326400"/>
            <a:ext cx="14112000" cy="70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820" b="0" i="0">
                <a:solidFill>
                  <a:srgbClr val="B8BCC8"/>
                </a:solidFill>
                <a:latin typeface="Manrope"/>
              </a:rPr>
              <a:t>How the loss of one small protein, gigaxonin, makes nerve fibres swell and die — and how one family's fight produced the world's first intrathecal gene therapy.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7600" y="4536000"/>
            <a:ext cx="1355760" cy="3276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10668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600" y="4536000"/>
            <a:ext cx="135576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7FE0D4"/>
                </a:solidFill>
                <a:latin typeface="Manrope"/>
              </a:rPr>
              <a:t>GENE: 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4560" y="4536000"/>
            <a:ext cx="2308320" cy="3276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10668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4560" y="4536000"/>
            <a:ext cx="230832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B8BCC8"/>
                </a:solidFill>
                <a:latin typeface="Manrope"/>
              </a:rPr>
              <a:t>CHROMOSOME 16Q23.2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24080" y="4536000"/>
            <a:ext cx="2414160" cy="3276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10668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4080" y="4536000"/>
            <a:ext cx="241416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B8BCC8"/>
                </a:solidFill>
                <a:latin typeface="Manrope"/>
              </a:rPr>
              <a:t>AUTOSOMAL RECESSIVE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89440" y="4536000"/>
            <a:ext cx="1990800" cy="3276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10668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9440" y="4536000"/>
            <a:ext cx="199080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B8BCC8"/>
                </a:solidFill>
                <a:latin typeface="Manrope"/>
              </a:rPr>
              <a:t>ONSET ≈ 3 YEARS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31440" y="4536000"/>
            <a:ext cx="3260880" cy="327600"/>
          </a:xfrm>
          <a:prstGeom prst="roundRect">
            <a:avLst>
              <a:gd name="adj" fmla="val 50000"/>
            </a:avLst>
          </a:prstGeom>
          <a:solidFill>
            <a:srgbClr val="0F1B33"/>
          </a:solidFill>
          <a:ln w="10668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1440" y="4536000"/>
            <a:ext cx="3260880" cy="32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B8BCC8"/>
                </a:solidFill>
                <a:latin typeface="Manrope"/>
              </a:rPr>
              <a:t>PREVALENCE &lt; 1 IN 1,000,000</a:t>
            </a:r>
          </a:p>
        </p:txBody>
      </p:sp>
      <p:sp>
        <p:nvSpPr>
          <p:cNvPr id="25" name="Oval 24"/>
          <p:cNvSpPr/>
          <p:nvPr/>
        </p:nvSpPr>
        <p:spPr>
          <a:xfrm>
            <a:off x="176400" y="5594400"/>
            <a:ext cx="604800" cy="604800"/>
          </a:xfrm>
          <a:prstGeom prst="ellipse">
            <a:avLst/>
          </a:prstGeom>
          <a:solidFill>
            <a:srgbClr val="F6F3EC"/>
          </a:solidFill>
          <a:ln w="8001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6400" y="5594400"/>
            <a:ext cx="604800" cy="6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14213D"/>
                </a:solidFill>
                <a:latin typeface="Fraunces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7600" y="5574240"/>
            <a:ext cx="453600" cy="3528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62400" y="5493600"/>
            <a:ext cx="1512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1A9C8E"/>
                </a:solidFill>
                <a:latin typeface="Manrope"/>
              </a:rPr>
              <a:t>THE GENETIC ROOT CAUSE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00" y="5796000"/>
            <a:ext cx="19504800" cy="6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3779" b="0" i="0">
                <a:solidFill>
                  <a:srgbClr val="14213D"/>
                </a:solidFill>
                <a:latin typeface="Fraunces"/>
              </a:rPr>
              <a:t>One gene, two broken copies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7600" y="6552000"/>
            <a:ext cx="10886400" cy="2167200"/>
          </a:xfrm>
          <a:prstGeom prst="roundRect">
            <a:avLst>
              <a:gd name="adj" fmla="val 5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60000" y="6791400"/>
            <a:ext cx="1764000" cy="3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1A9C8E"/>
                </a:solidFill>
                <a:latin typeface="Manrope"/>
              </a:rPr>
              <a:t>GENE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74400" y="6753600"/>
            <a:ext cx="84672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679" b="1" i="0">
                <a:solidFill>
                  <a:srgbClr val="14213D"/>
                </a:solidFill>
                <a:latin typeface="Manrope"/>
              </a:rPr>
              <a:t>GAN</a:t>
            </a:r>
            <a:r>
              <a:rPr sz="1679" b="0" i="0">
                <a:solidFill>
                  <a:srgbClr val="14213D"/>
                </a:solidFill>
                <a:latin typeface="Manrope"/>
              </a:rPr>
              <a:t> — chromosome 16, band 16q23.2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0000" y="7245000"/>
            <a:ext cx="1764000" cy="3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1A9C8E"/>
                </a:solidFill>
                <a:latin typeface="Manrope"/>
              </a:rPr>
              <a:t>PROTEIN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4400" y="7207200"/>
            <a:ext cx="84672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679" b="1" i="0">
                <a:solidFill>
                  <a:srgbClr val="14213D"/>
                </a:solidFill>
                <a:latin typeface="Manrope"/>
              </a:rPr>
              <a:t>Gigaxonin</a:t>
            </a:r>
            <a:r>
              <a:rPr sz="1679" b="0" i="0">
                <a:solidFill>
                  <a:srgbClr val="14213D"/>
                </a:solidFill>
                <a:latin typeface="Manrope"/>
              </a:rPr>
              <a:t> — 597 aa, BTB/Kelch family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0000" y="7698600"/>
            <a:ext cx="1764000" cy="3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1A9C8E"/>
                </a:solidFill>
                <a:latin typeface="Manrope"/>
              </a:rPr>
              <a:t>FUNCTION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4400" y="7660800"/>
            <a:ext cx="84672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679" b="0" i="0">
                <a:solidFill>
                  <a:srgbClr val="14213D"/>
                </a:solidFill>
                <a:latin typeface="Manrope"/>
              </a:rPr>
              <a:t>Adaptor for a 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Cul3 E3 ubiquitin ligase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0000" y="8152200"/>
            <a:ext cx="1764000" cy="3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1A9C8E"/>
                </a:solidFill>
                <a:latin typeface="Manrope"/>
              </a:rPr>
              <a:t>MECHANISM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74400" y="8114400"/>
            <a:ext cx="84672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679" b="0" i="0">
                <a:solidFill>
                  <a:srgbClr val="14213D"/>
                </a:solidFill>
                <a:latin typeface="Manrope"/>
              </a:rPr>
              <a:t>Loss of function — 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&gt;100</a:t>
            </a:r>
            <a:r>
              <a:rPr sz="1679" b="0" i="0">
                <a:solidFill>
                  <a:srgbClr val="14213D"/>
                </a:solidFill>
                <a:latin typeface="Manrope"/>
              </a:rPr>
              <a:t> variants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7600" y="8971200"/>
            <a:ext cx="10886400" cy="14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7200" indent="-277200">
              <a:lnSpc>
                <a:spcPct val="115000"/>
              </a:lnSpc>
              <a:spcAft>
                <a:spcPts val="489"/>
              </a:spcAft>
            </a:pPr>
            <a:r>
              <a:rPr sz="1175">
                <a:solidFill>
                  <a:srgbClr val="1A9C8E"/>
                </a:solidFill>
                <a:latin typeface="Manrope"/>
              </a:rPr>
              <a:t>● 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Autosomal recessive: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 disease appears only when both inherited copies of </a:t>
            </a:r>
            <a:r>
              <a:rPr sz="1679" b="0" i="1">
                <a:solidFill>
                  <a:srgbClr val="4A5570"/>
                </a:solidFill>
                <a:latin typeface="Fraunces"/>
              </a:rPr>
              <a:t>GAN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 are defective.</a:t>
            </a:r>
          </a:p>
          <a:p>
            <a:pPr marL="277200" indent="-277200">
              <a:lnSpc>
                <a:spcPct val="115000"/>
              </a:lnSpc>
              <a:spcAft>
                <a:spcPts val="489"/>
              </a:spcAft>
            </a:pPr>
            <a:r>
              <a:rPr sz="1175">
                <a:solidFill>
                  <a:srgbClr val="1A9C8E"/>
                </a:solidFill>
                <a:latin typeface="Manrope"/>
              </a:rPr>
              <a:t>● 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Carrier parents are healthy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 — one working copy is enough. Each pregnancy carries a 25% risk of an affected child.</a:t>
            </a:r>
          </a:p>
        </p:txBody>
      </p:sp>
      <p:pic>
        <p:nvPicPr>
          <p:cNvPr id="40" name="Picture 39" descr="l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00" y="10432800"/>
            <a:ext cx="4175285" cy="16632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7600" y="12196800"/>
            <a:ext cx="108864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952" b="1" i="0">
                <a:solidFill>
                  <a:srgbClr val="14213D"/>
                </a:solidFill>
                <a:latin typeface="Manrope"/>
              </a:rPr>
              <a:t>MUTATION LOCUS   </a:t>
            </a:r>
            <a:r>
              <a:rPr sz="1120" b="0" i="0">
                <a:solidFill>
                  <a:srgbClr val="4A5570"/>
                </a:solidFill>
                <a:latin typeface="Manrope"/>
              </a:rPr>
              <a:t>Long arm of chromosome 16, band q23.2 — home of the GAN gene</a:t>
            </a:r>
          </a:p>
        </p:txBody>
      </p:sp>
      <p:pic>
        <p:nvPicPr>
          <p:cNvPr id="42" name="Picture 41" descr="inheri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7200" y="6501600"/>
            <a:ext cx="6298989" cy="56952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247200" y="12322800"/>
            <a:ext cx="83160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952" b="1" i="0">
                <a:solidFill>
                  <a:srgbClr val="14213D"/>
                </a:solidFill>
                <a:latin typeface="Manrope"/>
              </a:rPr>
              <a:t>INHERITANCE PATTERN   </a:t>
            </a:r>
            <a:r>
              <a:rPr sz="1120" b="0" i="0">
                <a:solidFill>
                  <a:srgbClr val="4A5570"/>
                </a:solidFill>
                <a:latin typeface="Manrope"/>
              </a:rPr>
              <a:t>Two carriers → 1 in 4 affected, 2 in 4 carriers, 1 in 4 unaffected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12600000"/>
            <a:ext cx="21420000" cy="7182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1000" y="12600000"/>
            <a:ext cx="75600" cy="7182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76400" y="13154400"/>
            <a:ext cx="604800" cy="604800"/>
          </a:xfrm>
          <a:prstGeom prst="ellipse">
            <a:avLst/>
          </a:prstGeom>
          <a:solidFill>
            <a:srgbClr val="F6F3EC"/>
          </a:solidFill>
          <a:ln w="8001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6400" y="13154400"/>
            <a:ext cx="604800" cy="6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14213D"/>
                </a:solidFill>
                <a:latin typeface="Fraunces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7600" y="13134240"/>
            <a:ext cx="453600" cy="3528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62400" y="13053600"/>
            <a:ext cx="1764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1A9C8E"/>
                </a:solidFill>
                <a:latin typeface="Manrope"/>
              </a:rPr>
              <a:t>WHAT GIGAXONIN DOES — AND WHAT FAILS WITHOUT 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7600" y="13356000"/>
            <a:ext cx="19504800" cy="6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3779" b="0" i="0">
                <a:solidFill>
                  <a:srgbClr val="14213D"/>
                </a:solidFill>
                <a:latin typeface="Fraunces"/>
              </a:rPr>
              <a:t>The cell's filament recycler goes missing</a:t>
            </a:r>
          </a:p>
        </p:txBody>
      </p:sp>
      <p:pic>
        <p:nvPicPr>
          <p:cNvPr id="51" name="Picture 50" descr="pathw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600" y="14112000"/>
            <a:ext cx="6652800" cy="48384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57600" y="19076400"/>
            <a:ext cx="71568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952" b="1" i="0">
                <a:solidFill>
                  <a:srgbClr val="14213D"/>
                </a:solidFill>
                <a:latin typeface="Manrope"/>
              </a:rPr>
              <a:t>AFFECTED PATHWAY   </a:t>
            </a:r>
            <a:r>
              <a:rPr sz="1120" b="0" i="0">
                <a:solidFill>
                  <a:srgbClr val="4A5570"/>
                </a:solidFill>
                <a:latin typeface="Manrope"/>
              </a:rPr>
              <a:t>With gigaxonin → Shh ON · Without gigaxonin → Shh OFF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4800" y="14112000"/>
            <a:ext cx="12297600" cy="27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7200" indent="-277200">
              <a:lnSpc>
                <a:spcPct val="115000"/>
              </a:lnSpc>
              <a:spcAft>
                <a:spcPts val="489"/>
              </a:spcAft>
            </a:pPr>
            <a:r>
              <a:rPr sz="1175">
                <a:solidFill>
                  <a:srgbClr val="1A9C8E"/>
                </a:solidFill>
                <a:latin typeface="Manrope"/>
              </a:rPr>
              <a:t>● 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Normal role: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 gigaxonin tags 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intermediate filament (IF)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 proteins — neurofilaments, vimentin, peripherin, GFAP, keratins — for degradation by the proteasome.</a:t>
            </a:r>
          </a:p>
          <a:p>
            <a:pPr marL="277200" indent="-277200">
              <a:lnSpc>
                <a:spcPct val="115000"/>
              </a:lnSpc>
              <a:spcAft>
                <a:spcPts val="489"/>
              </a:spcAft>
            </a:pPr>
            <a:r>
              <a:rPr sz="1175">
                <a:solidFill>
                  <a:srgbClr val="1A9C8E"/>
                </a:solidFill>
                <a:latin typeface="Manrope"/>
              </a:rPr>
              <a:t>● 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Without gigaxonin: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 filaments are never cleared and pile up into dense aggregates that choke axonal transport.</a:t>
            </a:r>
          </a:p>
          <a:p>
            <a:pPr marL="277200" indent="-277200">
              <a:lnSpc>
                <a:spcPct val="115000"/>
              </a:lnSpc>
              <a:spcAft>
                <a:spcPts val="489"/>
              </a:spcAft>
            </a:pPr>
            <a:r>
              <a:rPr sz="1175">
                <a:solidFill>
                  <a:srgbClr val="1A9C8E"/>
                </a:solidFill>
                <a:latin typeface="Manrope"/>
              </a:rPr>
              <a:t>● 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Second hit: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 gigaxonin also degrades the receptor 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Patched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. When Patched accumulates it keeps 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Smoothened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 off, so 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Sonic hedgehog signalling stays OFF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.</a:t>
            </a:r>
          </a:p>
        </p:txBody>
      </p:sp>
      <p:pic>
        <p:nvPicPr>
          <p:cNvPr id="54" name="Picture 53" descr="fila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4800" y="16934400"/>
            <a:ext cx="2506977" cy="2520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974177" y="17539200"/>
            <a:ext cx="9488223" cy="1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40"/>
              </a:spcAft>
            </a:pPr>
            <a:r>
              <a:rPr sz="952" b="1" i="0">
                <a:solidFill>
                  <a:srgbClr val="14213D"/>
                </a:solidFill>
                <a:latin typeface="Manrope"/>
              </a:rPr>
              <a:t>INTERMEDIATE FILAMENT AGGREGATE</a:t>
            </a:r>
          </a:p>
          <a:p>
            <a:pPr algn="l">
              <a:lnSpc>
                <a:spcPct val="125000"/>
              </a:lnSpc>
              <a:spcAft>
                <a:spcPts val="209"/>
              </a:spcAft>
            </a:pPr>
            <a:r>
              <a:rPr sz="1120" b="0" i="0">
                <a:solidFill>
                  <a:srgbClr val="4A5570"/>
                </a:solidFill>
                <a:latin typeface="Manrope"/>
              </a:rPr>
              <a:t>Patient cell — the hallmark of gigaxonin loss (arrow). N = nucleus.</a:t>
            </a:r>
          </a:p>
        </p:txBody>
      </p:sp>
      <p:sp>
        <p:nvSpPr>
          <p:cNvPr id="56" name="Oval 55"/>
          <p:cNvSpPr/>
          <p:nvPr/>
        </p:nvSpPr>
        <p:spPr>
          <a:xfrm>
            <a:off x="176400" y="20336400"/>
            <a:ext cx="604800" cy="604800"/>
          </a:xfrm>
          <a:prstGeom prst="ellipse">
            <a:avLst/>
          </a:prstGeom>
          <a:solidFill>
            <a:srgbClr val="F6F3EC"/>
          </a:solidFill>
          <a:ln w="8001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6400" y="20336400"/>
            <a:ext cx="604800" cy="6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14213D"/>
                </a:solidFill>
                <a:latin typeface="Fraunces"/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7600" y="20316240"/>
            <a:ext cx="453600" cy="3528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62400" y="20235600"/>
            <a:ext cx="1512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E4572E"/>
                </a:solidFill>
                <a:latin typeface="Manrope"/>
              </a:rPr>
              <a:t>THE PHENOTYPE, CELL BY CELL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7600" y="20538000"/>
            <a:ext cx="19504800" cy="6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3779" b="0" i="0">
                <a:solidFill>
                  <a:srgbClr val="14213D"/>
                </a:solidFill>
                <a:latin typeface="Fraunces"/>
              </a:rPr>
              <a:t>Axons that swell into </a:t>
            </a:r>
            <a:r>
              <a:rPr sz="3779" b="0" i="1">
                <a:solidFill>
                  <a:srgbClr val="14213D"/>
                </a:solidFill>
                <a:latin typeface="Fraunces"/>
              </a:rPr>
              <a:t>giants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7600" y="21294000"/>
            <a:ext cx="11844000" cy="32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7200" indent="-277200">
              <a:lnSpc>
                <a:spcPct val="115000"/>
              </a:lnSpc>
              <a:spcAft>
                <a:spcPts val="489"/>
              </a:spcAft>
            </a:pPr>
            <a:r>
              <a:rPr sz="1175">
                <a:solidFill>
                  <a:srgbClr val="E4572E"/>
                </a:solidFill>
                <a:latin typeface="Manrope"/>
              </a:rPr>
              <a:t>● 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Focal axonal swellings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 several times the normal diameter, packed with tangled neurofilaments — the "giant axons" that name the disease.</a:t>
            </a:r>
          </a:p>
          <a:p>
            <a:pPr marL="277200" indent="-277200">
              <a:lnSpc>
                <a:spcPct val="115000"/>
              </a:lnSpc>
              <a:spcAft>
                <a:spcPts val="489"/>
              </a:spcAft>
            </a:pPr>
            <a:r>
              <a:rPr sz="1175">
                <a:solidFill>
                  <a:srgbClr val="E4572E"/>
                </a:solidFill>
                <a:latin typeface="Manrope"/>
              </a:rPr>
              <a:t>● 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Myelin thins and degenerates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 over each swelling; conduction slows, then fails.</a:t>
            </a:r>
          </a:p>
          <a:p>
            <a:pPr marL="277200" indent="-277200">
              <a:lnSpc>
                <a:spcPct val="115000"/>
              </a:lnSpc>
              <a:spcAft>
                <a:spcPts val="489"/>
              </a:spcAft>
            </a:pPr>
            <a:r>
              <a:rPr sz="1175">
                <a:solidFill>
                  <a:srgbClr val="E4572E"/>
                </a:solidFill>
                <a:latin typeface="Manrope"/>
              </a:rPr>
              <a:t>● 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Both nervous systems are hit: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 peripheral nerves (PNS) and the cerebellum, brainstem and white-matter tracts (CNS).</a:t>
            </a:r>
          </a:p>
          <a:p>
            <a:pPr marL="277200" indent="-277200">
              <a:lnSpc>
                <a:spcPct val="115000"/>
              </a:lnSpc>
              <a:spcAft>
                <a:spcPts val="489"/>
              </a:spcAft>
            </a:pPr>
            <a:r>
              <a:rPr sz="1175">
                <a:solidFill>
                  <a:srgbClr val="E4572E"/>
                </a:solidFill>
                <a:latin typeface="Manrope"/>
              </a:rPr>
              <a:t>● 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Not only neurons: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 GFAP aggregates in astrocytes (Rosenthal fibres); disordered keratin gives the characteristic </a:t>
            </a:r>
            <a:r>
              <a:rPr sz="1679" b="1" i="0">
                <a:solidFill>
                  <a:srgbClr val="14213D"/>
                </a:solidFill>
                <a:latin typeface="Manrope"/>
              </a:rPr>
              <a:t>tightly curled "kinky" hair</a:t>
            </a:r>
            <a:r>
              <a:rPr sz="1679" b="0" i="0">
                <a:solidFill>
                  <a:srgbClr val="4A5570"/>
                </a:solidFill>
                <a:latin typeface="Manrope"/>
              </a:rPr>
              <a:t>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7600" y="25628400"/>
            <a:ext cx="3780000" cy="2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09600" y="25830000"/>
            <a:ext cx="3276000" cy="59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919" b="0" i="0">
                <a:solidFill>
                  <a:srgbClr val="E4572E"/>
                </a:solidFill>
                <a:latin typeface="Fraunces"/>
              </a:rPr>
              <a:t>3–5×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09600" y="26478184"/>
            <a:ext cx="3276000" cy="964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189" b="0" i="0">
                <a:solidFill>
                  <a:srgbClr val="4A5570"/>
                </a:solidFill>
                <a:latin typeface="Manrope"/>
              </a:rPr>
              <a:t>typical diameter of a swollen "giant" axon vs. a healthy one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89600" y="25628400"/>
            <a:ext cx="3780000" cy="2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41600" y="25830000"/>
            <a:ext cx="3276000" cy="426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2800" b="0" i="0">
                <a:solidFill>
                  <a:srgbClr val="14213D"/>
                </a:solidFill>
                <a:latin typeface="Fraunces"/>
              </a:rPr>
              <a:t>PNS + CNS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41600" y="26307389"/>
            <a:ext cx="3276000" cy="1135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189" b="0" i="0">
                <a:solidFill>
                  <a:srgbClr val="4A5570"/>
                </a:solidFill>
                <a:latin typeface="Manrope"/>
              </a:rPr>
              <a:t>a length-dependent axonopathy that becomes a whole-brain disease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21600" y="25628400"/>
            <a:ext cx="3780000" cy="2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73600" y="25830000"/>
            <a:ext cx="3276000" cy="59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919" b="0" i="0">
                <a:solidFill>
                  <a:srgbClr val="1A9C8E"/>
                </a:solidFill>
                <a:latin typeface="Fraunces"/>
              </a:rPr>
              <a:t>MRI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73600" y="26478184"/>
            <a:ext cx="3276000" cy="964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189" b="0" i="0">
                <a:solidFill>
                  <a:srgbClr val="4A5570"/>
                </a:solidFill>
                <a:latin typeface="Manrope"/>
              </a:rPr>
              <a:t>cerebellar and brainstem white-matter change supports diagnosis</a:t>
            </a:r>
          </a:p>
        </p:txBody>
      </p:sp>
      <p:pic>
        <p:nvPicPr>
          <p:cNvPr id="71" name="Picture 70" descr="neur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59200" y="21243600"/>
            <a:ext cx="5355000" cy="63000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3759200" y="27669600"/>
            <a:ext cx="67032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952" b="1" i="0">
                <a:solidFill>
                  <a:srgbClr val="14213D"/>
                </a:solidFill>
                <a:latin typeface="Manrope"/>
              </a:rPr>
              <a:t>NORMAL VS GAN   </a:t>
            </a:r>
            <a:r>
              <a:rPr sz="1120" b="0" i="0">
                <a:solidFill>
                  <a:srgbClr val="4A5570"/>
                </a:solidFill>
                <a:latin typeface="Manrope"/>
              </a:rPr>
              <a:t>Neurofilament accumulation → axonal swelling → myelin loss, in CNS and PNS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28350000"/>
            <a:ext cx="21420000" cy="4158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41000" y="28350000"/>
            <a:ext cx="75600" cy="415800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76400" y="28904400"/>
            <a:ext cx="604800" cy="604800"/>
          </a:xfrm>
          <a:prstGeom prst="ellipse">
            <a:avLst/>
          </a:prstGeom>
          <a:solidFill>
            <a:srgbClr val="F6F3EC"/>
          </a:solidFill>
          <a:ln w="80010">
            <a:solidFill>
              <a:srgbClr val="B78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76400" y="28904400"/>
            <a:ext cx="604800" cy="6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14213D"/>
                </a:solidFill>
                <a:latin typeface="Fraunces"/>
              </a:rPr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7600" y="28884240"/>
            <a:ext cx="453600" cy="3528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562400" y="28803600"/>
            <a:ext cx="1512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E4572E"/>
                </a:solidFill>
                <a:latin typeface="Manrope"/>
              </a:rPr>
              <a:t>SYMPTOMS AND CLINICAL COURSE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7600" y="29106000"/>
            <a:ext cx="19504800" cy="6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3779" b="0" i="0">
                <a:solidFill>
                  <a:srgbClr val="14213D"/>
                </a:solidFill>
                <a:latin typeface="Fraunces"/>
              </a:rPr>
              <a:t>A slow, relentless loss — from the feet upward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7600" y="30013200"/>
            <a:ext cx="19504800" cy="40320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57600" y="29887200"/>
            <a:ext cx="302400" cy="302400"/>
          </a:xfrm>
          <a:prstGeom prst="ellipse">
            <a:avLst/>
          </a:prstGeom>
          <a:solidFill>
            <a:srgbClr val="ECE7DB"/>
          </a:solidFill>
          <a:ln w="62229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57600" y="30366000"/>
            <a:ext cx="4649400" cy="22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1A9C8E"/>
                </a:solidFill>
                <a:latin typeface="Manrope"/>
              </a:rPr>
              <a:t>ONSET · ≈ 3 YEARS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7600" y="30618000"/>
            <a:ext cx="46494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2029" b="1" i="0">
                <a:solidFill>
                  <a:srgbClr val="14213D"/>
                </a:solidFill>
                <a:latin typeface="Manrope"/>
              </a:rPr>
              <a:t>The clumsy walker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7600" y="31021200"/>
            <a:ext cx="4649400" cy="14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470" b="0" i="0">
                <a:solidFill>
                  <a:srgbClr val="4A5570"/>
                </a:solidFill>
                <a:latin typeface="Manrope"/>
              </a:rPr>
              <a:t>Unsteady gait, frequent falls, weak feet and hands, high-arched feet, diminished reflexes. Tightly curled hair unlike either parent is a visible clue.</a:t>
            </a:r>
          </a:p>
        </p:txBody>
      </p:sp>
      <p:sp>
        <p:nvSpPr>
          <p:cNvPr id="85" name="Oval 84"/>
          <p:cNvSpPr/>
          <p:nvPr/>
        </p:nvSpPr>
        <p:spPr>
          <a:xfrm>
            <a:off x="5909400" y="29887200"/>
            <a:ext cx="302400" cy="302400"/>
          </a:xfrm>
          <a:prstGeom prst="ellipse">
            <a:avLst/>
          </a:prstGeom>
          <a:solidFill>
            <a:srgbClr val="ECE7DB"/>
          </a:solidFill>
          <a:ln w="62229">
            <a:solidFill>
              <a:srgbClr val="B78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09400" y="30366000"/>
            <a:ext cx="4649400" cy="22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B7801E"/>
                </a:solidFill>
                <a:latin typeface="Manrope"/>
              </a:rPr>
              <a:t>CHILDHOOD · 5–10 YEARS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09400" y="30618000"/>
            <a:ext cx="46494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2029" b="1" i="0">
                <a:solidFill>
                  <a:srgbClr val="14213D"/>
                </a:solidFill>
                <a:latin typeface="Manrope"/>
              </a:rPr>
              <a:t>Peripheral neuropathy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09400" y="31021200"/>
            <a:ext cx="4649400" cy="14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470" b="0" i="0">
                <a:solidFill>
                  <a:srgbClr val="4A5570"/>
                </a:solidFill>
                <a:latin typeface="Manrope"/>
              </a:rPr>
              <a:t>Loss of vibration and position sense, absent reflexes, muscle wasting below knees and elbows. Nerve biopsy shows giant axons; genetic testing confirms </a:t>
            </a:r>
            <a:r>
              <a:rPr sz="1470" b="0" i="1">
                <a:solidFill>
                  <a:srgbClr val="4A5570"/>
                </a:solidFill>
                <a:latin typeface="Fraunces"/>
              </a:rPr>
              <a:t>GAN</a:t>
            </a:r>
            <a:r>
              <a:rPr sz="1470" b="0" i="0">
                <a:solidFill>
                  <a:srgbClr val="4A5570"/>
                </a:solidFill>
                <a:latin typeface="Manrope"/>
              </a:rPr>
              <a:t> variants.</a:t>
            </a:r>
          </a:p>
        </p:txBody>
      </p:sp>
      <p:sp>
        <p:nvSpPr>
          <p:cNvPr id="89" name="Oval 88"/>
          <p:cNvSpPr/>
          <p:nvPr/>
        </p:nvSpPr>
        <p:spPr>
          <a:xfrm>
            <a:off x="10861200" y="29887200"/>
            <a:ext cx="302400" cy="302400"/>
          </a:xfrm>
          <a:prstGeom prst="ellipse">
            <a:avLst/>
          </a:prstGeom>
          <a:solidFill>
            <a:srgbClr val="ECE7DB"/>
          </a:solidFill>
          <a:ln w="62229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861200" y="30366000"/>
            <a:ext cx="4649400" cy="22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E4572E"/>
                </a:solidFill>
                <a:latin typeface="Manrope"/>
              </a:rPr>
              <a:t>ADOLESCENCE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61200" y="30618000"/>
            <a:ext cx="46494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2029" b="1" i="0">
                <a:solidFill>
                  <a:srgbClr val="14213D"/>
                </a:solidFill>
                <a:latin typeface="Manrope"/>
              </a:rPr>
              <a:t>Central nervous system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61200" y="31021200"/>
            <a:ext cx="4649400" cy="14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470" b="0" i="0">
                <a:solidFill>
                  <a:srgbClr val="4A5570"/>
                </a:solidFill>
                <a:latin typeface="Manrope"/>
              </a:rPr>
              <a:t>Wheelchair dependence, cerebellar ataxia, nystagmus, slurred speech, scoliosis, seizures and cognitive decline as brain white matter degenerates.</a:t>
            </a:r>
          </a:p>
        </p:txBody>
      </p:sp>
      <p:sp>
        <p:nvSpPr>
          <p:cNvPr id="93" name="Oval 92"/>
          <p:cNvSpPr/>
          <p:nvPr/>
        </p:nvSpPr>
        <p:spPr>
          <a:xfrm>
            <a:off x="15813000" y="29887200"/>
            <a:ext cx="302400" cy="302400"/>
          </a:xfrm>
          <a:prstGeom prst="ellipse">
            <a:avLst/>
          </a:prstGeom>
          <a:solidFill>
            <a:srgbClr val="ECE7DB"/>
          </a:solidFill>
          <a:ln w="62229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5813000" y="30366000"/>
            <a:ext cx="4649400" cy="22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120" b="1" i="0">
                <a:solidFill>
                  <a:srgbClr val="4A5570"/>
                </a:solidFill>
                <a:latin typeface="Manrope"/>
              </a:rPr>
              <a:t>EARLY ADULTHOOD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813000" y="30618000"/>
            <a:ext cx="46494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2029" b="1" i="0">
                <a:solidFill>
                  <a:srgbClr val="14213D"/>
                </a:solidFill>
                <a:latin typeface="Manrope"/>
              </a:rPr>
              <a:t>Late stage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813000" y="31021200"/>
            <a:ext cx="4649400" cy="14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470" b="0" i="0">
                <a:solidFill>
                  <a:srgbClr val="4A5570"/>
                </a:solidFill>
                <a:latin typeface="Manrope"/>
              </a:rPr>
              <a:t>Swallowing and breathing muscles weaken; most patients die of respiratory failure in the 2nd–3rd decade. Until 2015 there was </a:t>
            </a:r>
            <a:r>
              <a:rPr sz="1470" b="1" i="0">
                <a:solidFill>
                  <a:srgbClr val="4A5570"/>
                </a:solidFill>
                <a:latin typeface="Manrope"/>
              </a:rPr>
              <a:t>no treatment</a:t>
            </a:r>
            <a:r>
              <a:rPr sz="1470" b="0" i="0">
                <a:solidFill>
                  <a:srgbClr val="4A5570"/>
                </a:solidFill>
                <a:latin typeface="Manrope"/>
              </a:rPr>
              <a:t> beyond supportive care.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32508000"/>
            <a:ext cx="21420000" cy="5292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8144000" y="33516000"/>
            <a:ext cx="4032000" cy="4032000"/>
          </a:xfrm>
          <a:prstGeom prst="ellipse">
            <a:avLst/>
          </a:prstGeom>
          <a:solidFill>
            <a:srgbClr val="1E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41000" y="32508000"/>
            <a:ext cx="75600" cy="529200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76400" y="33062400"/>
            <a:ext cx="604800" cy="604800"/>
          </a:xfrm>
          <a:prstGeom prst="ellipse">
            <a:avLst/>
          </a:prstGeom>
          <a:solidFill>
            <a:srgbClr val="0F1B33"/>
          </a:solidFill>
          <a:ln w="80010">
            <a:solidFill>
              <a:srgbClr val="E9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76400" y="33062400"/>
            <a:ext cx="604800" cy="6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F6F3EC"/>
                </a:solidFill>
                <a:latin typeface="Fraunces"/>
              </a:rPr>
              <a:t>5</a:t>
            </a:r>
          </a:p>
        </p:txBody>
      </p:sp>
      <p:pic>
        <p:nvPicPr>
          <p:cNvPr id="102" name="Picture 101" descr="hann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600" y="33012000"/>
            <a:ext cx="6804000" cy="4303309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1159200" y="36559309"/>
            <a:ext cx="5040000" cy="554400"/>
          </a:xfrm>
          <a:prstGeom prst="roundRect">
            <a:avLst>
              <a:gd name="adj" fmla="val 15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310400" y="36634909"/>
            <a:ext cx="4788000" cy="45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"/>
              </a:spcAft>
            </a:pPr>
            <a:r>
              <a:rPr sz="952" b="1" i="0">
                <a:solidFill>
                  <a:srgbClr val="7FE0D4"/>
                </a:solidFill>
                <a:latin typeface="Manrope"/>
              </a:rPr>
              <a:t>HANNAH SAMES</a:t>
            </a:r>
          </a:p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008" b="0" i="0">
                <a:solidFill>
                  <a:srgbClr val="F6F3EC"/>
                </a:solidFill>
                <a:latin typeface="Manrope"/>
              </a:rPr>
              <a:t>Rexford, New York · diagnosed 24 March 2008, aged 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316000" y="33042240"/>
            <a:ext cx="453600" cy="3528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20800" y="32961600"/>
            <a:ext cx="1260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E9B44C"/>
                </a:solidFill>
                <a:latin typeface="Manrope"/>
              </a:rPr>
              <a:t>THE CASE THAT CHANGED THE FIELD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16000" y="33264000"/>
            <a:ext cx="12146400" cy="6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3779" b="0" i="0">
                <a:solidFill>
                  <a:srgbClr val="F6F3EC"/>
                </a:solidFill>
                <a:latin typeface="Fraunces"/>
              </a:rPr>
              <a:t>"We decided to </a:t>
            </a:r>
            <a:r>
              <a:rPr sz="3779" b="0" i="1">
                <a:solidFill>
                  <a:srgbClr val="F6F3EC"/>
                </a:solidFill>
                <a:latin typeface="Fraunces"/>
              </a:rPr>
              <a:t>fight</a:t>
            </a:r>
            <a:r>
              <a:rPr sz="3779" b="0" i="0">
                <a:solidFill>
                  <a:srgbClr val="F6F3EC"/>
                </a:solidFill>
                <a:latin typeface="Fraunces"/>
              </a:rPr>
              <a:t>."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16000" y="34020000"/>
            <a:ext cx="12146400" cy="24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7200" indent="-277200">
              <a:lnSpc>
                <a:spcPct val="115000"/>
              </a:lnSpc>
              <a:spcAft>
                <a:spcPts val="489"/>
              </a:spcAft>
            </a:pPr>
            <a:r>
              <a:rPr sz="1077">
                <a:solidFill>
                  <a:srgbClr val="1A9C8E"/>
                </a:solidFill>
                <a:latin typeface="Manrope"/>
              </a:rPr>
              <a:t>● </a:t>
            </a:r>
            <a:r>
              <a:rPr sz="1539" b="1" i="0">
                <a:solidFill>
                  <a:srgbClr val="F6F3EC"/>
                </a:solidFill>
                <a:latin typeface="Manrope"/>
              </a:rPr>
              <a:t>2007:</a:t>
            </a:r>
            <a:r>
              <a:rPr sz="1539" b="0" i="0">
                <a:solidFill>
                  <a:srgbClr val="B8BCC8"/>
                </a:solidFill>
                <a:latin typeface="Manrope"/>
              </a:rPr>
              <a:t> at age 3 Hannah's walking lags behind; a year of tests ends with a GAN diagnosis in </a:t>
            </a:r>
            <a:r>
              <a:rPr sz="1539" b="1" i="0">
                <a:solidFill>
                  <a:srgbClr val="F6F3EC"/>
                </a:solidFill>
                <a:latin typeface="Manrope"/>
              </a:rPr>
              <a:t>March 2008</a:t>
            </a:r>
            <a:r>
              <a:rPr sz="1539" b="0" i="0">
                <a:solidFill>
                  <a:srgbClr val="B8BCC8"/>
                </a:solidFill>
                <a:latin typeface="Manrope"/>
              </a:rPr>
              <a:t>.</a:t>
            </a:r>
          </a:p>
          <a:p>
            <a:pPr marL="277200" indent="-277200">
              <a:lnSpc>
                <a:spcPct val="115000"/>
              </a:lnSpc>
              <a:spcAft>
                <a:spcPts val="489"/>
              </a:spcAft>
            </a:pPr>
            <a:r>
              <a:rPr sz="1077">
                <a:solidFill>
                  <a:srgbClr val="1A9C8E"/>
                </a:solidFill>
                <a:latin typeface="Manrope"/>
              </a:rPr>
              <a:t>● </a:t>
            </a:r>
            <a:r>
              <a:rPr sz="1539" b="1" i="0">
                <a:solidFill>
                  <a:srgbClr val="F6F3EC"/>
                </a:solidFill>
                <a:latin typeface="Manrope"/>
              </a:rPr>
              <a:t>The hardest genotype:</a:t>
            </a:r>
            <a:r>
              <a:rPr sz="1539" b="0" i="0">
                <a:solidFill>
                  <a:srgbClr val="B8BCC8"/>
                </a:solidFill>
                <a:latin typeface="Manrope"/>
              </a:rPr>
              <a:t> two deletions — Hannah makes </a:t>
            </a:r>
            <a:r>
              <a:rPr sz="1539" b="1" i="0">
                <a:solidFill>
                  <a:srgbClr val="F6F3EC"/>
                </a:solidFill>
                <a:latin typeface="Manrope"/>
              </a:rPr>
              <a:t>no gigaxonin at all</a:t>
            </a:r>
            <a:r>
              <a:rPr sz="1539" b="0" i="0">
                <a:solidFill>
                  <a:srgbClr val="B8BCC8"/>
                </a:solidFill>
                <a:latin typeface="Manrope"/>
              </a:rPr>
              <a:t> (CRIM-negative), so her immune system had never "seen" the protein.</a:t>
            </a:r>
          </a:p>
          <a:p>
            <a:pPr marL="277200" indent="-277200">
              <a:lnSpc>
                <a:spcPct val="115000"/>
              </a:lnSpc>
              <a:spcAft>
                <a:spcPts val="489"/>
              </a:spcAft>
            </a:pPr>
            <a:r>
              <a:rPr sz="1077">
                <a:solidFill>
                  <a:srgbClr val="1A9C8E"/>
                </a:solidFill>
                <a:latin typeface="Manrope"/>
              </a:rPr>
              <a:t>● </a:t>
            </a:r>
            <a:r>
              <a:rPr sz="1539" b="1" i="0">
                <a:solidFill>
                  <a:srgbClr val="F6F3EC"/>
                </a:solidFill>
                <a:latin typeface="Manrope"/>
              </a:rPr>
              <a:t>Hannah's Hope Fund</a:t>
            </a:r>
            <a:r>
              <a:rPr sz="1539" b="0" i="0">
                <a:solidFill>
                  <a:srgbClr val="B8BCC8"/>
                </a:solidFill>
                <a:latin typeface="Manrope"/>
              </a:rPr>
              <a:t>, founded within months by Lori and Matt Sames, convenes the first GAN symposium (2008), raises </a:t>
            </a:r>
            <a:r>
              <a:rPr sz="1539" b="1" i="0">
                <a:solidFill>
                  <a:srgbClr val="F6F3EC"/>
                </a:solidFill>
                <a:latin typeface="Manrope"/>
              </a:rPr>
              <a:t>&gt;$8 million</a:t>
            </a:r>
            <a:r>
              <a:rPr sz="1539" b="0" i="0">
                <a:solidFill>
                  <a:srgbClr val="B8BCC8"/>
                </a:solidFill>
                <a:latin typeface="Manrope"/>
              </a:rPr>
              <a:t> and funds Steven Gray (UNC) to build the vector.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316000" y="36540000"/>
            <a:ext cx="63000" cy="10080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568000" y="36489600"/>
            <a:ext cx="11894400" cy="110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750" b="0" i="0">
                <a:solidFill>
                  <a:srgbClr val="F6F3EC"/>
                </a:solidFill>
                <a:latin typeface="Fraunces"/>
              </a:rPr>
              <a:t>Hannah's parents found themselves in the unimaginable situation of having funded a clinical trial that might have to exclude their own child.</a:t>
            </a:r>
          </a:p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952" b="1" i="0">
                <a:solidFill>
                  <a:srgbClr val="B8BCC8"/>
                </a:solidFill>
                <a:latin typeface="Manrope"/>
              </a:rPr>
              <a:t>DNA SCIENCE, JULY 2016</a:t>
            </a:r>
          </a:p>
        </p:txBody>
      </p:sp>
      <p:sp>
        <p:nvSpPr>
          <p:cNvPr id="111" name="Oval 110"/>
          <p:cNvSpPr/>
          <p:nvPr/>
        </p:nvSpPr>
        <p:spPr>
          <a:xfrm>
            <a:off x="176400" y="38354400"/>
            <a:ext cx="604800" cy="604800"/>
          </a:xfrm>
          <a:prstGeom prst="ellipse">
            <a:avLst/>
          </a:prstGeom>
          <a:solidFill>
            <a:srgbClr val="F6F3EC"/>
          </a:solidFill>
          <a:ln w="8001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76400" y="38354400"/>
            <a:ext cx="604800" cy="6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14213D"/>
                </a:solidFill>
                <a:latin typeface="Fraunces"/>
              </a:rPr>
              <a:t>6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57600" y="38334240"/>
            <a:ext cx="453600" cy="3528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562400" y="38253600"/>
            <a:ext cx="19152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1A9C8E"/>
                </a:solidFill>
                <a:latin typeface="Manrope"/>
              </a:rPr>
              <a:t>THE GENETIC TREATMENT · SCAAV9/JET-GAN · FIRST-IN-HUMAN INTRATHECAL AAV TRIAL, NIH CLINICAL CENTER 2015 (NCT02362438)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57600" y="38556000"/>
            <a:ext cx="19504800" cy="6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3779" b="0" i="0">
                <a:solidFill>
                  <a:srgbClr val="14213D"/>
                </a:solidFill>
                <a:latin typeface="Fraunces"/>
              </a:rPr>
              <a:t>A working gene, delivered into the spinal fluid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57600" y="39362400"/>
            <a:ext cx="4649400" cy="26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260000" y="39564000"/>
            <a:ext cx="756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079" b="0" i="0">
                <a:solidFill>
                  <a:srgbClr val="1A9C8E"/>
                </a:solidFill>
                <a:latin typeface="Fraunces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60000" y="40068000"/>
            <a:ext cx="40446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750" b="1" i="0">
                <a:solidFill>
                  <a:srgbClr val="14213D"/>
                </a:solidFill>
                <a:latin typeface="Manrope"/>
              </a:rPr>
              <a:t>Build the vector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60000" y="40446000"/>
            <a:ext cx="4044600" cy="146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330" b="1" i="0">
                <a:solidFill>
                  <a:srgbClr val="4A5570"/>
                </a:solidFill>
                <a:latin typeface="Manrope"/>
              </a:rPr>
              <a:t>scAAV9</a:t>
            </a:r>
            <a:r>
              <a:rPr sz="1330" b="0" i="0">
                <a:solidFill>
                  <a:srgbClr val="4A5570"/>
                </a:solidFill>
                <a:latin typeface="Manrope"/>
              </a:rPr>
              <a:t>: a self-complementary AAV9 shell that enters neurons and spreads through spinal cord and brain. No viral genes; does not integrate.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56600" y="39916800"/>
            <a:ext cx="4032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679" b="1" i="0">
                <a:solidFill>
                  <a:srgbClr val="1A9C8E"/>
                </a:solidFill>
                <a:latin typeface="Manrope"/>
              </a:rPr>
              <a:t>→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909400" y="39362400"/>
            <a:ext cx="4649400" cy="26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211800" y="39564000"/>
            <a:ext cx="756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079" b="0" i="0">
                <a:solidFill>
                  <a:srgbClr val="1A9C8E"/>
                </a:solidFill>
                <a:latin typeface="Fraunces"/>
              </a:rPr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11800" y="40068000"/>
            <a:ext cx="40446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750" b="1" i="0">
                <a:solidFill>
                  <a:srgbClr val="14213D"/>
                </a:solidFill>
                <a:latin typeface="Manrope"/>
              </a:rPr>
              <a:t>Load the cargo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11800" y="40446000"/>
            <a:ext cx="4044600" cy="146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330" b="0" i="0">
                <a:solidFill>
                  <a:srgbClr val="4A5570"/>
                </a:solidFill>
                <a:latin typeface="Manrope"/>
              </a:rPr>
              <a:t>A </a:t>
            </a:r>
            <a:r>
              <a:rPr sz="1330" b="1" i="0">
                <a:solidFill>
                  <a:srgbClr val="4A5570"/>
                </a:solidFill>
                <a:latin typeface="Manrope"/>
              </a:rPr>
              <a:t>codon-optimised human</a:t>
            </a:r>
            <a:r>
              <a:rPr sz="1330" b="0" i="0">
                <a:solidFill>
                  <a:srgbClr val="4A5570"/>
                </a:solidFill>
                <a:latin typeface="Manrope"/>
              </a:rPr>
              <a:t> </a:t>
            </a:r>
            <a:r>
              <a:rPr sz="1330" b="0" i="1">
                <a:solidFill>
                  <a:srgbClr val="4A5570"/>
                </a:solidFill>
                <a:latin typeface="Fraunces"/>
              </a:rPr>
              <a:t>GAN</a:t>
            </a:r>
            <a:r>
              <a:rPr sz="1330" b="0" i="0">
                <a:solidFill>
                  <a:srgbClr val="4A5570"/>
                </a:solidFill>
                <a:latin typeface="Manrope"/>
              </a:rPr>
              <a:t> gene driven by </a:t>
            </a:r>
            <a:r>
              <a:rPr sz="1330" b="1" i="0">
                <a:solidFill>
                  <a:srgbClr val="4A5570"/>
                </a:solidFill>
                <a:latin typeface="Manrope"/>
              </a:rPr>
              <a:t>JeT</a:t>
            </a:r>
            <a:r>
              <a:rPr sz="1330" b="0" i="0">
                <a:solidFill>
                  <a:srgbClr val="4A5570"/>
                </a:solidFill>
                <a:latin typeface="Manrope"/>
              </a:rPr>
              <a:t>, a tiny synthetic promoter that fits the compact genome.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508400" y="39916800"/>
            <a:ext cx="4032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679" b="1" i="0">
                <a:solidFill>
                  <a:srgbClr val="1A9C8E"/>
                </a:solidFill>
                <a:latin typeface="Manrope"/>
              </a:rPr>
              <a:t>→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861200" y="39362400"/>
            <a:ext cx="4649400" cy="26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1163600" y="39564000"/>
            <a:ext cx="756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079" b="0" i="0">
                <a:solidFill>
                  <a:srgbClr val="1A9C8E"/>
                </a:solidFill>
                <a:latin typeface="Fraunces"/>
              </a:rPr>
              <a:t>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163600" y="40068000"/>
            <a:ext cx="40446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750" b="1" i="0">
                <a:solidFill>
                  <a:srgbClr val="14213D"/>
                </a:solidFill>
                <a:latin typeface="Manrope"/>
              </a:rPr>
              <a:t>Single lumbar injection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163600" y="40446000"/>
            <a:ext cx="4044600" cy="146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330" b="0" i="0">
                <a:solidFill>
                  <a:srgbClr val="4A5570"/>
                </a:solidFill>
                <a:latin typeface="Manrope"/>
              </a:rPr>
              <a:t>One dose — up to </a:t>
            </a:r>
            <a:r>
              <a:rPr sz="1330" b="1" i="0">
                <a:solidFill>
                  <a:srgbClr val="4A5570"/>
                </a:solidFill>
                <a:latin typeface="Manrope"/>
              </a:rPr>
              <a:t>3.5 × 10¹⁴</a:t>
            </a:r>
            <a:r>
              <a:rPr sz="1330" b="0" i="0">
                <a:solidFill>
                  <a:srgbClr val="4A5570"/>
                </a:solidFill>
                <a:latin typeface="Manrope"/>
              </a:rPr>
              <a:t> vector genomes — into the CSF, bathing motor neurons and dorsal root ganglia and bypassing the blood–brain barrier.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5460200" y="39916800"/>
            <a:ext cx="4032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679" b="1" i="0">
                <a:solidFill>
                  <a:srgbClr val="1A9C8E"/>
                </a:solidFill>
                <a:latin typeface="Manrope"/>
              </a:rPr>
              <a:t>→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5813000" y="39362400"/>
            <a:ext cx="4649400" cy="2620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115400" y="39564000"/>
            <a:ext cx="756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079" b="0" i="0">
                <a:solidFill>
                  <a:srgbClr val="1A9C8E"/>
                </a:solidFill>
                <a:latin typeface="Fraunces"/>
              </a:rPr>
              <a:t>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6115400" y="40068000"/>
            <a:ext cx="4044600" cy="35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750" b="1" i="0">
                <a:solidFill>
                  <a:srgbClr val="14213D"/>
                </a:solidFill>
                <a:latin typeface="Manrope"/>
              </a:rPr>
              <a:t>Restore gigaxonin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115400" y="40446000"/>
            <a:ext cx="4044600" cy="146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330" b="0" i="0">
                <a:solidFill>
                  <a:srgbClr val="4A5570"/>
                </a:solidFill>
                <a:latin typeface="Manrope"/>
              </a:rPr>
              <a:t>Transduced neurons make gigaxonin within ~2 weeks, clearing aggregates and letting damaged sensory nerves </a:t>
            </a:r>
            <a:r>
              <a:rPr sz="1330" b="1" i="0">
                <a:solidFill>
                  <a:srgbClr val="4A5570"/>
                </a:solidFill>
                <a:latin typeface="Manrope"/>
              </a:rPr>
              <a:t>regenerate</a:t>
            </a:r>
            <a:r>
              <a:rPr sz="1330" b="0" i="0">
                <a:solidFill>
                  <a:srgbClr val="4A5570"/>
                </a:solidFill>
                <a:latin typeface="Manrope"/>
              </a:rPr>
              <a:t>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57600" y="42235200"/>
            <a:ext cx="6300000" cy="14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209600" y="42436800"/>
            <a:ext cx="5796000" cy="426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2800" b="0" i="0">
                <a:solidFill>
                  <a:srgbClr val="1A9C8E"/>
                </a:solidFill>
                <a:latin typeface="Fraunces"/>
              </a:rPr>
              <a:t>May 2015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09600" y="42914189"/>
            <a:ext cx="5796000" cy="5306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189" b="0" i="0">
                <a:solidFill>
                  <a:srgbClr val="4A5570"/>
                </a:solidFill>
                <a:latin typeface="Manrope"/>
              </a:rPr>
              <a:t>first human ever to receive a therapeutic gene via the spinal fluid — a GAN patient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560000" y="42235200"/>
            <a:ext cx="6300000" cy="14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812000" y="42436800"/>
            <a:ext cx="5796000" cy="426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2800" b="0" i="0">
                <a:solidFill>
                  <a:srgbClr val="B7801E"/>
                </a:solidFill>
                <a:latin typeface="Fraunces"/>
              </a:rPr>
              <a:t>21 July 2016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812000" y="42914189"/>
            <a:ext cx="5796000" cy="5306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189" b="0" i="0">
                <a:solidFill>
                  <a:srgbClr val="4A5570"/>
                </a:solidFill>
                <a:latin typeface="Manrope"/>
              </a:rPr>
              <a:t>Hannah, aged 12, treated as the 5th child (≈120 trillion vector genomes)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4162400" y="42235200"/>
            <a:ext cx="6300000" cy="1411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668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414400" y="42436800"/>
            <a:ext cx="5796000" cy="4269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2800" b="0" i="0">
                <a:solidFill>
                  <a:srgbClr val="E4572E"/>
                </a:solidFill>
                <a:latin typeface="Fraunces"/>
              </a:rPr>
              <a:t>CRIM-negative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414400" y="42914189"/>
            <a:ext cx="5796000" cy="5306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189" b="0" i="0">
                <a:solidFill>
                  <a:srgbClr val="4A5570"/>
                </a:solidFill>
                <a:latin typeface="Manrope"/>
              </a:rPr>
              <a:t>making no gigaxonin, Hannah needed a dedicated immunosuppression protocol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0" y="43848000"/>
            <a:ext cx="21420000" cy="6552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-3528000" y="44100000"/>
            <a:ext cx="6300000" cy="6300000"/>
          </a:xfrm>
          <a:prstGeom prst="ellipse">
            <a:avLst/>
          </a:prstGeom>
          <a:solidFill>
            <a:srgbClr val="1230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41000" y="43848000"/>
            <a:ext cx="75600" cy="47880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76400" y="44402400"/>
            <a:ext cx="604800" cy="604800"/>
          </a:xfrm>
          <a:prstGeom prst="ellipse">
            <a:avLst/>
          </a:prstGeom>
          <a:solidFill>
            <a:srgbClr val="0F1B33"/>
          </a:solidFill>
          <a:ln w="80010">
            <a:solidFill>
              <a:srgbClr val="1A9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76400" y="44402400"/>
            <a:ext cx="604800" cy="6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9"/>
              </a:spcAft>
            </a:pPr>
            <a:r>
              <a:rPr sz="1539" b="0" i="0">
                <a:solidFill>
                  <a:srgbClr val="F6F3EC"/>
                </a:solidFill>
                <a:latin typeface="Fraunces"/>
              </a:rPr>
              <a:t>7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57600" y="44382240"/>
            <a:ext cx="453600" cy="3528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562400" y="44301600"/>
            <a:ext cx="1512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1260" b="1" i="0">
                <a:solidFill>
                  <a:srgbClr val="1A9C8E"/>
                </a:solidFill>
                <a:latin typeface="Manrope"/>
              </a:rPr>
              <a:t>WHAT THE TRIAL SHOWED — NEJM, MARCH 2024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57600" y="44604000"/>
            <a:ext cx="19504800" cy="6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9"/>
              </a:spcAft>
            </a:pPr>
            <a:r>
              <a:rPr sz="3779" b="0" i="0">
                <a:solidFill>
                  <a:srgbClr val="F6F3EC"/>
                </a:solidFill>
                <a:latin typeface="Fraunces"/>
              </a:rPr>
              <a:t>Bending the curve of an "untreatable" disease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57600" y="45360000"/>
            <a:ext cx="3528000" cy="14616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209600" y="45561600"/>
            <a:ext cx="3024000" cy="469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079" b="0" i="0">
                <a:solidFill>
                  <a:srgbClr val="F6F3EC"/>
                </a:solidFill>
                <a:latin typeface="Fraunces"/>
              </a:rPr>
              <a:t>14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09600" y="46081688"/>
            <a:ext cx="3024000" cy="538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189" b="0" i="0">
                <a:solidFill>
                  <a:srgbClr val="B8BCC8"/>
                </a:solidFill>
                <a:latin typeface="Manrope"/>
              </a:rPr>
              <a:t>children aged 6–14 treated at four dose levels, followed for a median of 68.7 months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737600" y="45360000"/>
            <a:ext cx="3528000" cy="14616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989600" y="45561600"/>
            <a:ext cx="3024000" cy="469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079" b="0" i="0">
                <a:solidFill>
                  <a:srgbClr val="F6F3EC"/>
                </a:solidFill>
                <a:latin typeface="Fraunces"/>
              </a:rPr>
              <a:t>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989600" y="46081688"/>
            <a:ext cx="3024000" cy="538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189" b="0" i="0">
                <a:solidFill>
                  <a:srgbClr val="B8BCC8"/>
                </a:solidFill>
                <a:latin typeface="Manrope"/>
              </a:rPr>
              <a:t>serious adverse event (fever) possibly related; CSF inflammation managed with steroids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8517600" y="45360000"/>
            <a:ext cx="3528000" cy="14616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69600" y="45561600"/>
            <a:ext cx="3024000" cy="362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2379" b="0" i="0">
                <a:solidFill>
                  <a:srgbClr val="F6F3EC"/>
                </a:solidFill>
                <a:latin typeface="Fraunces"/>
              </a:rPr>
              <a:t>−7.2 → −1.9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769600" y="45974940"/>
            <a:ext cx="3024000" cy="645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189" b="0" i="0">
                <a:solidFill>
                  <a:srgbClr val="B8BCC8"/>
                </a:solidFill>
                <a:latin typeface="Manrope"/>
              </a:rPr>
              <a:t>MFM-32 points lost per year before vs. after the 1.8 × 10¹⁴ vg dose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57600" y="47023200"/>
            <a:ext cx="3528000" cy="14616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209600" y="47224800"/>
            <a:ext cx="3024000" cy="469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079" b="0" i="0">
                <a:solidFill>
                  <a:srgbClr val="F6F3EC"/>
                </a:solidFill>
                <a:latin typeface="Fraunces"/>
              </a:rPr>
              <a:t>99%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209600" y="47744888"/>
            <a:ext cx="3024000" cy="538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189" b="0" i="0">
                <a:solidFill>
                  <a:srgbClr val="B8BCC8"/>
                </a:solidFill>
                <a:latin typeface="Manrope"/>
              </a:rPr>
              <a:t>posterior probability that motor decline slowed at that dose — above the 95% bar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737600" y="47023200"/>
            <a:ext cx="3528000" cy="14616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989600" y="47224800"/>
            <a:ext cx="3024000" cy="469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079" b="0" i="0">
                <a:solidFill>
                  <a:srgbClr val="F6F3EC"/>
                </a:solidFill>
                <a:latin typeface="Fraunces"/>
              </a:rPr>
              <a:t>6 / 14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989600" y="47744888"/>
            <a:ext cx="3024000" cy="538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189" b="0" i="0">
                <a:solidFill>
                  <a:srgbClr val="B8BCC8"/>
                </a:solidFill>
                <a:latin typeface="Manrope"/>
              </a:rPr>
              <a:t>regained, stabilised or newly recordable sensory nerve responses after dosing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8517600" y="47023200"/>
            <a:ext cx="3528000" cy="1461600"/>
          </a:xfrm>
          <a:prstGeom prst="roundRect">
            <a:avLst>
              <a:gd name="adj" fmla="val 5000"/>
            </a:avLst>
          </a:prstGeom>
          <a:solidFill>
            <a:srgbClr val="182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769600" y="47224800"/>
            <a:ext cx="3024000" cy="469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9"/>
              </a:spcAft>
            </a:pPr>
            <a:r>
              <a:rPr sz="3079" b="0" i="0">
                <a:solidFill>
                  <a:srgbClr val="F6F3EC"/>
                </a:solidFill>
                <a:latin typeface="Fraunces"/>
              </a:rPr>
              <a:t>3–48×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769600" y="47744888"/>
            <a:ext cx="3024000" cy="538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189" b="0" i="0">
                <a:solidFill>
                  <a:srgbClr val="B8BCC8"/>
                </a:solidFill>
                <a:latin typeface="Manrope"/>
              </a:rPr>
              <a:t>more regenerating nerve-fibre clusters in sensory-nerve biopsies at one year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2600000" y="45360000"/>
            <a:ext cx="7862400" cy="196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7200" indent="-277200">
              <a:lnSpc>
                <a:spcPct val="115000"/>
              </a:lnSpc>
              <a:spcAft>
                <a:spcPts val="350"/>
              </a:spcAft>
            </a:pPr>
            <a:r>
              <a:rPr sz="1028">
                <a:solidFill>
                  <a:srgbClr val="1A9C8E"/>
                </a:solidFill>
                <a:latin typeface="Manrope"/>
              </a:rPr>
              <a:t>● </a:t>
            </a:r>
            <a:r>
              <a:rPr sz="1470" b="1" i="0">
                <a:solidFill>
                  <a:srgbClr val="F6F3EC"/>
                </a:solidFill>
                <a:latin typeface="Manrope"/>
              </a:rPr>
              <a:t>Not a cure — yet.</a:t>
            </a:r>
            <a:r>
              <a:rPr sz="1470" b="0" i="0">
                <a:solidFill>
                  <a:srgbClr val="B8BCC8"/>
                </a:solidFill>
                <a:latin typeface="Manrope"/>
              </a:rPr>
              <a:t> Existing damage is not reversed; benefit is largest when children are treated </a:t>
            </a:r>
            <a:r>
              <a:rPr sz="1470" b="1" i="0">
                <a:solidFill>
                  <a:srgbClr val="F6F3EC"/>
                </a:solidFill>
                <a:latin typeface="Manrope"/>
              </a:rPr>
              <a:t>young and early</a:t>
            </a:r>
            <a:r>
              <a:rPr sz="1470" b="0" i="0">
                <a:solidFill>
                  <a:srgbClr val="B8BCC8"/>
                </a:solidFill>
                <a:latin typeface="Manrope"/>
              </a:rPr>
              <a:t>.</a:t>
            </a:r>
          </a:p>
          <a:p>
            <a:pPr marL="277200" indent="-277200">
              <a:lnSpc>
                <a:spcPct val="115000"/>
              </a:lnSpc>
              <a:spcAft>
                <a:spcPts val="350"/>
              </a:spcAft>
            </a:pPr>
            <a:r>
              <a:rPr sz="1028">
                <a:solidFill>
                  <a:srgbClr val="1A9C8E"/>
                </a:solidFill>
                <a:latin typeface="Manrope"/>
              </a:rPr>
              <a:t>● </a:t>
            </a:r>
            <a:r>
              <a:rPr sz="1470" b="1" i="0">
                <a:solidFill>
                  <a:srgbClr val="F6F3EC"/>
                </a:solidFill>
                <a:latin typeface="Manrope"/>
              </a:rPr>
              <a:t>A template for the field:</a:t>
            </a:r>
            <a:r>
              <a:rPr sz="1470" b="0" i="0">
                <a:solidFill>
                  <a:srgbClr val="B8BCC8"/>
                </a:solidFill>
                <a:latin typeface="Manrope"/>
              </a:rPr>
              <a:t> intrathecal AAV9 delivery pioneered here now underpins trials for many other childhood brain diseases.</a:t>
            </a:r>
          </a:p>
          <a:p>
            <a:pPr marL="277200" indent="-277200">
              <a:lnSpc>
                <a:spcPct val="115000"/>
              </a:lnSpc>
              <a:spcAft>
                <a:spcPts val="350"/>
              </a:spcAft>
            </a:pPr>
            <a:r>
              <a:rPr sz="1028">
                <a:solidFill>
                  <a:srgbClr val="1A9C8E"/>
                </a:solidFill>
                <a:latin typeface="Manrope"/>
              </a:rPr>
              <a:t>● </a:t>
            </a:r>
            <a:r>
              <a:rPr sz="1470" b="1" i="0">
                <a:solidFill>
                  <a:srgbClr val="F6F3EC"/>
                </a:solidFill>
                <a:latin typeface="Manrope"/>
              </a:rPr>
              <a:t>Next:</a:t>
            </a:r>
            <a:r>
              <a:rPr sz="1470" b="0" i="0">
                <a:solidFill>
                  <a:srgbClr val="B8BCC8"/>
                </a:solidFill>
                <a:latin typeface="Manrope"/>
              </a:rPr>
              <a:t> programme licensed to industry (Taysha, TSHA-120); Hannah's Hope Fund funds a second injection site.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2600000" y="47527200"/>
            <a:ext cx="63000" cy="907200"/>
          </a:xfrm>
          <a:prstGeom prst="rect">
            <a:avLst/>
          </a:prstGeom>
          <a:solidFill>
            <a:srgbClr val="1A9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2852000" y="47476800"/>
            <a:ext cx="76104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1609" b="0" i="0">
                <a:solidFill>
                  <a:srgbClr val="F6F3EC"/>
                </a:solidFill>
                <a:latin typeface="Fraunces"/>
              </a:rPr>
              <a:t>One family with no medical background turned a diagnosis into a first-in-human therapy — proof of what patient-driven science can do.</a:t>
            </a:r>
          </a:p>
          <a:p>
            <a:pPr algn="l">
              <a:lnSpc>
                <a:spcPct val="120000"/>
              </a:lnSpc>
              <a:spcAft>
                <a:spcPts val="209"/>
              </a:spcAft>
            </a:pPr>
            <a:r>
              <a:rPr sz="952" b="1" i="0">
                <a:solidFill>
                  <a:srgbClr val="B8BCC8"/>
                </a:solidFill>
                <a:latin typeface="Manrope"/>
              </a:rPr>
              <a:t>TAKE-HOME MESSAGE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0" y="48636000"/>
            <a:ext cx="21420000" cy="2016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57600" y="48988800"/>
            <a:ext cx="14112000" cy="110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9"/>
              </a:spcAft>
            </a:pPr>
            <a:r>
              <a:rPr sz="1008" b="0" i="0">
                <a:solidFill>
                  <a:srgbClr val="B8BCC8"/>
                </a:solidFill>
                <a:latin typeface="Manrope"/>
              </a:rPr>
              <a:t>Sources: Bharucha-Goebel DX et al. </a:t>
            </a:r>
            <a:r>
              <a:rPr sz="1008" b="0" i="1">
                <a:solidFill>
                  <a:srgbClr val="B8BCC8"/>
                </a:solidFill>
                <a:latin typeface="Fraunces"/>
              </a:rPr>
              <a:t>Intrathecal Gene Therapy for Giant Axonal Neuropathy.</a:t>
            </a:r>
            <a:r>
              <a:rPr sz="1008" b="0" i="0">
                <a:solidFill>
                  <a:srgbClr val="B8BCC8"/>
                </a:solidFill>
                <a:latin typeface="Manrope"/>
              </a:rPr>
              <a:t> N Engl J Med 2024;390:1092-1104 · ClinicalTrials.gov NCT02362438 · NIH News, March 2024 · Hannah's Hope Fund (hannahshopefund.org) · The Children's Inn at NIH, "Hannah's Story" · DNA Science (PLOS), July 2016. Figures adapted from the source poster.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5120000" y="49039200"/>
            <a:ext cx="53424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140"/>
              </a:spcAft>
            </a:pPr>
            <a:r>
              <a:rPr sz="2100" b="0" i="0">
                <a:solidFill>
                  <a:srgbClr val="F6F3EC"/>
                </a:solidFill>
                <a:latin typeface="Fraunces"/>
              </a:rPr>
              <a:t>Giant Axonal Neuropathy</a:t>
            </a:r>
          </a:p>
          <a:p>
            <a:pPr algn="r">
              <a:lnSpc>
                <a:spcPct val="115000"/>
              </a:lnSpc>
              <a:spcAft>
                <a:spcPts val="209"/>
              </a:spcAft>
            </a:pPr>
            <a:r>
              <a:rPr sz="952" b="1" i="0">
                <a:solidFill>
                  <a:srgbClr val="7FE0D4"/>
                </a:solidFill>
                <a:latin typeface="Manrope"/>
              </a:rPr>
              <a:t>FROM GENE TO GENE THERAPY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