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300000" cy="360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300000" cy="306000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20000" y="-4140000"/>
            <a:ext cx="6840000" cy="6840000"/>
          </a:xfrm>
          <a:prstGeom prst="ellipse">
            <a:avLst/>
          </a:prstGeom>
          <a:solidFill>
            <a:srgbClr val="123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00000" y="-720000"/>
            <a:ext cx="3600000" cy="3600000"/>
          </a:xfrm>
          <a:prstGeom prst="ellipse">
            <a:avLst/>
          </a:prstGeom>
          <a:solidFill>
            <a:srgbClr val="2A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736000"/>
            <a:ext cx="15300000" cy="21600"/>
          </a:xfrm>
          <a:prstGeom prst="rect">
            <a:avLst/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40000" y="2556000"/>
            <a:ext cx="3960000" cy="540000"/>
          </a:xfrm>
          <a:prstGeom prst="ellipse">
            <a:avLst/>
          </a:prstGeom>
          <a:solidFill>
            <a:srgbClr val="1B2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844000"/>
            <a:ext cx="15300000" cy="72000"/>
          </a:xfrm>
          <a:prstGeom prst="rect">
            <a:avLst/>
          </a:prstGeom>
          <a:solidFill>
            <a:srgbClr val="2B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4000" y="457200"/>
            <a:ext cx="324000" cy="2520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6000" y="396000"/>
            <a:ext cx="108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900" b="1" i="0">
                <a:solidFill>
                  <a:srgbClr val="1A9C8E"/>
                </a:solidFill>
                <a:latin typeface="Manrope"/>
              </a:rPr>
              <a:t>RARE NEUROGENETIC DISEASE · OMIM #256850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000" y="612000"/>
            <a:ext cx="14040000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6600" b="0" i="0">
                <a:solidFill>
                  <a:srgbClr val="F6F3EC"/>
                </a:solidFill>
                <a:latin typeface="Fraunces"/>
              </a:rPr>
              <a:t>Giant Axonal </a:t>
            </a:r>
            <a:r>
              <a:rPr sz="6600" b="0" i="1">
                <a:solidFill>
                  <a:srgbClr val="F6F3EC"/>
                </a:solidFill>
                <a:latin typeface="Fraunces"/>
              </a:rPr>
              <a:t>Neuropathy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" y="1656000"/>
            <a:ext cx="126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1400" b="0" i="0">
                <a:solidFill>
                  <a:srgbClr val="B8BCC8"/>
                </a:solidFill>
                <a:latin typeface="Manrope"/>
              </a:rPr>
              <a:t>From a missing protein to the first gene therapy delivered into the spinal fluid.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4000" y="2124000"/>
            <a:ext cx="1069200" cy="252000"/>
          </a:xfrm>
          <a:prstGeom prst="roundRect">
            <a:avLst>
              <a:gd name="adj" fmla="val 50000"/>
            </a:avLst>
          </a:prstGeom>
          <a:solidFill>
            <a:srgbClr val="0F1B33"/>
          </a:solidFill>
          <a:ln w="7620">
            <a:solidFill>
              <a:srgbClr val="1A9C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4000" y="2124000"/>
            <a:ext cx="1069200" cy="25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850" b="1" i="0">
                <a:solidFill>
                  <a:srgbClr val="7FE0D4"/>
                </a:solidFill>
                <a:latin typeface="Manrope"/>
              </a:rPr>
              <a:t>GENE: GAN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61200" y="2124000"/>
            <a:ext cx="1814400" cy="252000"/>
          </a:xfrm>
          <a:prstGeom prst="roundRect">
            <a:avLst>
              <a:gd name="adj" fmla="val 50000"/>
            </a:avLst>
          </a:prstGeom>
          <a:solidFill>
            <a:srgbClr val="0F1B33"/>
          </a:solidFill>
          <a:ln w="762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61200" y="2124000"/>
            <a:ext cx="1814400" cy="25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850" b="1" i="0">
                <a:solidFill>
                  <a:srgbClr val="B8BCC8"/>
                </a:solidFill>
                <a:latin typeface="Manrope"/>
              </a:rPr>
              <a:t>CHROMOSOME 16Q23.2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3600" y="2124000"/>
            <a:ext cx="1897200" cy="252000"/>
          </a:xfrm>
          <a:prstGeom prst="roundRect">
            <a:avLst>
              <a:gd name="adj" fmla="val 50000"/>
            </a:avLst>
          </a:prstGeom>
          <a:solidFill>
            <a:srgbClr val="0F1B33"/>
          </a:solidFill>
          <a:ln w="762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83600" y="2124000"/>
            <a:ext cx="1897200" cy="25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850" b="1" i="0">
                <a:solidFill>
                  <a:srgbClr val="B8BCC8"/>
                </a:solidFill>
                <a:latin typeface="Manrope"/>
              </a:rPr>
              <a:t>AUTOSOMAL RECESSIVE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88800" y="2124000"/>
            <a:ext cx="1566000" cy="252000"/>
          </a:xfrm>
          <a:prstGeom prst="roundRect">
            <a:avLst>
              <a:gd name="adj" fmla="val 50000"/>
            </a:avLst>
          </a:prstGeom>
          <a:solidFill>
            <a:srgbClr val="0F1B33"/>
          </a:solidFill>
          <a:ln w="762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88800" y="2124000"/>
            <a:ext cx="1566000" cy="25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850" b="1" i="0">
                <a:solidFill>
                  <a:srgbClr val="B8BCC8"/>
                </a:solidFill>
                <a:latin typeface="Manrope"/>
              </a:rPr>
              <a:t>ONSET ≈ 3 YEARS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62800" y="2124000"/>
            <a:ext cx="1648800" cy="252000"/>
          </a:xfrm>
          <a:prstGeom prst="roundRect">
            <a:avLst>
              <a:gd name="adj" fmla="val 50000"/>
            </a:avLst>
          </a:prstGeom>
          <a:solidFill>
            <a:srgbClr val="0F1B33"/>
          </a:solidFill>
          <a:ln w="762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62800" y="2124000"/>
            <a:ext cx="1648800" cy="25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850" b="1" i="0">
                <a:solidFill>
                  <a:srgbClr val="B8BCC8"/>
                </a:solidFill>
                <a:latin typeface="Manrope"/>
              </a:rPr>
              <a:t>&lt; 1 IN 1,000,000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5000" y="3060000"/>
            <a:ext cx="54000" cy="594000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8000" y="3456000"/>
            <a:ext cx="468000" cy="468000"/>
          </a:xfrm>
          <a:prstGeom prst="ellipse">
            <a:avLst/>
          </a:prstGeom>
          <a:solidFill>
            <a:srgbClr val="F6F3EC"/>
          </a:solidFill>
          <a:ln w="57150">
            <a:solidFill>
              <a:srgbClr val="1A9C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000" y="3456000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1100" b="0" i="0">
                <a:solidFill>
                  <a:srgbClr val="14213D"/>
                </a:solidFill>
                <a:latin typeface="Fraunces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4000" y="3409200"/>
            <a:ext cx="324000" cy="2520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6000" y="3348000"/>
            <a:ext cx="1296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900" b="1" i="0">
                <a:solidFill>
                  <a:srgbClr val="1A9C8E"/>
                </a:solidFill>
                <a:latin typeface="Manrope"/>
              </a:rPr>
              <a:t>THE GENETIC ROOT CAUSE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000" y="3546000"/>
            <a:ext cx="13932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3100" b="0" i="0">
                <a:solidFill>
                  <a:srgbClr val="14213D"/>
                </a:solidFill>
                <a:latin typeface="Fraunces"/>
              </a:rPr>
              <a:t>One gene, two broken copies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4000" y="4176000"/>
            <a:ext cx="2652000" cy="828000"/>
          </a:xfrm>
          <a:prstGeom prst="roundRect">
            <a:avLst>
              <a:gd name="adj" fmla="val 5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4000" y="4284000"/>
            <a:ext cx="2292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700" b="1" i="0">
                <a:solidFill>
                  <a:srgbClr val="1A9C8E"/>
                </a:solidFill>
                <a:latin typeface="Manrope"/>
              </a:rPr>
              <a:t>GENE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000" y="4428000"/>
            <a:ext cx="2292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1700" b="0" i="1">
                <a:solidFill>
                  <a:srgbClr val="14213D"/>
                </a:solidFill>
                <a:latin typeface="Fraunces"/>
              </a:rPr>
              <a:t>GAN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000" y="4734000"/>
            <a:ext cx="229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800" b="0" i="0">
                <a:solidFill>
                  <a:srgbClr val="4A5570"/>
                </a:solidFill>
                <a:latin typeface="Manrope"/>
              </a:rPr>
              <a:t>chromosome 16 · band q23.2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80000" y="4176000"/>
            <a:ext cx="2652000" cy="828000"/>
          </a:xfrm>
          <a:prstGeom prst="roundRect">
            <a:avLst>
              <a:gd name="adj" fmla="val 5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60000" y="4284000"/>
            <a:ext cx="2292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700" b="1" i="0">
                <a:solidFill>
                  <a:srgbClr val="1A9C8E"/>
                </a:solidFill>
                <a:latin typeface="Manrope"/>
              </a:rPr>
              <a:t>PROTEIN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60000" y="4428000"/>
            <a:ext cx="2292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1700" b="0" i="0">
                <a:solidFill>
                  <a:srgbClr val="14213D"/>
                </a:solidFill>
                <a:latin typeface="Fraunces"/>
              </a:rPr>
              <a:t>Gigaxonin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60000" y="4734000"/>
            <a:ext cx="229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800" b="0" i="0">
                <a:solidFill>
                  <a:srgbClr val="4A5570"/>
                </a:solidFill>
                <a:latin typeface="Manrope"/>
              </a:rPr>
              <a:t>597 aa · BTB / Kelch family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76000" y="4176000"/>
            <a:ext cx="2652000" cy="828000"/>
          </a:xfrm>
          <a:prstGeom prst="roundRect">
            <a:avLst>
              <a:gd name="adj" fmla="val 5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56000" y="4284000"/>
            <a:ext cx="2292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700" b="1" i="0">
                <a:solidFill>
                  <a:srgbClr val="1A9C8E"/>
                </a:solidFill>
                <a:latin typeface="Manrope"/>
              </a:rPr>
              <a:t>VARIANTS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6000" y="4428000"/>
            <a:ext cx="2292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1700" b="0" i="0">
                <a:solidFill>
                  <a:srgbClr val="14213D"/>
                </a:solidFill>
                <a:latin typeface="Fraunces"/>
              </a:rPr>
              <a:t>&gt; 100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6000" y="4734000"/>
            <a:ext cx="229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800" b="0" i="0">
                <a:solidFill>
                  <a:srgbClr val="4A5570"/>
                </a:solidFill>
                <a:latin typeface="Manrope"/>
              </a:rPr>
              <a:t>all loss-of-function</a:t>
            </a:r>
          </a:p>
        </p:txBody>
      </p:sp>
      <p:pic>
        <p:nvPicPr>
          <p:cNvPr id="40" name="Picture 39" descr="l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5256000"/>
            <a:ext cx="6778060" cy="27000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84000" y="8064000"/>
            <a:ext cx="824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50"/>
              </a:spcAft>
            </a:pPr>
            <a:r>
              <a:rPr sz="697" b="1" i="0">
                <a:solidFill>
                  <a:srgbClr val="14213D"/>
                </a:solidFill>
                <a:latin typeface="Manrope"/>
              </a:rPr>
              <a:t>MUTATION LOCUS   </a:t>
            </a:r>
            <a:r>
              <a:rPr sz="850" b="0" i="0">
                <a:solidFill>
                  <a:srgbClr val="4A5570"/>
                </a:solidFill>
                <a:latin typeface="Manrope"/>
              </a:rPr>
              <a:t>Long arm of chromosome 16, band q23.2</a:t>
            </a:r>
          </a:p>
        </p:txBody>
      </p:sp>
      <p:pic>
        <p:nvPicPr>
          <p:cNvPr id="42" name="Picture 41" descr="inheri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6000" y="4176000"/>
            <a:ext cx="4738178" cy="42840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216000" y="8568000"/>
            <a:ext cx="54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50"/>
              </a:spcAft>
            </a:pPr>
            <a:r>
              <a:rPr sz="697" b="1" i="0">
                <a:solidFill>
                  <a:srgbClr val="14213D"/>
                </a:solidFill>
                <a:latin typeface="Manrope"/>
              </a:rPr>
              <a:t>TWO HEALTHY CARRIERS   </a:t>
            </a:r>
            <a:r>
              <a:rPr sz="850" b="0" i="0">
                <a:solidFill>
                  <a:srgbClr val="4A5570"/>
                </a:solidFill>
                <a:latin typeface="Manrope"/>
              </a:rPr>
              <a:t>each child: 1 in 4 affected · 2 in 4 carriers · 1 in 4 unaffected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9000000"/>
            <a:ext cx="15300000" cy="918000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15000" y="9000000"/>
            <a:ext cx="54000" cy="918000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000" y="9396000"/>
            <a:ext cx="468000" cy="468000"/>
          </a:xfrm>
          <a:prstGeom prst="ellipse">
            <a:avLst/>
          </a:prstGeom>
          <a:solidFill>
            <a:srgbClr val="F6F3EC"/>
          </a:solidFill>
          <a:ln w="57150">
            <a:solidFill>
              <a:srgbClr val="1A9C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000" y="9396000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1100" b="0" i="0">
                <a:solidFill>
                  <a:srgbClr val="14213D"/>
                </a:solidFill>
                <a:latin typeface="Fraunces"/>
              </a:rPr>
              <a:t>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4000" y="9349200"/>
            <a:ext cx="324000" cy="2520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16000" y="9288000"/>
            <a:ext cx="1296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900" b="1" i="0">
                <a:solidFill>
                  <a:srgbClr val="1A9C8E"/>
                </a:solidFill>
                <a:latin typeface="Manrope"/>
              </a:rPr>
              <a:t>THE GIGAXONIN PATHWAY — HOW ONE MISSING PROTEIN DAMAGES THE NERVE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4000" y="9486000"/>
            <a:ext cx="13932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3100" b="0" i="0">
                <a:solidFill>
                  <a:srgbClr val="14213D"/>
                </a:solidFill>
                <a:latin typeface="Fraunces"/>
              </a:rPr>
              <a:t>The cell's filament recycler goes missing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785000" y="10692000"/>
            <a:ext cx="4692000" cy="3600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77000" y="10692000"/>
            <a:ext cx="4692000" cy="36000"/>
          </a:xfrm>
          <a:prstGeom prst="rect">
            <a:avLst/>
          </a:prstGeom>
          <a:solidFill>
            <a:srgbClr val="B78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169000" y="10692000"/>
            <a:ext cx="2346000" cy="3600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cascade-ge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000" y="10116000"/>
            <a:ext cx="1188000" cy="1188000"/>
          </a:xfrm>
          <a:prstGeom prst="rect">
            <a:avLst/>
          </a:prstGeom>
        </p:spPr>
      </p:pic>
      <p:sp>
        <p:nvSpPr>
          <p:cNvPr id="55" name="Oval 54"/>
          <p:cNvSpPr/>
          <p:nvPr/>
        </p:nvSpPr>
        <p:spPr>
          <a:xfrm>
            <a:off x="2109000" y="10044000"/>
            <a:ext cx="288000" cy="288000"/>
          </a:xfrm>
          <a:prstGeom prst="ellipse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09000" y="10044000"/>
            <a:ext cx="288000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700" b="1" i="0">
                <a:solidFill>
                  <a:srgbClr val="FFFFFF"/>
                </a:solidFill>
                <a:latin typeface="Manrope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4000" y="11412000"/>
            <a:ext cx="2202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150"/>
              </a:spcAft>
            </a:pPr>
            <a:r>
              <a:rPr sz="1250" b="1" i="1">
                <a:solidFill>
                  <a:srgbClr val="14213D"/>
                </a:solidFill>
                <a:latin typeface="Fraunces"/>
              </a:rPr>
              <a:t>GAN</a:t>
            </a:r>
            <a:r>
              <a:rPr sz="1250" b="1" i="0">
                <a:solidFill>
                  <a:srgbClr val="14213D"/>
                </a:solidFill>
                <a:latin typeface="Manrope"/>
              </a:rPr>
              <a:t> mutated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4000" y="11682000"/>
            <a:ext cx="2202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150"/>
              </a:spcAft>
            </a:pPr>
            <a:r>
              <a:rPr sz="900" b="0" i="0">
                <a:solidFill>
                  <a:srgbClr val="4A5570"/>
                </a:solidFill>
                <a:latin typeface="Manrope"/>
              </a:rPr>
              <a:t>Both copies carry a loss-of-function variant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14000" y="10368000"/>
            <a:ext cx="288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2200" b="1" i="0">
                <a:solidFill>
                  <a:srgbClr val="4A5570"/>
                </a:solidFill>
                <a:latin typeface="Manrope"/>
              </a:rPr>
              <a:t>›</a:t>
            </a:r>
          </a:p>
        </p:txBody>
      </p:sp>
      <p:pic>
        <p:nvPicPr>
          <p:cNvPr id="60" name="Picture 59" descr="cascade-miss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7000" y="10116000"/>
            <a:ext cx="1188000" cy="1188000"/>
          </a:xfrm>
          <a:prstGeom prst="rect">
            <a:avLst/>
          </a:prstGeom>
        </p:spPr>
      </p:pic>
      <p:sp>
        <p:nvSpPr>
          <p:cNvPr id="61" name="Oval 60"/>
          <p:cNvSpPr/>
          <p:nvPr/>
        </p:nvSpPr>
        <p:spPr>
          <a:xfrm>
            <a:off x="4455000" y="10044000"/>
            <a:ext cx="288000" cy="288000"/>
          </a:xfrm>
          <a:prstGeom prst="ellipse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55000" y="10044000"/>
            <a:ext cx="288000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700" b="1" i="0">
                <a:solidFill>
                  <a:srgbClr val="FFFFFF"/>
                </a:solidFill>
                <a:latin typeface="Manrope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30000" y="11412000"/>
            <a:ext cx="2202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150"/>
              </a:spcAft>
            </a:pPr>
            <a:r>
              <a:rPr sz="1250" b="1" i="0">
                <a:solidFill>
                  <a:srgbClr val="14213D"/>
                </a:solidFill>
                <a:latin typeface="Manrope"/>
              </a:rPr>
              <a:t>No gigaxonin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030000" y="11682000"/>
            <a:ext cx="2202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150"/>
              </a:spcAft>
            </a:pPr>
            <a:r>
              <a:rPr sz="900" b="0" i="0">
                <a:solidFill>
                  <a:srgbClr val="4A5570"/>
                </a:solidFill>
                <a:latin typeface="Manrope"/>
              </a:rPr>
              <a:t>The adaptor of the Cul3 E3 ubiquitin ligase is absent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60000" y="10368000"/>
            <a:ext cx="288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2200" b="1" i="0">
                <a:solidFill>
                  <a:srgbClr val="4A5570"/>
                </a:solidFill>
                <a:latin typeface="Manrope"/>
              </a:rPr>
              <a:t>›</a:t>
            </a:r>
          </a:p>
        </p:txBody>
      </p:sp>
      <p:pic>
        <p:nvPicPr>
          <p:cNvPr id="66" name="Picture 65" descr="cascade-ta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3000" y="10116000"/>
            <a:ext cx="1188000" cy="1188000"/>
          </a:xfrm>
          <a:prstGeom prst="rect">
            <a:avLst/>
          </a:prstGeom>
        </p:spPr>
      </p:pic>
      <p:sp>
        <p:nvSpPr>
          <p:cNvPr id="67" name="Oval 66"/>
          <p:cNvSpPr/>
          <p:nvPr/>
        </p:nvSpPr>
        <p:spPr>
          <a:xfrm>
            <a:off x="6801000" y="10044000"/>
            <a:ext cx="288000" cy="288000"/>
          </a:xfrm>
          <a:prstGeom prst="ellipse">
            <a:avLst/>
          </a:prstGeom>
          <a:solidFill>
            <a:srgbClr val="B78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01000" y="10044000"/>
            <a:ext cx="288000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700" b="1" i="0">
                <a:solidFill>
                  <a:srgbClr val="FFFFFF"/>
                </a:solidFill>
                <a:latin typeface="Manrope"/>
              </a:rP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76000" y="11412000"/>
            <a:ext cx="2202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150"/>
              </a:spcAft>
            </a:pPr>
            <a:r>
              <a:rPr sz="1250" b="1" i="0">
                <a:solidFill>
                  <a:srgbClr val="14213D"/>
                </a:solidFill>
                <a:latin typeface="Manrope"/>
              </a:rPr>
              <a:t>Filaments not tagged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76000" y="11682000"/>
            <a:ext cx="2202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150"/>
              </a:spcAft>
            </a:pPr>
            <a:r>
              <a:rPr sz="900" b="0" i="0">
                <a:solidFill>
                  <a:srgbClr val="4A5570"/>
                </a:solidFill>
                <a:latin typeface="Manrope"/>
              </a:rPr>
              <a:t>Neurofilaments, vimentin, GFAP and keratin are never ubiquitinated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06000" y="10368000"/>
            <a:ext cx="288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2200" b="1" i="0">
                <a:solidFill>
                  <a:srgbClr val="4A5570"/>
                </a:solidFill>
                <a:latin typeface="Manrope"/>
              </a:rPr>
              <a:t>›</a:t>
            </a:r>
          </a:p>
        </p:txBody>
      </p:sp>
      <p:pic>
        <p:nvPicPr>
          <p:cNvPr id="72" name="Picture 71" descr="cascade-pi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000" y="10116000"/>
            <a:ext cx="1188000" cy="1188000"/>
          </a:xfrm>
          <a:prstGeom prst="rect">
            <a:avLst/>
          </a:prstGeom>
        </p:spPr>
      </p:pic>
      <p:sp>
        <p:nvSpPr>
          <p:cNvPr id="73" name="Oval 72"/>
          <p:cNvSpPr/>
          <p:nvPr/>
        </p:nvSpPr>
        <p:spPr>
          <a:xfrm>
            <a:off x="9147000" y="10044000"/>
            <a:ext cx="288000" cy="288000"/>
          </a:xfrm>
          <a:prstGeom prst="ellipse">
            <a:avLst/>
          </a:prstGeom>
          <a:solidFill>
            <a:srgbClr val="B78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147000" y="10044000"/>
            <a:ext cx="288000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700" b="1" i="0">
                <a:solidFill>
                  <a:srgbClr val="FFFFFF"/>
                </a:solidFill>
                <a:latin typeface="Manrope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22000" y="11412000"/>
            <a:ext cx="2202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150"/>
              </a:spcAft>
            </a:pPr>
            <a:r>
              <a:rPr sz="1250" b="1" i="0">
                <a:solidFill>
                  <a:srgbClr val="14213D"/>
                </a:solidFill>
                <a:latin typeface="Manrope"/>
              </a:rPr>
              <a:t>Aggregates pile up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22000" y="11682000"/>
            <a:ext cx="2202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150"/>
              </a:spcAft>
            </a:pPr>
            <a:r>
              <a:rPr sz="900" b="0" i="0">
                <a:solidFill>
                  <a:srgbClr val="4A5570"/>
                </a:solidFill>
                <a:latin typeface="Manrope"/>
              </a:rPr>
              <a:t>The proteasome cannot clear them; dense tangles form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852000" y="10368000"/>
            <a:ext cx="288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2200" b="1" i="0">
                <a:solidFill>
                  <a:srgbClr val="4A5570"/>
                </a:solidFill>
                <a:latin typeface="Manrope"/>
              </a:rPr>
              <a:t>›</a:t>
            </a:r>
          </a:p>
        </p:txBody>
      </p:sp>
      <p:pic>
        <p:nvPicPr>
          <p:cNvPr id="78" name="Picture 77" descr="cascade-ax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5000" y="10116000"/>
            <a:ext cx="1188000" cy="1188000"/>
          </a:xfrm>
          <a:prstGeom prst="rect">
            <a:avLst/>
          </a:prstGeom>
        </p:spPr>
      </p:pic>
      <p:sp>
        <p:nvSpPr>
          <p:cNvPr id="79" name="Oval 78"/>
          <p:cNvSpPr/>
          <p:nvPr/>
        </p:nvSpPr>
        <p:spPr>
          <a:xfrm>
            <a:off x="11493000" y="10044000"/>
            <a:ext cx="288000" cy="28800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493000" y="10044000"/>
            <a:ext cx="288000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700" b="1" i="0">
                <a:solidFill>
                  <a:srgbClr val="FFFFFF"/>
                </a:solidFill>
                <a:latin typeface="Manrope"/>
              </a:rPr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068000" y="11412000"/>
            <a:ext cx="2202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150"/>
              </a:spcAft>
            </a:pPr>
            <a:r>
              <a:rPr sz="1250" b="1" i="0">
                <a:solidFill>
                  <a:srgbClr val="14213D"/>
                </a:solidFill>
                <a:latin typeface="Manrope"/>
              </a:rPr>
              <a:t>Axon swells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068000" y="11682000"/>
            <a:ext cx="2202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150"/>
              </a:spcAft>
            </a:pPr>
            <a:r>
              <a:rPr sz="900" b="0" i="0">
                <a:solidFill>
                  <a:srgbClr val="4A5570"/>
                </a:solidFill>
                <a:latin typeface="Manrope"/>
              </a:rPr>
              <a:t>Focal "giant" swellings; myelin thins over them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198000" y="10368000"/>
            <a:ext cx="288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2200" b="1" i="0">
                <a:solidFill>
                  <a:srgbClr val="4A5570"/>
                </a:solidFill>
                <a:latin typeface="Manrope"/>
              </a:rPr>
              <a:t>›</a:t>
            </a:r>
          </a:p>
        </p:txBody>
      </p:sp>
      <p:pic>
        <p:nvPicPr>
          <p:cNvPr id="84" name="Picture 83" descr="cascade-sign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21000" y="10116000"/>
            <a:ext cx="1188000" cy="1188000"/>
          </a:xfrm>
          <a:prstGeom prst="rect">
            <a:avLst/>
          </a:prstGeom>
        </p:spPr>
      </p:pic>
      <p:sp>
        <p:nvSpPr>
          <p:cNvPr id="85" name="Oval 84"/>
          <p:cNvSpPr/>
          <p:nvPr/>
        </p:nvSpPr>
        <p:spPr>
          <a:xfrm>
            <a:off x="13839000" y="10044000"/>
            <a:ext cx="288000" cy="28800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3839000" y="10044000"/>
            <a:ext cx="288000" cy="28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700" b="1" i="0">
                <a:solidFill>
                  <a:srgbClr val="FFFFFF"/>
                </a:solidFill>
                <a:latin typeface="Manrope"/>
              </a:rPr>
              <a:t>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414000" y="11412000"/>
            <a:ext cx="2202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150"/>
              </a:spcAft>
            </a:pPr>
            <a:r>
              <a:rPr sz="1250" b="1" i="0">
                <a:solidFill>
                  <a:srgbClr val="14213D"/>
                </a:solidFill>
                <a:latin typeface="Manrope"/>
              </a:rPr>
              <a:t>Signal fails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414000" y="11682000"/>
            <a:ext cx="2202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Aft>
                <a:spcPts val="150"/>
              </a:spcAft>
            </a:pPr>
            <a:r>
              <a:rPr sz="900" b="0" i="0">
                <a:solidFill>
                  <a:srgbClr val="4A5570"/>
                </a:solidFill>
                <a:latin typeface="Manrope"/>
              </a:rPr>
              <a:t>Transport and conduction break down in nerves and brain</a:t>
            </a:r>
          </a:p>
        </p:txBody>
      </p:sp>
      <p:pic>
        <p:nvPicPr>
          <p:cNvPr id="89" name="Picture 88" descr="filamen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4000" y="12402000"/>
            <a:ext cx="4942326" cy="4968000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684000" y="17460000"/>
            <a:ext cx="4942326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50"/>
              </a:spcAft>
            </a:pPr>
            <a:r>
              <a:rPr sz="697" b="1" i="0">
                <a:solidFill>
                  <a:srgbClr val="14213D"/>
                </a:solidFill>
                <a:latin typeface="Manrope"/>
              </a:rPr>
              <a:t>STEP 4   </a:t>
            </a:r>
            <a:r>
              <a:rPr sz="850" b="0" i="0">
                <a:solidFill>
                  <a:srgbClr val="4A5570"/>
                </a:solidFill>
                <a:latin typeface="Manrope"/>
              </a:rPr>
              <a:t>Intermediate-filament aggregate in a patient cell — the hallmark of gigaxonin loss</a:t>
            </a:r>
          </a:p>
        </p:txBody>
      </p:sp>
      <p:pic>
        <p:nvPicPr>
          <p:cNvPr id="91" name="Picture 90" descr="neur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14326" y="12402000"/>
            <a:ext cx="4222800" cy="496800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5914326" y="17460000"/>
            <a:ext cx="44028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50"/>
              </a:spcAft>
            </a:pPr>
            <a:r>
              <a:rPr sz="697" b="1" i="0">
                <a:solidFill>
                  <a:srgbClr val="14213D"/>
                </a:solidFill>
                <a:latin typeface="Manrope"/>
              </a:rPr>
              <a:t>STEP 5   </a:t>
            </a:r>
            <a:r>
              <a:rPr sz="850" b="0" i="0">
                <a:solidFill>
                  <a:srgbClr val="4A5570"/>
                </a:solidFill>
                <a:latin typeface="Manrope"/>
              </a:rPr>
              <a:t>Normal vs GAN neuron: accumulation → swelling → myelin loss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425126" y="12402000"/>
            <a:ext cx="4190874" cy="153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605126" y="12582000"/>
            <a:ext cx="3830874" cy="5407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3700" b="0" i="0">
                <a:solidFill>
                  <a:srgbClr val="E4572E"/>
                </a:solidFill>
                <a:latin typeface="Fraunces"/>
              </a:rPr>
              <a:t>3–5×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605126" y="13176725"/>
            <a:ext cx="3830874" cy="7072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50"/>
              </a:spcAft>
            </a:pPr>
            <a:r>
              <a:rPr sz="850" b="0" i="0">
                <a:solidFill>
                  <a:srgbClr val="4A5570"/>
                </a:solidFill>
                <a:latin typeface="Manrope"/>
              </a:rPr>
              <a:t>diameter of a swollen "giant" axon compared with a healthy one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0425126" y="14118000"/>
            <a:ext cx="4190874" cy="153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605126" y="14298000"/>
            <a:ext cx="3830874" cy="3799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2600" b="0" i="0">
                <a:solidFill>
                  <a:srgbClr val="14213D"/>
                </a:solidFill>
                <a:latin typeface="Fraunces"/>
              </a:rPr>
              <a:t>PNS + CNS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605126" y="14731969"/>
            <a:ext cx="3830874" cy="868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50"/>
              </a:spcAft>
            </a:pPr>
            <a:r>
              <a:rPr sz="850" b="0" i="0">
                <a:solidFill>
                  <a:srgbClr val="4A5570"/>
                </a:solidFill>
                <a:latin typeface="Manrope"/>
              </a:rPr>
              <a:t>peripheral nerves first, then cerebellum, brainstem and white matter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0425126" y="15834000"/>
            <a:ext cx="4190874" cy="153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605126" y="16014000"/>
            <a:ext cx="3830874" cy="3799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2600" b="0" i="0">
                <a:solidFill>
                  <a:srgbClr val="B7801E"/>
                </a:solidFill>
                <a:latin typeface="Fraunces"/>
              </a:rPr>
              <a:t>Curly hair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605126" y="16447969"/>
            <a:ext cx="3830874" cy="868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50"/>
              </a:spcAft>
            </a:pPr>
            <a:r>
              <a:rPr sz="850" b="0" i="0">
                <a:solidFill>
                  <a:srgbClr val="4A5570"/>
                </a:solidFill>
                <a:latin typeface="Manrope"/>
              </a:rPr>
              <a:t>disordered keratin filaments — a visible clue at diagnosis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15000" y="18180000"/>
            <a:ext cx="54000" cy="4860000"/>
          </a:xfrm>
          <a:prstGeom prst="rect">
            <a:avLst/>
          </a:prstGeom>
          <a:solidFill>
            <a:srgbClr val="B78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08000" y="18576000"/>
            <a:ext cx="468000" cy="468000"/>
          </a:xfrm>
          <a:prstGeom prst="ellipse">
            <a:avLst/>
          </a:prstGeom>
          <a:solidFill>
            <a:srgbClr val="F6F3EC"/>
          </a:solidFill>
          <a:ln w="57150">
            <a:solidFill>
              <a:srgbClr val="B78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8000" y="18576000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1100" b="0" i="0">
                <a:solidFill>
                  <a:srgbClr val="14213D"/>
                </a:solidFill>
                <a:latin typeface="Fraunces"/>
              </a:rPr>
              <a:t>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84000" y="18529200"/>
            <a:ext cx="324000" cy="2520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16000" y="18468000"/>
            <a:ext cx="1296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900" b="1" i="0">
                <a:solidFill>
                  <a:srgbClr val="E4572E"/>
                </a:solidFill>
                <a:latin typeface="Manrope"/>
              </a:rPr>
              <a:t>SYMPTOMS AND CLINICAL COURSE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84000" y="18666000"/>
            <a:ext cx="13932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3100" b="0" i="0">
                <a:solidFill>
                  <a:srgbClr val="14213D"/>
                </a:solidFill>
                <a:latin typeface="Fraunces"/>
              </a:rPr>
              <a:t>A slow loss — from the feet upward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84000" y="19656000"/>
            <a:ext cx="3537000" cy="3240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4221000" y="19656000"/>
            <a:ext cx="3537000" cy="32400"/>
          </a:xfrm>
          <a:prstGeom prst="rect">
            <a:avLst/>
          </a:prstGeom>
          <a:solidFill>
            <a:srgbClr val="B78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7758000" y="19656000"/>
            <a:ext cx="3537000" cy="3240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295000" y="19656000"/>
            <a:ext cx="3321000" cy="32400"/>
          </a:xfrm>
          <a:prstGeom prst="rect">
            <a:avLst/>
          </a:prstGeom>
          <a:solidFill>
            <a:srgbClr val="4A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684000" y="19548000"/>
            <a:ext cx="252000" cy="252000"/>
          </a:xfrm>
          <a:prstGeom prst="ellipse">
            <a:avLst/>
          </a:prstGeom>
          <a:solidFill>
            <a:srgbClr val="F6F3EC"/>
          </a:solidFill>
          <a:ln w="44450">
            <a:solidFill>
              <a:srgbClr val="1A9C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3" name="Picture 112" descr="body-tea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4000" y="19908000"/>
            <a:ext cx="1188000" cy="2880000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2016000" y="19944000"/>
            <a:ext cx="1989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850" b="1" i="0">
                <a:solidFill>
                  <a:srgbClr val="1A9C8E"/>
                </a:solidFill>
                <a:latin typeface="Manrope"/>
              </a:rPr>
              <a:t>≈ 3 YEARS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016000" y="20142000"/>
            <a:ext cx="1989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550" b="1" i="0">
                <a:solidFill>
                  <a:srgbClr val="14213D"/>
                </a:solidFill>
                <a:latin typeface="Manrope"/>
              </a:rPr>
              <a:t>Clumsy walker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016000" y="20484000"/>
            <a:ext cx="1989000" cy="1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0000" indent="-180000">
              <a:lnSpc>
                <a:spcPct val="120000"/>
              </a:lnSpc>
              <a:spcAft>
                <a:spcPts val="250"/>
              </a:spcAft>
            </a:pPr>
            <a:r>
              <a:rPr sz="690">
                <a:solidFill>
                  <a:srgbClr val="1A9C8E"/>
                </a:solidFill>
                <a:latin typeface="Manrope"/>
              </a:rPr>
              <a:t>● </a:t>
            </a:r>
            <a:r>
              <a:rPr sz="1150" b="0" i="0">
                <a:solidFill>
                  <a:srgbClr val="4A5570"/>
                </a:solidFill>
                <a:latin typeface="Manrope"/>
              </a:rPr>
              <a:t>Unsteady gait, falls</a:t>
            </a:r>
          </a:p>
          <a:p>
            <a:pPr marL="180000" indent="-180000">
              <a:lnSpc>
                <a:spcPct val="120000"/>
              </a:lnSpc>
              <a:spcAft>
                <a:spcPts val="250"/>
              </a:spcAft>
            </a:pPr>
            <a:r>
              <a:rPr sz="690">
                <a:solidFill>
                  <a:srgbClr val="1A9C8E"/>
                </a:solidFill>
                <a:latin typeface="Manrope"/>
              </a:rPr>
              <a:t>● </a:t>
            </a:r>
            <a:r>
              <a:rPr sz="1150" b="0" i="0">
                <a:solidFill>
                  <a:srgbClr val="4A5570"/>
                </a:solidFill>
                <a:latin typeface="Manrope"/>
              </a:rPr>
              <a:t>Weak feet, high arches</a:t>
            </a:r>
          </a:p>
          <a:p>
            <a:pPr marL="180000" indent="-180000">
              <a:lnSpc>
                <a:spcPct val="120000"/>
              </a:lnSpc>
              <a:spcAft>
                <a:spcPts val="250"/>
              </a:spcAft>
            </a:pPr>
            <a:r>
              <a:rPr sz="690">
                <a:solidFill>
                  <a:srgbClr val="1A9C8E"/>
                </a:solidFill>
                <a:latin typeface="Manrope"/>
              </a:rPr>
              <a:t>● </a:t>
            </a:r>
            <a:r>
              <a:rPr sz="1150" b="0" i="0">
                <a:solidFill>
                  <a:srgbClr val="4A5570"/>
                </a:solidFill>
                <a:latin typeface="Manrope"/>
              </a:rPr>
              <a:t>Tightly curled hair</a:t>
            </a:r>
          </a:p>
        </p:txBody>
      </p:sp>
      <p:sp>
        <p:nvSpPr>
          <p:cNvPr id="117" name="Oval 116"/>
          <p:cNvSpPr/>
          <p:nvPr/>
        </p:nvSpPr>
        <p:spPr>
          <a:xfrm>
            <a:off x="4221000" y="19548000"/>
            <a:ext cx="252000" cy="252000"/>
          </a:xfrm>
          <a:prstGeom prst="ellipse">
            <a:avLst/>
          </a:prstGeom>
          <a:solidFill>
            <a:srgbClr val="F6F3EC"/>
          </a:solidFill>
          <a:ln w="44450">
            <a:solidFill>
              <a:srgbClr val="B78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8" name="Picture 117" descr="body-gol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21000" y="19908000"/>
            <a:ext cx="1188000" cy="2880000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5553000" y="19944000"/>
            <a:ext cx="1989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850" b="1" i="0">
                <a:solidFill>
                  <a:srgbClr val="B7801E"/>
                </a:solidFill>
                <a:latin typeface="Manrope"/>
              </a:rPr>
              <a:t>5–10 YEARS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553000" y="20142000"/>
            <a:ext cx="1989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550" b="1" i="0">
                <a:solidFill>
                  <a:srgbClr val="14213D"/>
                </a:solidFill>
                <a:latin typeface="Manrope"/>
              </a:rPr>
              <a:t>Peripheral nerves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553000" y="20484000"/>
            <a:ext cx="1989000" cy="1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0000" indent="-180000">
              <a:lnSpc>
                <a:spcPct val="120000"/>
              </a:lnSpc>
              <a:spcAft>
                <a:spcPts val="250"/>
              </a:spcAft>
            </a:pPr>
            <a:r>
              <a:rPr sz="690">
                <a:solidFill>
                  <a:srgbClr val="B7801E"/>
                </a:solidFill>
                <a:latin typeface="Manrope"/>
              </a:rPr>
              <a:t>● </a:t>
            </a:r>
            <a:r>
              <a:rPr sz="1150" b="0" i="0">
                <a:solidFill>
                  <a:srgbClr val="4A5570"/>
                </a:solidFill>
                <a:latin typeface="Manrope"/>
              </a:rPr>
              <a:t>Lost reflexes and sensation</a:t>
            </a:r>
          </a:p>
          <a:p>
            <a:pPr marL="180000" indent="-180000">
              <a:lnSpc>
                <a:spcPct val="120000"/>
              </a:lnSpc>
              <a:spcAft>
                <a:spcPts val="250"/>
              </a:spcAft>
            </a:pPr>
            <a:r>
              <a:rPr sz="690">
                <a:solidFill>
                  <a:srgbClr val="B7801E"/>
                </a:solidFill>
                <a:latin typeface="Manrope"/>
              </a:rPr>
              <a:t>● </a:t>
            </a:r>
            <a:r>
              <a:rPr sz="1150" b="0" i="0">
                <a:solidFill>
                  <a:srgbClr val="4A5570"/>
                </a:solidFill>
                <a:latin typeface="Manrope"/>
              </a:rPr>
              <a:t>Muscle wasting</a:t>
            </a:r>
          </a:p>
          <a:p>
            <a:pPr marL="180000" indent="-180000">
              <a:lnSpc>
                <a:spcPct val="120000"/>
              </a:lnSpc>
              <a:spcAft>
                <a:spcPts val="250"/>
              </a:spcAft>
            </a:pPr>
            <a:r>
              <a:rPr sz="690">
                <a:solidFill>
                  <a:srgbClr val="B7801E"/>
                </a:solidFill>
                <a:latin typeface="Manrope"/>
              </a:rPr>
              <a:t>● </a:t>
            </a:r>
            <a:r>
              <a:rPr sz="1150" b="0" i="0">
                <a:solidFill>
                  <a:srgbClr val="4A5570"/>
                </a:solidFill>
                <a:latin typeface="Manrope"/>
              </a:rPr>
              <a:t>Biopsy: giant axons</a:t>
            </a:r>
          </a:p>
        </p:txBody>
      </p:sp>
      <p:sp>
        <p:nvSpPr>
          <p:cNvPr id="122" name="Oval 121"/>
          <p:cNvSpPr/>
          <p:nvPr/>
        </p:nvSpPr>
        <p:spPr>
          <a:xfrm>
            <a:off x="7758000" y="19548000"/>
            <a:ext cx="252000" cy="252000"/>
          </a:xfrm>
          <a:prstGeom prst="ellipse">
            <a:avLst/>
          </a:prstGeom>
          <a:solidFill>
            <a:srgbClr val="F6F3EC"/>
          </a:solidFill>
          <a:ln w="4445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3" name="Picture 122" descr="body-coral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58000" y="19908000"/>
            <a:ext cx="1188000" cy="2880000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9090000" y="19944000"/>
            <a:ext cx="1989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850" b="1" i="0">
                <a:solidFill>
                  <a:srgbClr val="E4572E"/>
                </a:solidFill>
                <a:latin typeface="Manrope"/>
              </a:rPr>
              <a:t>ADOLESCENCE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090000" y="20142000"/>
            <a:ext cx="1989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550" b="1" i="0">
                <a:solidFill>
                  <a:srgbClr val="14213D"/>
                </a:solidFill>
                <a:latin typeface="Manrope"/>
              </a:rPr>
              <a:t>Brain involved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090000" y="20484000"/>
            <a:ext cx="1989000" cy="1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0000" indent="-180000">
              <a:lnSpc>
                <a:spcPct val="120000"/>
              </a:lnSpc>
              <a:spcAft>
                <a:spcPts val="250"/>
              </a:spcAft>
            </a:pPr>
            <a:r>
              <a:rPr sz="690">
                <a:solidFill>
                  <a:srgbClr val="E4572E"/>
                </a:solidFill>
                <a:latin typeface="Manrope"/>
              </a:rPr>
              <a:t>● </a:t>
            </a:r>
            <a:r>
              <a:rPr sz="1150" b="0" i="0">
                <a:solidFill>
                  <a:srgbClr val="4A5570"/>
                </a:solidFill>
                <a:latin typeface="Manrope"/>
              </a:rPr>
              <a:t>Wheelchair, ataxia</a:t>
            </a:r>
          </a:p>
          <a:p>
            <a:pPr marL="180000" indent="-180000">
              <a:lnSpc>
                <a:spcPct val="120000"/>
              </a:lnSpc>
              <a:spcAft>
                <a:spcPts val="250"/>
              </a:spcAft>
            </a:pPr>
            <a:r>
              <a:rPr sz="690">
                <a:solidFill>
                  <a:srgbClr val="E4572E"/>
                </a:solidFill>
                <a:latin typeface="Manrope"/>
              </a:rPr>
              <a:t>● </a:t>
            </a:r>
            <a:r>
              <a:rPr sz="1150" b="0" i="0">
                <a:solidFill>
                  <a:srgbClr val="4A5570"/>
                </a:solidFill>
                <a:latin typeface="Manrope"/>
              </a:rPr>
              <a:t>Slurred speech, nystagmus</a:t>
            </a:r>
          </a:p>
          <a:p>
            <a:pPr marL="180000" indent="-180000">
              <a:lnSpc>
                <a:spcPct val="120000"/>
              </a:lnSpc>
              <a:spcAft>
                <a:spcPts val="250"/>
              </a:spcAft>
            </a:pPr>
            <a:r>
              <a:rPr sz="690">
                <a:solidFill>
                  <a:srgbClr val="E4572E"/>
                </a:solidFill>
                <a:latin typeface="Manrope"/>
              </a:rPr>
              <a:t>● </a:t>
            </a:r>
            <a:r>
              <a:rPr sz="1150" b="0" i="0">
                <a:solidFill>
                  <a:srgbClr val="4A5570"/>
                </a:solidFill>
                <a:latin typeface="Manrope"/>
              </a:rPr>
              <a:t>Scoliosis, seizures</a:t>
            </a:r>
          </a:p>
        </p:txBody>
      </p:sp>
      <p:sp>
        <p:nvSpPr>
          <p:cNvPr id="127" name="Oval 126"/>
          <p:cNvSpPr/>
          <p:nvPr/>
        </p:nvSpPr>
        <p:spPr>
          <a:xfrm>
            <a:off x="11295000" y="19548000"/>
            <a:ext cx="252000" cy="252000"/>
          </a:xfrm>
          <a:prstGeom prst="ellipse">
            <a:avLst/>
          </a:prstGeom>
          <a:solidFill>
            <a:srgbClr val="F6F3EC"/>
          </a:solidFill>
          <a:ln w="44450">
            <a:solidFill>
              <a:srgbClr val="4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8" name="Picture 127" descr="body-ink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95000" y="19908000"/>
            <a:ext cx="1188000" cy="2880000"/>
          </a:xfrm>
          <a:prstGeom prst="rect">
            <a:avLst/>
          </a:prstGeom>
        </p:spPr>
      </p:pic>
      <p:sp>
        <p:nvSpPr>
          <p:cNvPr id="129" name="TextBox 128"/>
          <p:cNvSpPr txBox="1"/>
          <p:nvPr/>
        </p:nvSpPr>
        <p:spPr>
          <a:xfrm>
            <a:off x="12627000" y="19944000"/>
            <a:ext cx="1989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850" b="1" i="0">
                <a:solidFill>
                  <a:srgbClr val="4A5570"/>
                </a:solidFill>
                <a:latin typeface="Manrope"/>
              </a:rPr>
              <a:t>20S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2627000" y="20142000"/>
            <a:ext cx="1989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550" b="1" i="0">
                <a:solidFill>
                  <a:srgbClr val="14213D"/>
                </a:solidFill>
                <a:latin typeface="Manrope"/>
              </a:rPr>
              <a:t>Late stage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2627000" y="20484000"/>
            <a:ext cx="1989000" cy="1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0000" indent="-180000">
              <a:lnSpc>
                <a:spcPct val="120000"/>
              </a:lnSpc>
              <a:spcAft>
                <a:spcPts val="250"/>
              </a:spcAft>
            </a:pPr>
            <a:r>
              <a:rPr sz="690">
                <a:solidFill>
                  <a:srgbClr val="4A5570"/>
                </a:solidFill>
                <a:latin typeface="Manrope"/>
              </a:rPr>
              <a:t>● </a:t>
            </a:r>
            <a:r>
              <a:rPr sz="1150" b="0" i="0">
                <a:solidFill>
                  <a:srgbClr val="4A5570"/>
                </a:solidFill>
                <a:latin typeface="Manrope"/>
              </a:rPr>
              <a:t>Swallowing, breathing fail</a:t>
            </a:r>
          </a:p>
          <a:p>
            <a:pPr marL="180000" indent="-180000">
              <a:lnSpc>
                <a:spcPct val="120000"/>
              </a:lnSpc>
              <a:spcAft>
                <a:spcPts val="250"/>
              </a:spcAft>
            </a:pPr>
            <a:r>
              <a:rPr sz="690">
                <a:solidFill>
                  <a:srgbClr val="4A5570"/>
                </a:solidFill>
                <a:latin typeface="Manrope"/>
              </a:rPr>
              <a:t>● </a:t>
            </a:r>
            <a:r>
              <a:rPr sz="1150" b="0" i="0">
                <a:solidFill>
                  <a:srgbClr val="4A5570"/>
                </a:solidFill>
                <a:latin typeface="Manrope"/>
              </a:rPr>
              <a:t>Respiratory failure</a:t>
            </a:r>
          </a:p>
          <a:p>
            <a:pPr marL="180000" indent="-180000">
              <a:lnSpc>
                <a:spcPct val="120000"/>
              </a:lnSpc>
              <a:spcAft>
                <a:spcPts val="250"/>
              </a:spcAft>
            </a:pPr>
            <a:r>
              <a:rPr sz="690">
                <a:solidFill>
                  <a:srgbClr val="4A5570"/>
                </a:solidFill>
                <a:latin typeface="Manrope"/>
              </a:rPr>
              <a:t>● </a:t>
            </a:r>
            <a:r>
              <a:rPr sz="1150" b="1" i="0">
                <a:solidFill>
                  <a:srgbClr val="14213D"/>
                </a:solidFill>
                <a:latin typeface="Manrope"/>
              </a:rPr>
              <a:t>No treatment until 2015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0" y="23040000"/>
            <a:ext cx="15300000" cy="396000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3140000" y="24120000"/>
            <a:ext cx="2700000" cy="2700000"/>
          </a:xfrm>
          <a:prstGeom prst="ellipse">
            <a:avLst/>
          </a:prstGeom>
          <a:solidFill>
            <a:srgbClr val="1E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315000" y="23040000"/>
            <a:ext cx="54000" cy="396000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08000" y="23436000"/>
            <a:ext cx="468000" cy="468000"/>
          </a:xfrm>
          <a:prstGeom prst="ellipse">
            <a:avLst/>
          </a:prstGeom>
          <a:solidFill>
            <a:srgbClr val="0F1B33"/>
          </a:solidFill>
          <a:ln w="57150">
            <a:solidFill>
              <a:srgbClr val="E9B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08000" y="23436000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1100" b="0" i="0">
                <a:solidFill>
                  <a:srgbClr val="F6F3EC"/>
                </a:solidFill>
                <a:latin typeface="Fraunces"/>
              </a:rPr>
              <a:t>4</a:t>
            </a:r>
          </a:p>
        </p:txBody>
      </p:sp>
      <p:pic>
        <p:nvPicPr>
          <p:cNvPr id="137" name="Picture 136" descr="hannah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4000" y="23328000"/>
            <a:ext cx="5328000" cy="3369787"/>
          </a:xfrm>
          <a:prstGeom prst="rect">
            <a:avLst/>
          </a:prstGeom>
        </p:spPr>
      </p:pic>
      <p:sp>
        <p:nvSpPr>
          <p:cNvPr id="138" name="Rounded Rectangle 137"/>
          <p:cNvSpPr/>
          <p:nvPr/>
        </p:nvSpPr>
        <p:spPr>
          <a:xfrm>
            <a:off x="828000" y="26157787"/>
            <a:ext cx="2700000" cy="396000"/>
          </a:xfrm>
          <a:prstGeom prst="roundRect">
            <a:avLst>
              <a:gd name="adj" fmla="val 15000"/>
            </a:avLst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36000" y="26211787"/>
            <a:ext cx="252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"/>
              </a:spcAft>
            </a:pPr>
            <a:r>
              <a:rPr sz="680" b="1" i="0">
                <a:solidFill>
                  <a:srgbClr val="7FE0D4"/>
                </a:solidFill>
                <a:latin typeface="Manrope"/>
              </a:rPr>
              <a:t>HANNAH SAMES</a:t>
            </a:r>
          </a:p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765" b="0" i="0">
                <a:solidFill>
                  <a:srgbClr val="F6F3EC"/>
                </a:solidFill>
                <a:latin typeface="Manrope"/>
              </a:rPr>
              <a:t>Rexford, New York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408000" y="23749200"/>
            <a:ext cx="324000" cy="2520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840000" y="23688000"/>
            <a:ext cx="90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900" b="1" i="0">
                <a:solidFill>
                  <a:srgbClr val="E9B44C"/>
                </a:solidFill>
                <a:latin typeface="Manrope"/>
              </a:rPr>
              <a:t>THE CASE THAT CHANGED THE FIELD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408000" y="23904000"/>
            <a:ext cx="8208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3100" b="0" i="0">
                <a:solidFill>
                  <a:srgbClr val="F6F3EC"/>
                </a:solidFill>
                <a:latin typeface="Fraunces"/>
              </a:rPr>
              <a:t>"We decided to </a:t>
            </a:r>
            <a:r>
              <a:rPr sz="3100" b="0" i="1">
                <a:solidFill>
                  <a:srgbClr val="F6F3EC"/>
                </a:solidFill>
                <a:latin typeface="Fraunces"/>
              </a:rPr>
              <a:t>fight</a:t>
            </a:r>
            <a:r>
              <a:rPr sz="3100" b="0" i="0">
                <a:solidFill>
                  <a:srgbClr val="F6F3EC"/>
                </a:solidFill>
                <a:latin typeface="Fraunces"/>
              </a:rPr>
              <a:t>."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408000" y="24696000"/>
            <a:ext cx="2616000" cy="3960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408000" y="24840000"/>
            <a:ext cx="2616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2400" b="0" i="0">
                <a:solidFill>
                  <a:srgbClr val="E9B44C"/>
                </a:solidFill>
                <a:latin typeface="Fraunces"/>
              </a:rPr>
              <a:t>2008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408000" y="25236000"/>
            <a:ext cx="261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1200" b="1" i="0">
                <a:solidFill>
                  <a:srgbClr val="F6F3EC"/>
                </a:solidFill>
                <a:latin typeface="Manrope"/>
              </a:rPr>
              <a:t>Diagnosed at 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408000" y="25488000"/>
            <a:ext cx="261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50"/>
              </a:spcAft>
            </a:pPr>
            <a:r>
              <a:rPr sz="900" b="0" i="0">
                <a:solidFill>
                  <a:srgbClr val="B8BCC8"/>
                </a:solidFill>
                <a:latin typeface="Manrope"/>
              </a:rPr>
              <a:t>Two deletions — Hannah makes no gigaxonin at all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204000" y="24696000"/>
            <a:ext cx="2616000" cy="39600"/>
          </a:xfrm>
          <a:prstGeom prst="rect">
            <a:avLst/>
          </a:prstGeom>
          <a:solidFill>
            <a:srgbClr val="7FE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204000" y="24840000"/>
            <a:ext cx="2616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2400" b="0" i="0">
                <a:solidFill>
                  <a:srgbClr val="7FE0D4"/>
                </a:solidFill>
                <a:latin typeface="Fraunces"/>
              </a:rPr>
              <a:t>2008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204000" y="25236000"/>
            <a:ext cx="261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1200" b="1" i="0">
                <a:solidFill>
                  <a:srgbClr val="F6F3EC"/>
                </a:solidFill>
                <a:latin typeface="Manrope"/>
              </a:rPr>
              <a:t>Hannah's Hope Fund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204000" y="25488000"/>
            <a:ext cx="261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50"/>
              </a:spcAft>
            </a:pPr>
            <a:r>
              <a:rPr sz="900" b="0" i="0">
                <a:solidFill>
                  <a:srgbClr val="B8BCC8"/>
                </a:solidFill>
                <a:latin typeface="Manrope"/>
              </a:rPr>
              <a:t>Founded by her parents; first GAN symposium the same year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2000000" y="24696000"/>
            <a:ext cx="2616000" cy="3960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2000000" y="24840000"/>
            <a:ext cx="2616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2400" b="0" i="0">
                <a:solidFill>
                  <a:srgbClr val="E4572E"/>
                </a:solidFill>
                <a:latin typeface="Fraunces"/>
              </a:rPr>
              <a:t>$8 M+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2000000" y="25236000"/>
            <a:ext cx="261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1200" b="1" i="0">
                <a:solidFill>
                  <a:srgbClr val="F6F3EC"/>
                </a:solidFill>
                <a:latin typeface="Manrope"/>
              </a:rPr>
              <a:t>Raised for a cure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2000000" y="25488000"/>
            <a:ext cx="261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50"/>
              </a:spcAft>
            </a:pPr>
            <a:r>
              <a:rPr sz="900" b="0" i="0">
                <a:solidFill>
                  <a:srgbClr val="B8BCC8"/>
                </a:solidFill>
                <a:latin typeface="Manrope"/>
              </a:rPr>
              <a:t>Funds Steven Gray (UNC) to build the gene-therapy vector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15000" y="27000000"/>
            <a:ext cx="54000" cy="486000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08000" y="27396000"/>
            <a:ext cx="468000" cy="468000"/>
          </a:xfrm>
          <a:prstGeom prst="ellipse">
            <a:avLst/>
          </a:prstGeom>
          <a:solidFill>
            <a:srgbClr val="F6F3EC"/>
          </a:solidFill>
          <a:ln w="57150">
            <a:solidFill>
              <a:srgbClr val="1A9C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08000" y="27396000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1100" b="0" i="0">
                <a:solidFill>
                  <a:srgbClr val="14213D"/>
                </a:solidFill>
                <a:latin typeface="Fraunces"/>
              </a:rPr>
              <a:t>5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84000" y="27349200"/>
            <a:ext cx="324000" cy="2520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116000" y="27288000"/>
            <a:ext cx="1296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900" b="1" i="0">
                <a:solidFill>
                  <a:srgbClr val="1A9C8E"/>
                </a:solidFill>
                <a:latin typeface="Manrope"/>
              </a:rPr>
              <a:t>THE GENETIC TREATMENT · SCAAV9/JET-GAN · NIH CLINICAL CENTER · NCT02362438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84000" y="27486000"/>
            <a:ext cx="13932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3100" b="0" i="0">
                <a:solidFill>
                  <a:srgbClr val="14213D"/>
                </a:solidFill>
                <a:latin typeface="Fraunces"/>
              </a:rPr>
              <a:t>A working gene, delivered into the spinal fluid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684000" y="28224000"/>
            <a:ext cx="3321000" cy="165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2" name="Picture 161" descr="therapy-capsi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0000" y="28494000"/>
            <a:ext cx="1116000" cy="1116000"/>
          </a:xfrm>
          <a:prstGeom prst="rect">
            <a:avLst/>
          </a:prstGeom>
        </p:spPr>
      </p:pic>
      <p:sp>
        <p:nvSpPr>
          <p:cNvPr id="163" name="Oval 162"/>
          <p:cNvSpPr/>
          <p:nvPr/>
        </p:nvSpPr>
        <p:spPr>
          <a:xfrm>
            <a:off x="864000" y="28098000"/>
            <a:ext cx="324000" cy="324000"/>
          </a:xfrm>
          <a:prstGeom prst="ellipse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864000" y="28098000"/>
            <a:ext cx="324000" cy="3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750" b="1" i="0">
                <a:solidFill>
                  <a:srgbClr val="FFFFFF"/>
                </a:solidFill>
                <a:latin typeface="Manrope"/>
              </a:rPr>
              <a:t>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160000" y="28512000"/>
            <a:ext cx="1629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300" b="1" i="0">
                <a:solidFill>
                  <a:srgbClr val="14213D"/>
                </a:solidFill>
                <a:latin typeface="Manrope"/>
              </a:rPr>
              <a:t>Build the vector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160000" y="29016000"/>
            <a:ext cx="1629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50"/>
              </a:spcAft>
            </a:pPr>
            <a:r>
              <a:rPr sz="950" b="0" i="0">
                <a:solidFill>
                  <a:srgbClr val="4A5570"/>
                </a:solidFill>
                <a:latin typeface="Manrope"/>
              </a:rPr>
              <a:t>scAAV9 shell: enters neurons, spreads through cord and brain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951000" y="28908000"/>
            <a:ext cx="32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1400" b="1" i="0">
                <a:solidFill>
                  <a:srgbClr val="1A9C8E"/>
                </a:solidFill>
                <a:latin typeface="Manrope"/>
              </a:rPr>
              <a:t>→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4221000" y="28224000"/>
            <a:ext cx="3321000" cy="165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9" name="Picture 168" descr="therapy-cargo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37000" y="28494000"/>
            <a:ext cx="1116000" cy="1116000"/>
          </a:xfrm>
          <a:prstGeom prst="rect">
            <a:avLst/>
          </a:prstGeom>
        </p:spPr>
      </p:pic>
      <p:sp>
        <p:nvSpPr>
          <p:cNvPr id="170" name="Oval 169"/>
          <p:cNvSpPr/>
          <p:nvPr/>
        </p:nvSpPr>
        <p:spPr>
          <a:xfrm>
            <a:off x="4401000" y="28098000"/>
            <a:ext cx="324000" cy="324000"/>
          </a:xfrm>
          <a:prstGeom prst="ellipse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4401000" y="28098000"/>
            <a:ext cx="324000" cy="3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750" b="1" i="0">
                <a:solidFill>
                  <a:srgbClr val="FFFFFF"/>
                </a:solidFill>
                <a:latin typeface="Manrope"/>
              </a:rPr>
              <a:t>2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5697000" y="28512000"/>
            <a:ext cx="1629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300" b="1" i="0">
                <a:solidFill>
                  <a:srgbClr val="14213D"/>
                </a:solidFill>
                <a:latin typeface="Manrope"/>
              </a:rPr>
              <a:t>Load the gene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697000" y="29016000"/>
            <a:ext cx="1629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50"/>
              </a:spcAft>
            </a:pPr>
            <a:r>
              <a:rPr sz="950" b="0" i="0">
                <a:solidFill>
                  <a:srgbClr val="4A5570"/>
                </a:solidFill>
                <a:latin typeface="Manrope"/>
              </a:rPr>
              <a:t>Healthy human </a:t>
            </a:r>
            <a:r>
              <a:rPr sz="950" b="0" i="1">
                <a:solidFill>
                  <a:srgbClr val="4A5570"/>
                </a:solidFill>
                <a:latin typeface="Fraunces"/>
              </a:rPr>
              <a:t>GAN</a:t>
            </a:r>
            <a:r>
              <a:rPr sz="950" b="0" i="0">
                <a:solidFill>
                  <a:srgbClr val="4A5570"/>
                </a:solidFill>
                <a:latin typeface="Manrope"/>
              </a:rPr>
              <a:t> gene with a tiny JeT promoter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488000" y="28908000"/>
            <a:ext cx="32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1400" b="1" i="0">
                <a:solidFill>
                  <a:srgbClr val="1A9C8E"/>
                </a:solidFill>
                <a:latin typeface="Manrope"/>
              </a:rPr>
              <a:t>→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7758000" y="28224000"/>
            <a:ext cx="3321000" cy="165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6" name="Picture 175" descr="therapy-inject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74000" y="28494000"/>
            <a:ext cx="1116000" cy="1116000"/>
          </a:xfrm>
          <a:prstGeom prst="rect">
            <a:avLst/>
          </a:prstGeom>
        </p:spPr>
      </p:pic>
      <p:sp>
        <p:nvSpPr>
          <p:cNvPr id="177" name="Oval 176"/>
          <p:cNvSpPr/>
          <p:nvPr/>
        </p:nvSpPr>
        <p:spPr>
          <a:xfrm>
            <a:off x="7938000" y="28098000"/>
            <a:ext cx="324000" cy="324000"/>
          </a:xfrm>
          <a:prstGeom prst="ellipse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7938000" y="28098000"/>
            <a:ext cx="324000" cy="3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750" b="1" i="0">
                <a:solidFill>
                  <a:srgbClr val="FFFFFF"/>
                </a:solidFill>
                <a:latin typeface="Manrope"/>
              </a:rPr>
              <a:t>3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9234000" y="28512000"/>
            <a:ext cx="1629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300" b="1" i="0">
                <a:solidFill>
                  <a:srgbClr val="14213D"/>
                </a:solidFill>
                <a:latin typeface="Manrope"/>
              </a:rPr>
              <a:t>One lumbar injection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9234000" y="29016000"/>
            <a:ext cx="1629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50"/>
              </a:spcAft>
            </a:pPr>
            <a:r>
              <a:rPr sz="950" b="0" i="0">
                <a:solidFill>
                  <a:srgbClr val="4A5570"/>
                </a:solidFill>
                <a:latin typeface="Manrope"/>
              </a:rPr>
              <a:t>Into the CSF — bypassing the blood–brain barrier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1025000" y="28908000"/>
            <a:ext cx="32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1400" b="1" i="0">
                <a:solidFill>
                  <a:srgbClr val="1A9C8E"/>
                </a:solidFill>
                <a:latin typeface="Manrope"/>
              </a:rPr>
              <a:t>→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11295000" y="28224000"/>
            <a:ext cx="3321000" cy="165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3" name="Picture 182" descr="therapy-neuron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511000" y="28494000"/>
            <a:ext cx="1116000" cy="1116000"/>
          </a:xfrm>
          <a:prstGeom prst="rect">
            <a:avLst/>
          </a:prstGeom>
        </p:spPr>
      </p:pic>
      <p:sp>
        <p:nvSpPr>
          <p:cNvPr id="184" name="Oval 183"/>
          <p:cNvSpPr/>
          <p:nvPr/>
        </p:nvSpPr>
        <p:spPr>
          <a:xfrm>
            <a:off x="11475000" y="28098000"/>
            <a:ext cx="324000" cy="324000"/>
          </a:xfrm>
          <a:prstGeom prst="ellipse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1475000" y="28098000"/>
            <a:ext cx="324000" cy="3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750" b="1" i="0">
                <a:solidFill>
                  <a:srgbClr val="FFFFFF"/>
                </a:solidFill>
                <a:latin typeface="Manrope"/>
              </a:rPr>
              <a:t>4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2771000" y="28512000"/>
            <a:ext cx="1629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300" b="1" i="0">
                <a:solidFill>
                  <a:srgbClr val="14213D"/>
                </a:solidFill>
                <a:latin typeface="Manrope"/>
              </a:rPr>
              <a:t>Gigaxonin restored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2771000" y="29016000"/>
            <a:ext cx="1629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50"/>
              </a:spcAft>
            </a:pPr>
            <a:r>
              <a:rPr sz="950" b="0" i="0">
                <a:solidFill>
                  <a:srgbClr val="4A5570"/>
                </a:solidFill>
                <a:latin typeface="Manrope"/>
              </a:rPr>
              <a:t>Neurons clear aggregates; sensory nerves regenerate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684000" y="30168000"/>
            <a:ext cx="4500000" cy="129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900000" y="30384000"/>
            <a:ext cx="4068000" cy="4091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2800" b="0" i="0">
                <a:solidFill>
                  <a:srgbClr val="1A9C8E"/>
                </a:solidFill>
                <a:latin typeface="Fraunces"/>
              </a:rPr>
              <a:t>May 2015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900000" y="30847198"/>
            <a:ext cx="4068000" cy="5628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50"/>
              </a:spcAft>
            </a:pPr>
            <a:r>
              <a:rPr sz="950" b="0" i="0">
                <a:solidFill>
                  <a:srgbClr val="4A5570"/>
                </a:solidFill>
                <a:latin typeface="Manrope"/>
              </a:rPr>
              <a:t>first person ever to receive a therapeutic gene through the spinal fluid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5400000" y="30168000"/>
            <a:ext cx="4500000" cy="129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5616000" y="30384000"/>
            <a:ext cx="4068000" cy="4091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2800" b="0" i="0">
                <a:solidFill>
                  <a:srgbClr val="B7801E"/>
                </a:solidFill>
                <a:latin typeface="Fraunces"/>
              </a:rPr>
              <a:t>21 July 2016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5616000" y="30847198"/>
            <a:ext cx="4068000" cy="5628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50"/>
              </a:spcAft>
            </a:pPr>
            <a:r>
              <a:rPr sz="950" b="0" i="0">
                <a:solidFill>
                  <a:srgbClr val="4A5570"/>
                </a:solidFill>
                <a:latin typeface="Manrope"/>
              </a:rPr>
              <a:t>Hannah, aged 12, becomes the 5th child treated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10116000" y="30168000"/>
            <a:ext cx="4500000" cy="129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10332000" y="30384000"/>
            <a:ext cx="4068000" cy="4091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2800" b="0" i="0">
                <a:solidFill>
                  <a:srgbClr val="E4572E"/>
                </a:solidFill>
                <a:latin typeface="Fraunces"/>
              </a:rPr>
              <a:t>1 dose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0332000" y="30847198"/>
            <a:ext cx="4068000" cy="5628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50"/>
              </a:spcAft>
            </a:pPr>
            <a:r>
              <a:rPr sz="950" b="0" i="0">
                <a:solidFill>
                  <a:srgbClr val="4A5570"/>
                </a:solidFill>
                <a:latin typeface="Manrope"/>
              </a:rPr>
              <a:t>up to 3.5 × 10¹⁴ vector genomes, given once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0" y="31860000"/>
            <a:ext cx="15300000" cy="414000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-2520000" y="32040000"/>
            <a:ext cx="3960000" cy="3960000"/>
          </a:xfrm>
          <a:prstGeom prst="ellipse">
            <a:avLst/>
          </a:prstGeom>
          <a:solidFill>
            <a:srgbClr val="123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315000" y="31860000"/>
            <a:ext cx="54000" cy="306000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08000" y="32256000"/>
            <a:ext cx="468000" cy="468000"/>
          </a:xfrm>
          <a:prstGeom prst="ellipse">
            <a:avLst/>
          </a:prstGeom>
          <a:solidFill>
            <a:srgbClr val="0F1B33"/>
          </a:solidFill>
          <a:ln w="5715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108000" y="32256000"/>
            <a:ext cx="468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50"/>
              </a:spcAft>
            </a:pPr>
            <a:r>
              <a:rPr sz="1100" b="0" i="0">
                <a:solidFill>
                  <a:srgbClr val="F6F3EC"/>
                </a:solidFill>
                <a:latin typeface="Fraunces"/>
              </a:rPr>
              <a:t>6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684000" y="32281200"/>
            <a:ext cx="324000" cy="2520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1116000" y="32220000"/>
            <a:ext cx="108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50"/>
              </a:spcAft>
            </a:pPr>
            <a:r>
              <a:rPr sz="900" b="1" i="0">
                <a:solidFill>
                  <a:srgbClr val="1A9C8E"/>
                </a:solidFill>
                <a:latin typeface="Manrope"/>
              </a:rPr>
              <a:t>WHAT THE TRIAL SHOWED — NEJM, MARCH 2024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84000" y="32418000"/>
            <a:ext cx="9072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2500" b="0" i="0">
                <a:solidFill>
                  <a:srgbClr val="F6F3EC"/>
                </a:solidFill>
                <a:latin typeface="Fraunces"/>
              </a:rPr>
              <a:t>Bending the curve of an "untreatable" disease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684000" y="33012000"/>
            <a:ext cx="2106000" cy="1368000"/>
          </a:xfrm>
          <a:prstGeom prst="roundRect">
            <a:avLst>
              <a:gd name="adj" fmla="val 5000"/>
            </a:avLst>
          </a:prstGeom>
          <a:solidFill>
            <a:srgbClr val="18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864000" y="33192000"/>
            <a:ext cx="1746000" cy="5407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3700" b="0" i="0">
                <a:solidFill>
                  <a:srgbClr val="F6F3EC"/>
                </a:solidFill>
                <a:latin typeface="Fraunces"/>
              </a:rPr>
              <a:t>14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864000" y="33786725"/>
            <a:ext cx="1746000" cy="5392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50"/>
              </a:spcAft>
            </a:pPr>
            <a:r>
              <a:rPr sz="850" b="0" i="0">
                <a:solidFill>
                  <a:srgbClr val="B8BCC8"/>
                </a:solidFill>
                <a:latin typeface="Manrope"/>
              </a:rPr>
              <a:t>children treated, followed ≈ 6 years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3006000" y="33012000"/>
            <a:ext cx="2106000" cy="1368000"/>
          </a:xfrm>
          <a:prstGeom prst="roundRect">
            <a:avLst>
              <a:gd name="adj" fmla="val 5000"/>
            </a:avLst>
          </a:prstGeom>
          <a:solidFill>
            <a:srgbClr val="18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3186000" y="33192000"/>
            <a:ext cx="1746000" cy="5407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3700" b="0" i="0">
                <a:solidFill>
                  <a:srgbClr val="F6F3EC"/>
                </a:solidFill>
                <a:latin typeface="Fraunces"/>
              </a:rPr>
              <a:t>99%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3186000" y="33786725"/>
            <a:ext cx="1746000" cy="5392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50"/>
              </a:spcAft>
            </a:pPr>
            <a:r>
              <a:rPr sz="850" b="0" i="0">
                <a:solidFill>
                  <a:srgbClr val="B8BCC8"/>
                </a:solidFill>
                <a:latin typeface="Manrope"/>
              </a:rPr>
              <a:t>probability motor decline slowed at the best dose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5328000" y="33012000"/>
            <a:ext cx="2106000" cy="1368000"/>
          </a:xfrm>
          <a:prstGeom prst="roundRect">
            <a:avLst>
              <a:gd name="adj" fmla="val 5000"/>
            </a:avLst>
          </a:prstGeom>
          <a:solidFill>
            <a:srgbClr val="18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5508000" y="33192000"/>
            <a:ext cx="1746000" cy="5407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3700" b="0" i="0">
                <a:solidFill>
                  <a:srgbClr val="F6F3EC"/>
                </a:solidFill>
                <a:latin typeface="Fraunces"/>
              </a:rPr>
              <a:t>6 / 14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5508000" y="33786725"/>
            <a:ext cx="1746000" cy="5392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50"/>
              </a:spcAft>
            </a:pPr>
            <a:r>
              <a:rPr sz="850" b="0" i="0">
                <a:solidFill>
                  <a:srgbClr val="B8BCC8"/>
                </a:solidFill>
                <a:latin typeface="Manrope"/>
              </a:rPr>
              <a:t>regained or stabilised sensory nerve responses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7650000" y="33012000"/>
            <a:ext cx="2106000" cy="1368000"/>
          </a:xfrm>
          <a:prstGeom prst="roundRect">
            <a:avLst>
              <a:gd name="adj" fmla="val 5000"/>
            </a:avLst>
          </a:prstGeom>
          <a:solidFill>
            <a:srgbClr val="18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7830000" y="33192000"/>
            <a:ext cx="1746000" cy="5407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sz="3700" b="0" i="0">
                <a:solidFill>
                  <a:srgbClr val="F6F3EC"/>
                </a:solidFill>
                <a:latin typeface="Fraunces"/>
              </a:rPr>
              <a:t>1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830000" y="33786725"/>
            <a:ext cx="1746000" cy="5392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50"/>
              </a:spcAft>
            </a:pPr>
            <a:r>
              <a:rPr sz="850" b="0" i="0">
                <a:solidFill>
                  <a:srgbClr val="B8BCC8"/>
                </a:solidFill>
                <a:latin typeface="Manrope"/>
              </a:rPr>
              <a:t>serious adverse event, managed with steroids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0116000" y="32940000"/>
            <a:ext cx="45000" cy="108000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10296000" y="32904000"/>
            <a:ext cx="4320000" cy="1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50"/>
              </a:spcAft>
            </a:pPr>
            <a:r>
              <a:rPr sz="1500" b="0" i="0">
                <a:solidFill>
                  <a:srgbClr val="F6F3EC"/>
                </a:solidFill>
                <a:latin typeface="Fraunces"/>
              </a:rPr>
              <a:t>Not a cure yet — but the first proof that an "untreatable" childhood neuropathy can be slowed.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0" y="34920000"/>
            <a:ext cx="15300000" cy="14400"/>
          </a:xfrm>
          <a:prstGeom prst="rect">
            <a:avLst/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684000" y="35136000"/>
            <a:ext cx="9720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50"/>
              </a:spcAft>
            </a:pPr>
            <a:r>
              <a:rPr sz="600" b="0" i="0">
                <a:solidFill>
                  <a:srgbClr val="B8BCC8"/>
                </a:solidFill>
                <a:latin typeface="Manrope"/>
              </a:rPr>
              <a:t>Sources: Bharucha-Goebel DX et al. </a:t>
            </a:r>
            <a:r>
              <a:rPr sz="600" b="0" i="1">
                <a:solidFill>
                  <a:srgbClr val="B8BCC8"/>
                </a:solidFill>
                <a:latin typeface="Fraunces"/>
              </a:rPr>
              <a:t>Intrathecal Gene Therapy for Giant Axonal Neuropathy.</a:t>
            </a:r>
            <a:r>
              <a:rPr sz="600" b="0" i="0">
                <a:solidFill>
                  <a:srgbClr val="B8BCC8"/>
                </a:solidFill>
                <a:latin typeface="Manrope"/>
              </a:rPr>
              <a:t> N Engl J Med 2024;390:1092-1104 · ClinicalTrials.gov NCT02362438 · NIH News, March 2024 · Hannah's Hope Fund · The Children's Inn at NIH, "Hannah's Story" · DNA Science (PLOS), July 2016. Figures adapted from the source poster.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0800000" y="35172000"/>
            <a:ext cx="3816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100"/>
              </a:spcAft>
            </a:pPr>
            <a:r>
              <a:rPr sz="1400" b="0" i="0">
                <a:solidFill>
                  <a:srgbClr val="F6F3EC"/>
                </a:solidFill>
                <a:latin typeface="Fraunces"/>
              </a:rPr>
              <a:t>Giant Axonal Neuropathy</a:t>
            </a:r>
          </a:p>
          <a:p>
            <a:pPr algn="r">
              <a:lnSpc>
                <a:spcPct val="115000"/>
              </a:lnSpc>
              <a:spcAft>
                <a:spcPts val="150"/>
              </a:spcAft>
            </a:pPr>
            <a:r>
              <a:rPr sz="600" b="1" i="0">
                <a:solidFill>
                  <a:srgbClr val="7FE0D4"/>
                </a:solidFill>
                <a:latin typeface="Manrope"/>
              </a:rPr>
              <a:t>FROM GENE TO GENE THERAPY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