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Giant Axonal Neuropathy (GAN) is an ultra-rare, autosomal recessive neurodegenerative disease of childhood (OMIM #256850). The talk moves from the gene, to the cell, to the patient, to the first-in-human intrathecal gene therapy.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 is caused by biallelic loss-of-function variants in the GAN gene (16q23.2) encoding gigaxonin, a BTB-Kelch substrate adaptor for the Cul3 E3 ubiquitin ligase. Inheritance is autosomal recessive: carrier parents are unaffected; each pregnancy has a 25% risk. Prevalence is estimated below 1 per million.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Gigaxonin controls turnover of all intermediate-filament classes. Loss leads to IF aggregation in neurons, glia, fibroblasts and hair. Gigaxonin also mediates degradation of Patched; without it Patched persists and Smoothened remains inhibited, silencing Sonic hedgehog signalling.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Histology: enlarged axons filled with densely packed neurofilaments, thin or absent myelin. Rosenthal fibres (GFAP aggregates in astrocytes) are common. Brain MRI shows cerebellar and brainstem white-matter signal change. Kinky hair reflects keratin IF disorganisation.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GAN begins before age 3 with gait disturbance and distal weakness, evolves into a severe sensorimotor neuropathy, then adds CNS signs (ataxia, nystagmus, dysarthria, seizures, cognitive decline). Most patients are wheelchair-bound in the second decade and die of respiratory failure by the third.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Hannah Sames (born 2004, Rexford NY) was diagnosed on 24 March 2008. Her two deletion mutations mean she produces no gigaxonin (CRIM-negative). Lori and Matt Sames founded Hannah's Hope Fund, convened the first GAN symposium in August 2008, raised over $8 million and funded Steven Gray's vector development at UNC.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scAAV9/JeT-GAN: self-complementary AAV9 capsid, codon-optimised human GAN cDNA, minimal synthetic JeT promoter. Developed by Steven Gray (UNC, now UT Southwestern) with funding from Hannah's Hope Fund. Delivered once by lumbar intrathecal injection at the NIH Clinical Center (NCT02362438, PI Carsten Bönnemann). First patient dosed May 2015; Hannah treated 21 July 2016 at 1.2 × 10^14 vg with an added immunosuppression protocol because she is CRIM-negative.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Bharucha-Goebel et al., NEJM 2024: 14 children, doses 3.5×10^13 to 3.5×10^14 vg, median follow-up 68.7 months. One serious adverse event possibly related (fever). Pre-treatment MFM-32 slope −7.17 points/year; at 1.8×10^14 vg the slope improved by 5.32 points (99% posterior probability of slowing, above the 95% threshold). Sensory nerve action potentials recovered or stabilised in 6 of 14; nerve biopsies showed 3–48× more regenerating clusters. Two older low-dose participants died of disease-related events. The programme was licensed to Taysha (TSHA-120).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33"/>
        </a:solidFill>
        <a:effectLst/>
      </p:bgPr>
    </p:bg>
    <p:spTree>
      <p:nvGrpSpPr>
        <p:cNvPr id="1" name=""/>
        <p:cNvGrpSpPr/>
        <p:nvPr/>
      </p:nvGrpSpPr>
      <p:grpSpPr/>
      <p:sp>
        <p:nvSpPr>
          <p:cNvPr id="2" name="Oval 1"/>
          <p:cNvSpPr/>
          <p:nvPr/>
        </p:nvSpPr>
        <p:spPr>
          <a:xfrm>
            <a:off x="7863840" y="-2926080"/>
            <a:ext cx="6400800" cy="6400800"/>
          </a:xfrm>
          <a:prstGeom prst="ellipse">
            <a:avLst/>
          </a:prstGeom>
          <a:solidFill>
            <a:srgbClr val="123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754880"/>
            <a:ext cx="4754880" cy="4754880"/>
          </a:xfrm>
          <a:prstGeom prst="ellipse">
            <a:avLst/>
          </a:prstGeom>
          <a:solidFill>
            <a:srgbClr val="2A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0" y="5349240"/>
            <a:ext cx="12191695" cy="0"/>
          </a:xfrm>
          <a:prstGeom prst="line">
            <a:avLst/>
          </a:prstGeom>
          <a:ln w="12700">
            <a:solidFill>
              <a:srgbClr val="2A3A5C"/>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852160" y="5074920"/>
            <a:ext cx="2926080" cy="914400"/>
          </a:xfrm>
          <a:prstGeom prst="ellipse">
            <a:avLst/>
          </a:prstGeom>
          <a:solidFill>
            <a:srgbClr val="1B2E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0" y="5532120"/>
            <a:ext cx="12191695" cy="0"/>
          </a:xfrm>
          <a:prstGeom prst="line">
            <a:avLst/>
          </a:prstGeom>
          <a:ln w="76200">
            <a:solidFill>
              <a:srgbClr val="2B4A6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B8BCC8"/>
                </a:solidFill>
                <a:latin typeface="Calibri"/>
              </a:rPr>
              <a:t>RARE NEUROGENETIC DISEASE</a:t>
            </a:r>
          </a:p>
        </p:txBody>
      </p:sp>
      <p:sp>
        <p:nvSpPr>
          <p:cNvPr id="8" name="TextBox 7"/>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B8BCC8"/>
                </a:solidFill>
                <a:latin typeface="Calibri"/>
              </a:rPr>
              <a:t>OMIM #256850</a:t>
            </a:r>
          </a:p>
        </p:txBody>
      </p:sp>
      <p:sp>
        <p:nvSpPr>
          <p:cNvPr id="9" name="TextBox 8"/>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B8BCC8"/>
                </a:solidFill>
                <a:latin typeface="Calibri"/>
              </a:rPr>
              <a:t>01 / 08</a:t>
            </a:r>
          </a:p>
        </p:txBody>
      </p:sp>
      <p:sp>
        <p:nvSpPr>
          <p:cNvPr id="10" name="Rectangle 9"/>
          <p:cNvSpPr/>
          <p:nvPr/>
        </p:nvSpPr>
        <p:spPr>
          <a:xfrm>
            <a:off x="0" y="0"/>
            <a:ext cx="1523961"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a:off x="640080" y="1517904"/>
            <a:ext cx="320039" cy="0"/>
          </a:xfrm>
          <a:prstGeom prst="line">
            <a:avLst/>
          </a:prstGeom>
          <a:ln w="19050">
            <a:solidFill>
              <a:srgbClr val="1A9C8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51560" y="1417320"/>
            <a:ext cx="54864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1A9C8E"/>
                </a:solidFill>
                <a:latin typeface="Calibri"/>
              </a:rPr>
              <a:t>CASE STUDY · GENE TO GENE THERAPY</a:t>
            </a:r>
          </a:p>
        </p:txBody>
      </p:sp>
      <p:sp>
        <p:nvSpPr>
          <p:cNvPr id="13" name="TextBox 12"/>
          <p:cNvSpPr txBox="1"/>
          <p:nvPr/>
        </p:nvSpPr>
        <p:spPr>
          <a:xfrm>
            <a:off x="640080" y="1737360"/>
            <a:ext cx="6949440" cy="2377440"/>
          </a:xfrm>
          <a:prstGeom prst="rect">
            <a:avLst/>
          </a:prstGeom>
          <a:noFill/>
        </p:spPr>
        <p:txBody>
          <a:bodyPr wrap="square" anchor="t" lIns="0" rIns="0" tIns="0" bIns="0">
            <a:spAutoFit/>
          </a:bodyPr>
          <a:lstStyle/>
          <a:p>
            <a:pPr algn="l">
              <a:lnSpc>
                <a:spcPct val="95000"/>
              </a:lnSpc>
              <a:spcAft>
                <a:spcPts val="0"/>
              </a:spcAft>
            </a:pPr>
            <a:r>
              <a:rPr sz="6200" b="0" i="0">
                <a:solidFill>
                  <a:srgbClr val="F6F3EC"/>
                </a:solidFill>
                <a:latin typeface="Georgia"/>
              </a:rPr>
              <a:t>Giant Axonal</a:t>
            </a:r>
          </a:p>
          <a:p>
            <a:pPr algn="l">
              <a:lnSpc>
                <a:spcPct val="95000"/>
              </a:lnSpc>
              <a:spcAft>
                <a:spcPts val="0"/>
              </a:spcAft>
            </a:pPr>
            <a:r>
              <a:rPr sz="6200" b="0" i="1">
                <a:solidFill>
                  <a:srgbClr val="F6F3EC"/>
                </a:solidFill>
                <a:latin typeface="Georgia"/>
              </a:rPr>
              <a:t>Neuropathy</a:t>
            </a:r>
          </a:p>
        </p:txBody>
      </p:sp>
      <p:sp>
        <p:nvSpPr>
          <p:cNvPr id="14" name="TextBox 13"/>
          <p:cNvSpPr txBox="1"/>
          <p:nvPr/>
        </p:nvSpPr>
        <p:spPr>
          <a:xfrm>
            <a:off x="640080" y="3977639"/>
            <a:ext cx="5852160" cy="1097280"/>
          </a:xfrm>
          <a:prstGeom prst="rect">
            <a:avLst/>
          </a:prstGeom>
          <a:noFill/>
        </p:spPr>
        <p:txBody>
          <a:bodyPr wrap="square" anchor="t" lIns="0" rIns="0" tIns="0" bIns="0">
            <a:normAutofit/>
          </a:bodyPr>
          <a:lstStyle/>
          <a:p>
            <a:pPr algn="l">
              <a:lnSpc>
                <a:spcPct val="120000"/>
              </a:lnSpc>
              <a:spcAft>
                <a:spcPts val="400"/>
              </a:spcAft>
            </a:pPr>
            <a:r>
              <a:rPr sz="1500" b="0" i="0">
                <a:solidFill>
                  <a:srgbClr val="B8BCC8"/>
                </a:solidFill>
                <a:latin typeface="Calibri"/>
              </a:rPr>
              <a:t>How the loss of one small protein, gigaxonin, causes nerve fibres to swell and die — and how one family's fight produced the world's first intrathecal gene therapy.</a:t>
            </a:r>
          </a:p>
        </p:txBody>
      </p:sp>
      <p:sp>
        <p:nvSpPr>
          <p:cNvPr id="15" name="Rounded Rectangle 14"/>
          <p:cNvSpPr/>
          <p:nvPr/>
        </p:nvSpPr>
        <p:spPr>
          <a:xfrm>
            <a:off x="640080" y="5806440"/>
            <a:ext cx="1193292" cy="347472"/>
          </a:xfrm>
          <a:prstGeom prst="roundRect">
            <a:avLst>
              <a:gd name="adj" fmla="val 50000"/>
            </a:avLst>
          </a:prstGeom>
          <a:solidFill>
            <a:srgbClr val="0F1B33"/>
          </a:solidFill>
          <a:ln w="9525">
            <a:solidFill>
              <a:srgbClr val="1A9C8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5806440"/>
            <a:ext cx="1193292" cy="347472"/>
          </a:xfrm>
          <a:prstGeom prst="rect">
            <a:avLst/>
          </a:prstGeom>
          <a:noFill/>
        </p:spPr>
        <p:txBody>
          <a:bodyPr wrap="square" anchor="ctr" lIns="0" rIns="0" tIns="0" bIns="0">
            <a:spAutoFit/>
          </a:bodyPr>
          <a:lstStyle/>
          <a:p>
            <a:pPr algn="ctr">
              <a:lnSpc>
                <a:spcPct val="110000"/>
              </a:lnSpc>
              <a:spcAft>
                <a:spcPts val="400"/>
              </a:spcAft>
            </a:pPr>
            <a:r>
              <a:rPr sz="850" b="1" i="0">
                <a:solidFill>
                  <a:srgbClr val="7FE0D4"/>
                </a:solidFill>
                <a:latin typeface="Calibri"/>
              </a:rPr>
              <a:t>GENE: GAN</a:t>
            </a:r>
          </a:p>
        </p:txBody>
      </p:sp>
      <p:sp>
        <p:nvSpPr>
          <p:cNvPr id="17" name="Rounded Rectangle 16"/>
          <p:cNvSpPr/>
          <p:nvPr/>
        </p:nvSpPr>
        <p:spPr>
          <a:xfrm>
            <a:off x="1970531" y="5806440"/>
            <a:ext cx="1367028" cy="347472"/>
          </a:xfrm>
          <a:prstGeom prst="roundRect">
            <a:avLst>
              <a:gd name="adj" fmla="val 50000"/>
            </a:avLst>
          </a:prstGeom>
          <a:solidFill>
            <a:srgbClr val="0F1B33"/>
          </a:solidFill>
          <a:ln w="9525">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970531" y="5806440"/>
            <a:ext cx="1367028" cy="347472"/>
          </a:xfrm>
          <a:prstGeom prst="rect">
            <a:avLst/>
          </a:prstGeom>
          <a:noFill/>
        </p:spPr>
        <p:txBody>
          <a:bodyPr wrap="square" anchor="ctr" lIns="0" rIns="0" tIns="0" bIns="0">
            <a:spAutoFit/>
          </a:bodyPr>
          <a:lstStyle/>
          <a:p>
            <a:pPr algn="ctr">
              <a:lnSpc>
                <a:spcPct val="110000"/>
              </a:lnSpc>
              <a:spcAft>
                <a:spcPts val="400"/>
              </a:spcAft>
            </a:pPr>
            <a:r>
              <a:rPr sz="850" b="1" i="0">
                <a:solidFill>
                  <a:srgbClr val="B8BCC8"/>
                </a:solidFill>
                <a:latin typeface="Calibri"/>
              </a:rPr>
              <a:t>CHR 16q23.2</a:t>
            </a:r>
          </a:p>
        </p:txBody>
      </p:sp>
      <p:sp>
        <p:nvSpPr>
          <p:cNvPr id="19" name="Rounded Rectangle 18"/>
          <p:cNvSpPr/>
          <p:nvPr/>
        </p:nvSpPr>
        <p:spPr>
          <a:xfrm>
            <a:off x="3474720" y="5806440"/>
            <a:ext cx="2061972" cy="347472"/>
          </a:xfrm>
          <a:prstGeom prst="roundRect">
            <a:avLst>
              <a:gd name="adj" fmla="val 50000"/>
            </a:avLst>
          </a:prstGeom>
          <a:solidFill>
            <a:srgbClr val="0F1B33"/>
          </a:solidFill>
          <a:ln w="9525">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74720" y="5806440"/>
            <a:ext cx="2061972" cy="347472"/>
          </a:xfrm>
          <a:prstGeom prst="rect">
            <a:avLst/>
          </a:prstGeom>
          <a:noFill/>
        </p:spPr>
        <p:txBody>
          <a:bodyPr wrap="square" anchor="ctr" lIns="0" rIns="0" tIns="0" bIns="0">
            <a:spAutoFit/>
          </a:bodyPr>
          <a:lstStyle/>
          <a:p>
            <a:pPr algn="ctr">
              <a:lnSpc>
                <a:spcPct val="110000"/>
              </a:lnSpc>
              <a:spcAft>
                <a:spcPts val="400"/>
              </a:spcAft>
            </a:pPr>
            <a:r>
              <a:rPr sz="850" b="1" i="0">
                <a:solidFill>
                  <a:srgbClr val="B8BCC8"/>
                </a:solidFill>
                <a:latin typeface="Calibri"/>
              </a:rPr>
              <a:t>AUTOSOMAL RECESSIVE</a:t>
            </a:r>
          </a:p>
        </p:txBody>
      </p:sp>
      <p:sp>
        <p:nvSpPr>
          <p:cNvPr id="21" name="Rounded Rectangle 20"/>
          <p:cNvSpPr/>
          <p:nvPr/>
        </p:nvSpPr>
        <p:spPr>
          <a:xfrm>
            <a:off x="5673852" y="5806440"/>
            <a:ext cx="1714500" cy="347472"/>
          </a:xfrm>
          <a:prstGeom prst="roundRect">
            <a:avLst>
              <a:gd name="adj" fmla="val 50000"/>
            </a:avLst>
          </a:prstGeom>
          <a:solidFill>
            <a:srgbClr val="0F1B33"/>
          </a:solidFill>
          <a:ln w="9525">
            <a:solidFill>
              <a:srgbClr val="2A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73852" y="5806440"/>
            <a:ext cx="1714500" cy="347472"/>
          </a:xfrm>
          <a:prstGeom prst="rect">
            <a:avLst/>
          </a:prstGeom>
          <a:noFill/>
        </p:spPr>
        <p:txBody>
          <a:bodyPr wrap="square" anchor="ctr" lIns="0" rIns="0" tIns="0" bIns="0">
            <a:spAutoFit/>
          </a:bodyPr>
          <a:lstStyle/>
          <a:p>
            <a:pPr algn="ctr">
              <a:lnSpc>
                <a:spcPct val="110000"/>
              </a:lnSpc>
              <a:spcAft>
                <a:spcPts val="400"/>
              </a:spcAft>
            </a:pPr>
            <a:r>
              <a:rPr sz="850" b="1" i="0">
                <a:solidFill>
                  <a:srgbClr val="B8BCC8"/>
                </a:solidFill>
                <a:latin typeface="Calibri"/>
              </a:rPr>
              <a:t>ONSET ≈ 3 YEARS</a:t>
            </a:r>
          </a:p>
        </p:txBody>
      </p:sp>
      <p:cxnSp>
        <p:nvCxnSpPr>
          <p:cNvPr id="23" name="Connector 22"/>
          <p:cNvCxnSpPr/>
          <p:nvPr/>
        </p:nvCxnSpPr>
        <p:spPr>
          <a:xfrm>
            <a:off x="7863840" y="17830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63840" y="1856231"/>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01</a:t>
            </a:r>
          </a:p>
        </p:txBody>
      </p:sp>
      <p:sp>
        <p:nvSpPr>
          <p:cNvPr id="25" name="TextBox 24"/>
          <p:cNvSpPr txBox="1"/>
          <p:nvPr/>
        </p:nvSpPr>
        <p:spPr>
          <a:xfrm>
            <a:off x="8412480" y="1874519"/>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The genetic root cause</a:t>
            </a:r>
          </a:p>
        </p:txBody>
      </p:sp>
      <p:cxnSp>
        <p:nvCxnSpPr>
          <p:cNvPr id="26" name="Connector 25"/>
          <p:cNvCxnSpPr/>
          <p:nvPr/>
        </p:nvCxnSpPr>
        <p:spPr>
          <a:xfrm>
            <a:off x="7863840" y="22402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313432"/>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02</a:t>
            </a:r>
          </a:p>
        </p:txBody>
      </p:sp>
      <p:sp>
        <p:nvSpPr>
          <p:cNvPr id="28" name="TextBox 27"/>
          <p:cNvSpPr txBox="1"/>
          <p:nvPr/>
        </p:nvSpPr>
        <p:spPr>
          <a:xfrm>
            <a:off x="8412480" y="2331720"/>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Gigaxonin and the broken pathway</a:t>
            </a:r>
          </a:p>
        </p:txBody>
      </p:sp>
      <p:cxnSp>
        <p:nvCxnSpPr>
          <p:cNvPr id="29" name="Connector 28"/>
          <p:cNvCxnSpPr/>
          <p:nvPr/>
        </p:nvCxnSpPr>
        <p:spPr>
          <a:xfrm>
            <a:off x="7863840" y="26974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863840" y="2770632"/>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03</a:t>
            </a:r>
          </a:p>
        </p:txBody>
      </p:sp>
      <p:sp>
        <p:nvSpPr>
          <p:cNvPr id="31" name="TextBox 30"/>
          <p:cNvSpPr txBox="1"/>
          <p:nvPr/>
        </p:nvSpPr>
        <p:spPr>
          <a:xfrm>
            <a:off x="8412480" y="2788920"/>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Phenotype: the giant axon</a:t>
            </a:r>
          </a:p>
        </p:txBody>
      </p:sp>
      <p:cxnSp>
        <p:nvCxnSpPr>
          <p:cNvPr id="32" name="Connector 31"/>
          <p:cNvCxnSpPr/>
          <p:nvPr/>
        </p:nvCxnSpPr>
        <p:spPr>
          <a:xfrm>
            <a:off x="7863840" y="31546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863840" y="3227832"/>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04</a:t>
            </a:r>
          </a:p>
        </p:txBody>
      </p:sp>
      <p:sp>
        <p:nvSpPr>
          <p:cNvPr id="34" name="TextBox 33"/>
          <p:cNvSpPr txBox="1"/>
          <p:nvPr/>
        </p:nvSpPr>
        <p:spPr>
          <a:xfrm>
            <a:off x="8412480" y="3246120"/>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Symptoms and clinical course</a:t>
            </a:r>
          </a:p>
        </p:txBody>
      </p:sp>
      <p:cxnSp>
        <p:nvCxnSpPr>
          <p:cNvPr id="35" name="Connector 34"/>
          <p:cNvCxnSpPr/>
          <p:nvPr/>
        </p:nvCxnSpPr>
        <p:spPr>
          <a:xfrm>
            <a:off x="7863840" y="36118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863840" y="3685032"/>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05</a:t>
            </a:r>
          </a:p>
        </p:txBody>
      </p:sp>
      <p:sp>
        <p:nvSpPr>
          <p:cNvPr id="37" name="TextBox 36"/>
          <p:cNvSpPr txBox="1"/>
          <p:nvPr/>
        </p:nvSpPr>
        <p:spPr>
          <a:xfrm>
            <a:off x="8412480" y="3703320"/>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Hannah Sames</a:t>
            </a:r>
          </a:p>
        </p:txBody>
      </p:sp>
      <p:cxnSp>
        <p:nvCxnSpPr>
          <p:cNvPr id="38" name="Connector 37"/>
          <p:cNvCxnSpPr/>
          <p:nvPr/>
        </p:nvCxnSpPr>
        <p:spPr>
          <a:xfrm>
            <a:off x="7863840" y="40690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863840" y="4142232"/>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06</a:t>
            </a:r>
          </a:p>
        </p:txBody>
      </p:sp>
      <p:sp>
        <p:nvSpPr>
          <p:cNvPr id="40" name="TextBox 39"/>
          <p:cNvSpPr txBox="1"/>
          <p:nvPr/>
        </p:nvSpPr>
        <p:spPr>
          <a:xfrm>
            <a:off x="8412480" y="4160520"/>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scAAV9/JeT-GAN gene therapy</a:t>
            </a:r>
          </a:p>
        </p:txBody>
      </p:sp>
      <p:cxnSp>
        <p:nvCxnSpPr>
          <p:cNvPr id="41" name="Connector 40"/>
          <p:cNvCxnSpPr/>
          <p:nvPr/>
        </p:nvCxnSpPr>
        <p:spPr>
          <a:xfrm>
            <a:off x="7863840" y="4526280"/>
            <a:ext cx="3749040" cy="0"/>
          </a:xfrm>
          <a:prstGeom prst="line">
            <a:avLst/>
          </a:prstGeom>
          <a:ln w="9525">
            <a:solidFill>
              <a:srgbClr val="2A3A5C"/>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863840" y="4599432"/>
            <a:ext cx="548640" cy="320040"/>
          </a:xfrm>
          <a:prstGeom prst="rect">
            <a:avLst/>
          </a:prstGeom>
          <a:noFill/>
        </p:spPr>
        <p:txBody>
          <a:bodyPr wrap="square" anchor="t" lIns="0" rIns="0" tIns="0" bIns="0">
            <a:spAutoFit/>
          </a:bodyPr>
          <a:lstStyle/>
          <a:p>
            <a:pPr algn="l">
              <a:lnSpc>
                <a:spcPct val="110000"/>
              </a:lnSpc>
              <a:spcAft>
                <a:spcPts val="400"/>
              </a:spcAft>
            </a:pPr>
            <a:r>
              <a:rPr sz="1300" b="0" i="0">
                <a:solidFill>
                  <a:srgbClr val="1A9C8E"/>
                </a:solidFill>
                <a:latin typeface="Georgia"/>
              </a:rPr>
              <a:t>07</a:t>
            </a:r>
          </a:p>
        </p:txBody>
      </p:sp>
      <p:sp>
        <p:nvSpPr>
          <p:cNvPr id="43" name="TextBox 42"/>
          <p:cNvSpPr txBox="1"/>
          <p:nvPr/>
        </p:nvSpPr>
        <p:spPr>
          <a:xfrm>
            <a:off x="8412480" y="4617720"/>
            <a:ext cx="3200400" cy="320040"/>
          </a:xfrm>
          <a:prstGeom prst="rect">
            <a:avLst/>
          </a:prstGeom>
          <a:noFill/>
        </p:spPr>
        <p:txBody>
          <a:bodyPr wrap="square" anchor="t" lIns="0" rIns="0" tIns="0" bIns="0">
            <a:spAutoFit/>
          </a:bodyPr>
          <a:lstStyle/>
          <a:p>
            <a:pPr algn="l">
              <a:lnSpc>
                <a:spcPct val="110000"/>
              </a:lnSpc>
              <a:spcAft>
                <a:spcPts val="400"/>
              </a:spcAft>
            </a:pPr>
            <a:r>
              <a:rPr sz="1200" b="0" i="0">
                <a:solidFill>
                  <a:srgbClr val="F6F3EC"/>
                </a:solidFill>
                <a:latin typeface="Calibri"/>
              </a:rPr>
              <a:t>Results and legacy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4A5570"/>
                </a:solidFill>
                <a:latin typeface="Calibri"/>
              </a:rPr>
              <a:t>01 · GENETIC ROOT CAUSE</a:t>
            </a:r>
          </a:p>
        </p:txBody>
      </p:sp>
      <p:sp>
        <p:nvSpPr>
          <p:cNvPr id="3" name="TextBox 2"/>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GIANT AXONAL NEUROPATHY</a:t>
            </a:r>
          </a:p>
        </p:txBody>
      </p:sp>
      <p:sp>
        <p:nvSpPr>
          <p:cNvPr id="4" name="TextBox 3"/>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02 / 08</a:t>
            </a:r>
          </a:p>
        </p:txBody>
      </p:sp>
      <p:sp>
        <p:nvSpPr>
          <p:cNvPr id="5" name="Rectangle 4"/>
          <p:cNvSpPr/>
          <p:nvPr/>
        </p:nvSpPr>
        <p:spPr>
          <a:xfrm>
            <a:off x="0" y="0"/>
            <a:ext cx="3047923"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640080" y="740664"/>
            <a:ext cx="320039" cy="0"/>
          </a:xfrm>
          <a:prstGeom prst="line">
            <a:avLst/>
          </a:prstGeom>
          <a:ln w="19050">
            <a:solidFill>
              <a:srgbClr val="1A9C8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51560" y="640080"/>
            <a:ext cx="54864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1A9C8E"/>
                </a:solidFill>
                <a:latin typeface="Calibri"/>
              </a:rPr>
              <a:t>THE ROOT CAUSE</a:t>
            </a:r>
          </a:p>
        </p:txBody>
      </p:sp>
      <p:sp>
        <p:nvSpPr>
          <p:cNvPr id="8" name="TextBox 7"/>
          <p:cNvSpPr txBox="1"/>
          <p:nvPr/>
        </p:nvSpPr>
        <p:spPr>
          <a:xfrm>
            <a:off x="640080" y="914400"/>
            <a:ext cx="5852160" cy="685800"/>
          </a:xfrm>
          <a:prstGeom prst="rect">
            <a:avLst/>
          </a:prstGeom>
          <a:noFill/>
        </p:spPr>
        <p:txBody>
          <a:bodyPr wrap="square" anchor="t" lIns="0" rIns="0" tIns="0" bIns="0">
            <a:spAutoFit/>
          </a:bodyPr>
          <a:lstStyle/>
          <a:p>
            <a:pPr algn="l">
              <a:lnSpc>
                <a:spcPct val="100000"/>
              </a:lnSpc>
              <a:spcAft>
                <a:spcPts val="400"/>
              </a:spcAft>
            </a:pPr>
            <a:r>
              <a:rPr sz="3000" b="0" i="0">
                <a:solidFill>
                  <a:srgbClr val="14213D"/>
                </a:solidFill>
                <a:latin typeface="Georgia"/>
              </a:rPr>
              <a:t>One gene, two broken copies</a:t>
            </a:r>
          </a:p>
        </p:txBody>
      </p:sp>
      <p:sp>
        <p:nvSpPr>
          <p:cNvPr id="9" name="Rounded Rectangle 8"/>
          <p:cNvSpPr/>
          <p:nvPr/>
        </p:nvSpPr>
        <p:spPr>
          <a:xfrm>
            <a:off x="640080" y="1783080"/>
            <a:ext cx="5760720" cy="1691640"/>
          </a:xfrm>
          <a:prstGeom prst="roundRect">
            <a:avLst>
              <a:gd name="adj" fmla="val 6000"/>
            </a:avLst>
          </a:prstGeom>
          <a:solidFill>
            <a:srgbClr val="DD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1901952"/>
            <a:ext cx="1097280" cy="365760"/>
          </a:xfrm>
          <a:prstGeom prst="rect">
            <a:avLst/>
          </a:prstGeom>
          <a:noFill/>
        </p:spPr>
        <p:txBody>
          <a:bodyPr wrap="square" anchor="t" lIns="0" rIns="0" tIns="0" bIns="0">
            <a:spAutoFit/>
          </a:bodyPr>
          <a:lstStyle/>
          <a:p>
            <a:pPr algn="l">
              <a:lnSpc>
                <a:spcPct val="110000"/>
              </a:lnSpc>
              <a:spcAft>
                <a:spcPts val="400"/>
              </a:spcAft>
            </a:pPr>
            <a:r>
              <a:rPr sz="850" b="1" i="0">
                <a:solidFill>
                  <a:srgbClr val="1A9C8E"/>
                </a:solidFill>
                <a:latin typeface="Calibri"/>
              </a:rPr>
              <a:t>GENE</a:t>
            </a:r>
          </a:p>
        </p:txBody>
      </p:sp>
      <p:sp>
        <p:nvSpPr>
          <p:cNvPr id="11" name="TextBox 10"/>
          <p:cNvSpPr txBox="1"/>
          <p:nvPr/>
        </p:nvSpPr>
        <p:spPr>
          <a:xfrm>
            <a:off x="1920240" y="1874520"/>
            <a:ext cx="4389120" cy="384048"/>
          </a:xfrm>
          <a:prstGeom prst="rect">
            <a:avLst/>
          </a:prstGeom>
          <a:noFill/>
        </p:spPr>
        <p:txBody>
          <a:bodyPr wrap="square" anchor="t" lIns="0" rIns="0" tIns="0" bIns="0">
            <a:spAutoFit/>
          </a:bodyPr>
          <a:lstStyle/>
          <a:p>
            <a:pPr algn="l">
              <a:lnSpc>
                <a:spcPct val="110000"/>
              </a:lnSpc>
              <a:spcAft>
                <a:spcPts val="400"/>
              </a:spcAft>
            </a:pPr>
            <a:r>
              <a:rPr sz="1200" b="1" i="0">
                <a:solidFill>
                  <a:srgbClr val="14213D"/>
                </a:solidFill>
                <a:latin typeface="Calibri"/>
              </a:rPr>
              <a:t>GAN</a:t>
            </a:r>
            <a:r>
              <a:rPr sz="1200" b="0" i="0">
                <a:solidFill>
                  <a:srgbClr val="14213D"/>
                </a:solidFill>
                <a:latin typeface="Calibri"/>
              </a:rPr>
              <a:t> — chromosome 16, band 16q23.2</a:t>
            </a:r>
          </a:p>
        </p:txBody>
      </p:sp>
      <p:sp>
        <p:nvSpPr>
          <p:cNvPr id="12" name="TextBox 11"/>
          <p:cNvSpPr txBox="1"/>
          <p:nvPr/>
        </p:nvSpPr>
        <p:spPr>
          <a:xfrm>
            <a:off x="822960" y="2295144"/>
            <a:ext cx="1097280" cy="365760"/>
          </a:xfrm>
          <a:prstGeom prst="rect">
            <a:avLst/>
          </a:prstGeom>
          <a:noFill/>
        </p:spPr>
        <p:txBody>
          <a:bodyPr wrap="square" anchor="t" lIns="0" rIns="0" tIns="0" bIns="0">
            <a:spAutoFit/>
          </a:bodyPr>
          <a:lstStyle/>
          <a:p>
            <a:pPr algn="l">
              <a:lnSpc>
                <a:spcPct val="110000"/>
              </a:lnSpc>
              <a:spcAft>
                <a:spcPts val="400"/>
              </a:spcAft>
            </a:pPr>
            <a:r>
              <a:rPr sz="850" b="1" i="0">
                <a:solidFill>
                  <a:srgbClr val="1A9C8E"/>
                </a:solidFill>
                <a:latin typeface="Calibri"/>
              </a:rPr>
              <a:t>PROTEIN</a:t>
            </a:r>
          </a:p>
        </p:txBody>
      </p:sp>
      <p:sp>
        <p:nvSpPr>
          <p:cNvPr id="13" name="TextBox 12"/>
          <p:cNvSpPr txBox="1"/>
          <p:nvPr/>
        </p:nvSpPr>
        <p:spPr>
          <a:xfrm>
            <a:off x="1920240" y="2267712"/>
            <a:ext cx="4389120" cy="384048"/>
          </a:xfrm>
          <a:prstGeom prst="rect">
            <a:avLst/>
          </a:prstGeom>
          <a:noFill/>
        </p:spPr>
        <p:txBody>
          <a:bodyPr wrap="square" anchor="t" lIns="0" rIns="0" tIns="0" bIns="0">
            <a:spAutoFit/>
          </a:bodyPr>
          <a:lstStyle/>
          <a:p>
            <a:pPr algn="l">
              <a:lnSpc>
                <a:spcPct val="110000"/>
              </a:lnSpc>
              <a:spcAft>
                <a:spcPts val="400"/>
              </a:spcAft>
            </a:pPr>
            <a:r>
              <a:rPr sz="1200" b="1" i="0">
                <a:solidFill>
                  <a:srgbClr val="14213D"/>
                </a:solidFill>
                <a:latin typeface="Calibri"/>
              </a:rPr>
              <a:t>Gigaxonin</a:t>
            </a:r>
            <a:r>
              <a:rPr sz="1200" b="0" i="0">
                <a:solidFill>
                  <a:srgbClr val="14213D"/>
                </a:solidFill>
                <a:latin typeface="Calibri"/>
              </a:rPr>
              <a:t> — 597 aa, BTB/Kelch family</a:t>
            </a:r>
          </a:p>
        </p:txBody>
      </p:sp>
      <p:sp>
        <p:nvSpPr>
          <p:cNvPr id="14" name="TextBox 13"/>
          <p:cNvSpPr txBox="1"/>
          <p:nvPr/>
        </p:nvSpPr>
        <p:spPr>
          <a:xfrm>
            <a:off x="822960" y="2688336"/>
            <a:ext cx="1097280" cy="365760"/>
          </a:xfrm>
          <a:prstGeom prst="rect">
            <a:avLst/>
          </a:prstGeom>
          <a:noFill/>
        </p:spPr>
        <p:txBody>
          <a:bodyPr wrap="square" anchor="t" lIns="0" rIns="0" tIns="0" bIns="0">
            <a:spAutoFit/>
          </a:bodyPr>
          <a:lstStyle/>
          <a:p>
            <a:pPr algn="l">
              <a:lnSpc>
                <a:spcPct val="110000"/>
              </a:lnSpc>
              <a:spcAft>
                <a:spcPts val="400"/>
              </a:spcAft>
            </a:pPr>
            <a:r>
              <a:rPr sz="850" b="1" i="0">
                <a:solidFill>
                  <a:srgbClr val="1A9C8E"/>
                </a:solidFill>
                <a:latin typeface="Calibri"/>
              </a:rPr>
              <a:t>FUNCTION</a:t>
            </a:r>
          </a:p>
        </p:txBody>
      </p:sp>
      <p:sp>
        <p:nvSpPr>
          <p:cNvPr id="15" name="TextBox 14"/>
          <p:cNvSpPr txBox="1"/>
          <p:nvPr/>
        </p:nvSpPr>
        <p:spPr>
          <a:xfrm>
            <a:off x="1920240" y="2660904"/>
            <a:ext cx="4389120" cy="384048"/>
          </a:xfrm>
          <a:prstGeom prst="rect">
            <a:avLst/>
          </a:prstGeom>
          <a:noFill/>
        </p:spPr>
        <p:txBody>
          <a:bodyPr wrap="square" anchor="t" lIns="0" rIns="0" tIns="0" bIns="0">
            <a:spAutoFit/>
          </a:bodyPr>
          <a:lstStyle/>
          <a:p>
            <a:pPr algn="l">
              <a:lnSpc>
                <a:spcPct val="110000"/>
              </a:lnSpc>
              <a:spcAft>
                <a:spcPts val="400"/>
              </a:spcAft>
            </a:pPr>
            <a:r>
              <a:rPr sz="1200" b="0" i="0">
                <a:solidFill>
                  <a:srgbClr val="14213D"/>
                </a:solidFill>
                <a:latin typeface="Calibri"/>
              </a:rPr>
              <a:t>Substrate adaptor for a </a:t>
            </a:r>
            <a:r>
              <a:rPr sz="1200" b="1" i="0">
                <a:solidFill>
                  <a:srgbClr val="14213D"/>
                </a:solidFill>
                <a:latin typeface="Calibri"/>
              </a:rPr>
              <a:t>Cul3 E3 ubiquitin ligase</a:t>
            </a:r>
          </a:p>
        </p:txBody>
      </p:sp>
      <p:sp>
        <p:nvSpPr>
          <p:cNvPr id="16" name="TextBox 15"/>
          <p:cNvSpPr txBox="1"/>
          <p:nvPr/>
        </p:nvSpPr>
        <p:spPr>
          <a:xfrm>
            <a:off x="822960" y="3081528"/>
            <a:ext cx="1097280" cy="365760"/>
          </a:xfrm>
          <a:prstGeom prst="rect">
            <a:avLst/>
          </a:prstGeom>
          <a:noFill/>
        </p:spPr>
        <p:txBody>
          <a:bodyPr wrap="square" anchor="t" lIns="0" rIns="0" tIns="0" bIns="0">
            <a:spAutoFit/>
          </a:bodyPr>
          <a:lstStyle/>
          <a:p>
            <a:pPr algn="l">
              <a:lnSpc>
                <a:spcPct val="110000"/>
              </a:lnSpc>
              <a:spcAft>
                <a:spcPts val="400"/>
              </a:spcAft>
            </a:pPr>
            <a:r>
              <a:rPr sz="850" b="1" i="0">
                <a:solidFill>
                  <a:srgbClr val="1A9C8E"/>
                </a:solidFill>
                <a:latin typeface="Calibri"/>
              </a:rPr>
              <a:t>MECHANISM</a:t>
            </a:r>
          </a:p>
        </p:txBody>
      </p:sp>
      <p:sp>
        <p:nvSpPr>
          <p:cNvPr id="17" name="TextBox 16"/>
          <p:cNvSpPr txBox="1"/>
          <p:nvPr/>
        </p:nvSpPr>
        <p:spPr>
          <a:xfrm>
            <a:off x="1920240" y="3054096"/>
            <a:ext cx="4389120" cy="384048"/>
          </a:xfrm>
          <a:prstGeom prst="rect">
            <a:avLst/>
          </a:prstGeom>
          <a:noFill/>
        </p:spPr>
        <p:txBody>
          <a:bodyPr wrap="square" anchor="t" lIns="0" rIns="0" tIns="0" bIns="0">
            <a:spAutoFit/>
          </a:bodyPr>
          <a:lstStyle/>
          <a:p>
            <a:pPr algn="l">
              <a:lnSpc>
                <a:spcPct val="110000"/>
              </a:lnSpc>
              <a:spcAft>
                <a:spcPts val="400"/>
              </a:spcAft>
            </a:pPr>
            <a:r>
              <a:rPr sz="1200" b="0" i="0">
                <a:solidFill>
                  <a:srgbClr val="14213D"/>
                </a:solidFill>
                <a:latin typeface="Calibri"/>
              </a:rPr>
              <a:t>Loss of function — </a:t>
            </a:r>
            <a:r>
              <a:rPr sz="1200" b="1" i="0">
                <a:solidFill>
                  <a:srgbClr val="14213D"/>
                </a:solidFill>
                <a:latin typeface="Calibri"/>
              </a:rPr>
              <a:t>&gt;100</a:t>
            </a:r>
            <a:r>
              <a:rPr sz="1200" b="0" i="0">
                <a:solidFill>
                  <a:srgbClr val="14213D"/>
                </a:solidFill>
                <a:latin typeface="Calibri"/>
              </a:rPr>
              <a:t> variants (missense, nonsense, frameshift, deletions)</a:t>
            </a:r>
          </a:p>
        </p:txBody>
      </p:sp>
      <p:sp>
        <p:nvSpPr>
          <p:cNvPr id="18" name="TextBox 17"/>
          <p:cNvSpPr txBox="1"/>
          <p:nvPr/>
        </p:nvSpPr>
        <p:spPr>
          <a:xfrm>
            <a:off x="640080" y="3657600"/>
            <a:ext cx="5760720" cy="1554480"/>
          </a:xfrm>
          <a:prstGeom prst="rect">
            <a:avLst/>
          </a:prstGeom>
          <a:noFill/>
        </p:spPr>
        <p:txBody>
          <a:bodyPr wrap="square" lIns="0" rIns="0" tIns="0" bIns="0">
            <a:normAutofit/>
          </a:bodyPr>
          <a:lstStyle/>
          <a:p>
            <a:pPr marL="256032" indent="-256032">
              <a:lnSpc>
                <a:spcPct val="112000"/>
              </a:lnSpc>
              <a:spcAft>
                <a:spcPts val="700"/>
              </a:spcAft>
            </a:pPr>
            <a:r>
              <a:rPr sz="839">
                <a:solidFill>
                  <a:srgbClr val="1A9C8E"/>
                </a:solidFill>
                <a:latin typeface="Calibri"/>
              </a:rPr>
              <a:t>● </a:t>
            </a:r>
            <a:r>
              <a:rPr sz="1200" b="1" i="0">
                <a:solidFill>
                  <a:srgbClr val="4A5570"/>
                </a:solidFill>
                <a:latin typeface="Calibri"/>
              </a:rPr>
              <a:t>Autosomal recessive:</a:t>
            </a:r>
            <a:r>
              <a:rPr sz="1200" b="0" i="0">
                <a:solidFill>
                  <a:srgbClr val="4A5570"/>
                </a:solidFill>
                <a:latin typeface="Calibri"/>
              </a:rPr>
              <a:t> disease appears only when both inherited copies of </a:t>
            </a:r>
            <a:r>
              <a:rPr sz="1200" b="0" i="1">
                <a:solidFill>
                  <a:srgbClr val="4A5570"/>
                </a:solidFill>
                <a:latin typeface="Georgia"/>
              </a:rPr>
              <a:t>GAN</a:t>
            </a:r>
            <a:r>
              <a:rPr sz="1200" b="0" i="0">
                <a:solidFill>
                  <a:srgbClr val="4A5570"/>
                </a:solidFill>
                <a:latin typeface="Calibri"/>
              </a:rPr>
              <a:t> are defective.</a:t>
            </a:r>
          </a:p>
          <a:p>
            <a:pPr marL="256032" indent="-256032">
              <a:lnSpc>
                <a:spcPct val="112000"/>
              </a:lnSpc>
              <a:spcAft>
                <a:spcPts val="700"/>
              </a:spcAft>
            </a:pPr>
            <a:r>
              <a:rPr sz="839">
                <a:solidFill>
                  <a:srgbClr val="1A9C8E"/>
                </a:solidFill>
                <a:latin typeface="Calibri"/>
              </a:rPr>
              <a:t>● </a:t>
            </a:r>
            <a:r>
              <a:rPr sz="1200" b="1" i="0">
                <a:solidFill>
                  <a:srgbClr val="4A5570"/>
                </a:solidFill>
                <a:latin typeface="Calibri"/>
              </a:rPr>
              <a:t>Carrier parents are healthy</a:t>
            </a:r>
            <a:r>
              <a:rPr sz="1200" b="0" i="0">
                <a:solidFill>
                  <a:srgbClr val="4A5570"/>
                </a:solidFill>
                <a:latin typeface="Calibri"/>
              </a:rPr>
              <a:t> — one working copy is enough. Each pregnancy carries a 25% risk of an affected child.</a:t>
            </a:r>
          </a:p>
          <a:p>
            <a:pPr marL="256032" indent="-256032">
              <a:lnSpc>
                <a:spcPct val="112000"/>
              </a:lnSpc>
              <a:spcAft>
                <a:spcPts val="700"/>
              </a:spcAft>
            </a:pPr>
            <a:r>
              <a:rPr sz="839">
                <a:solidFill>
                  <a:srgbClr val="1A9C8E"/>
                </a:solidFill>
                <a:latin typeface="Calibri"/>
              </a:rPr>
              <a:t>● </a:t>
            </a:r>
            <a:r>
              <a:rPr sz="1200" b="0" i="0">
                <a:solidFill>
                  <a:srgbClr val="4A5570"/>
                </a:solidFill>
                <a:latin typeface="Calibri"/>
              </a:rPr>
              <a:t>Ultra-rare: prevalence below </a:t>
            </a:r>
            <a:r>
              <a:rPr sz="1200" b="1" i="0">
                <a:solidFill>
                  <a:srgbClr val="4A5570"/>
                </a:solidFill>
                <a:latin typeface="Calibri"/>
              </a:rPr>
              <a:t>1 in 1,000,000</a:t>
            </a:r>
            <a:r>
              <a:rPr sz="1200" b="0" i="0">
                <a:solidFill>
                  <a:srgbClr val="4A5570"/>
                </a:solidFill>
                <a:latin typeface="Calibri"/>
              </a:rPr>
              <a:t>; more frequent in consanguineous families.</a:t>
            </a:r>
          </a:p>
        </p:txBody>
      </p:sp>
      <p:pic>
        <p:nvPicPr>
          <p:cNvPr id="19" name="Picture 18" descr="locus.jpg"/>
          <p:cNvPicPr>
            <a:picLocks noChangeAspect="1"/>
          </p:cNvPicPr>
          <p:nvPr/>
        </p:nvPicPr>
        <p:blipFill>
          <a:blip r:embed="rId2"/>
          <a:stretch>
            <a:fillRect/>
          </a:stretch>
        </p:blipFill>
        <p:spPr>
          <a:xfrm>
            <a:off x="1554480" y="5166360"/>
            <a:ext cx="2525053" cy="1005840"/>
          </a:xfrm>
          <a:prstGeom prst="rect">
            <a:avLst/>
          </a:prstGeom>
        </p:spPr>
      </p:pic>
      <p:sp>
        <p:nvSpPr>
          <p:cNvPr id="20" name="TextBox 19"/>
          <p:cNvSpPr txBox="1"/>
          <p:nvPr/>
        </p:nvSpPr>
        <p:spPr>
          <a:xfrm>
            <a:off x="640080" y="6217920"/>
            <a:ext cx="5760720" cy="320040"/>
          </a:xfrm>
          <a:prstGeom prst="rect">
            <a:avLst/>
          </a:prstGeom>
          <a:noFill/>
        </p:spPr>
        <p:txBody>
          <a:bodyPr wrap="square" lIns="0" rIns="0" tIns="0" bIns="0">
            <a:spAutoFit/>
          </a:bodyPr>
          <a:lstStyle/>
          <a:p>
            <a:r>
              <a:rPr sz="850" b="1" i="0">
                <a:solidFill>
                  <a:srgbClr val="14213D"/>
                </a:solidFill>
                <a:latin typeface="Calibri"/>
              </a:rPr>
              <a:t>MUTATION LOCUS  </a:t>
            </a:r>
            <a:r>
              <a:rPr sz="900" b="0" i="0">
                <a:solidFill>
                  <a:srgbClr val="4A5570"/>
                </a:solidFill>
                <a:latin typeface="Calibri"/>
              </a:rPr>
              <a:t>Long arm of chromosome 16, band q23.2 — home of the GAN gene</a:t>
            </a:r>
          </a:p>
        </p:txBody>
      </p:sp>
      <p:pic>
        <p:nvPicPr>
          <p:cNvPr id="21" name="Picture 20" descr="inheritance.jpg"/>
          <p:cNvPicPr>
            <a:picLocks noChangeAspect="1"/>
          </p:cNvPicPr>
          <p:nvPr/>
        </p:nvPicPr>
        <p:blipFill>
          <a:blip r:embed="rId3"/>
          <a:stretch>
            <a:fillRect/>
          </a:stretch>
        </p:blipFill>
        <p:spPr>
          <a:xfrm>
            <a:off x="6858000" y="1233729"/>
            <a:ext cx="4754880" cy="4299101"/>
          </a:xfrm>
          <a:prstGeom prst="rect">
            <a:avLst/>
          </a:prstGeom>
        </p:spPr>
      </p:pic>
      <p:sp>
        <p:nvSpPr>
          <p:cNvPr id="22" name="TextBox 21"/>
          <p:cNvSpPr txBox="1"/>
          <p:nvPr/>
        </p:nvSpPr>
        <p:spPr>
          <a:xfrm>
            <a:off x="6858000" y="5624270"/>
            <a:ext cx="4754880" cy="320040"/>
          </a:xfrm>
          <a:prstGeom prst="rect">
            <a:avLst/>
          </a:prstGeom>
          <a:noFill/>
        </p:spPr>
        <p:txBody>
          <a:bodyPr wrap="square" lIns="0" rIns="0" tIns="0" bIns="0">
            <a:spAutoFit/>
          </a:bodyPr>
          <a:lstStyle/>
          <a:p>
            <a:r>
              <a:rPr sz="850" b="1" i="0">
                <a:solidFill>
                  <a:srgbClr val="14213D"/>
                </a:solidFill>
                <a:latin typeface="Calibri"/>
              </a:rPr>
              <a:t>INHERITANCE PATTERN  </a:t>
            </a:r>
            <a:r>
              <a:rPr sz="900" b="0" i="0">
                <a:solidFill>
                  <a:srgbClr val="4A5570"/>
                </a:solidFill>
                <a:latin typeface="Calibri"/>
              </a:rPr>
              <a:t>Two carriers → 1 in 4 affected, 2 in 4 carriers, 1 in 4 unaffected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4A5570"/>
                </a:solidFill>
                <a:latin typeface="Calibri"/>
              </a:rPr>
              <a:t>02 · MOLECULAR MECHANISM</a:t>
            </a:r>
          </a:p>
        </p:txBody>
      </p:sp>
      <p:sp>
        <p:nvSpPr>
          <p:cNvPr id="3" name="TextBox 2"/>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GIANT AXONAL NEUROPATHY</a:t>
            </a:r>
          </a:p>
        </p:txBody>
      </p:sp>
      <p:sp>
        <p:nvSpPr>
          <p:cNvPr id="4" name="TextBox 3"/>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03 / 08</a:t>
            </a:r>
          </a:p>
        </p:txBody>
      </p:sp>
      <p:sp>
        <p:nvSpPr>
          <p:cNvPr id="5" name="Rectangle 4"/>
          <p:cNvSpPr/>
          <p:nvPr/>
        </p:nvSpPr>
        <p:spPr>
          <a:xfrm>
            <a:off x="0" y="0"/>
            <a:ext cx="4571885"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640080" y="740664"/>
            <a:ext cx="320039" cy="0"/>
          </a:xfrm>
          <a:prstGeom prst="line">
            <a:avLst/>
          </a:prstGeom>
          <a:ln w="19050">
            <a:solidFill>
              <a:srgbClr val="1A9C8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51560" y="640080"/>
            <a:ext cx="64008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1A9C8E"/>
                </a:solidFill>
                <a:latin typeface="Calibri"/>
              </a:rPr>
              <a:t>WHAT GIGAXONIN DOES — AND WHAT FAILS WITHOUT IT</a:t>
            </a:r>
          </a:p>
        </p:txBody>
      </p:sp>
      <p:sp>
        <p:nvSpPr>
          <p:cNvPr id="8" name="TextBox 7"/>
          <p:cNvSpPr txBox="1"/>
          <p:nvPr/>
        </p:nvSpPr>
        <p:spPr>
          <a:xfrm>
            <a:off x="640080" y="914400"/>
            <a:ext cx="10972800" cy="685800"/>
          </a:xfrm>
          <a:prstGeom prst="rect">
            <a:avLst/>
          </a:prstGeom>
          <a:noFill/>
        </p:spPr>
        <p:txBody>
          <a:bodyPr wrap="square" anchor="t" lIns="0" rIns="0" tIns="0" bIns="0">
            <a:spAutoFit/>
          </a:bodyPr>
          <a:lstStyle/>
          <a:p>
            <a:pPr algn="l">
              <a:lnSpc>
                <a:spcPct val="100000"/>
              </a:lnSpc>
              <a:spcAft>
                <a:spcPts val="400"/>
              </a:spcAft>
            </a:pPr>
            <a:r>
              <a:rPr sz="3000" b="0" i="0">
                <a:solidFill>
                  <a:srgbClr val="14213D"/>
                </a:solidFill>
                <a:latin typeface="Georgia"/>
              </a:rPr>
              <a:t>The cell's filament recycler goes missing</a:t>
            </a:r>
          </a:p>
        </p:txBody>
      </p:sp>
      <p:sp>
        <p:nvSpPr>
          <p:cNvPr id="9" name="TextBox 8"/>
          <p:cNvSpPr txBox="1"/>
          <p:nvPr/>
        </p:nvSpPr>
        <p:spPr>
          <a:xfrm>
            <a:off x="640080" y="1783080"/>
            <a:ext cx="5394960" cy="2651760"/>
          </a:xfrm>
          <a:prstGeom prst="rect">
            <a:avLst/>
          </a:prstGeom>
          <a:noFill/>
        </p:spPr>
        <p:txBody>
          <a:bodyPr wrap="square" lIns="0" rIns="0" tIns="0" bIns="0">
            <a:normAutofit/>
          </a:bodyPr>
          <a:lstStyle/>
          <a:p>
            <a:pPr marL="256032" indent="-256032">
              <a:lnSpc>
                <a:spcPct val="112000"/>
              </a:lnSpc>
              <a:spcAft>
                <a:spcPts val="700"/>
              </a:spcAft>
            </a:pPr>
            <a:r>
              <a:rPr sz="839">
                <a:solidFill>
                  <a:srgbClr val="1A9C8E"/>
                </a:solidFill>
                <a:latin typeface="Calibri"/>
              </a:rPr>
              <a:t>● </a:t>
            </a:r>
            <a:r>
              <a:rPr sz="1200" b="1" i="0">
                <a:solidFill>
                  <a:srgbClr val="4A5570"/>
                </a:solidFill>
                <a:latin typeface="Calibri"/>
              </a:rPr>
              <a:t>Normal role:</a:t>
            </a:r>
            <a:r>
              <a:rPr sz="1200" b="0" i="0">
                <a:solidFill>
                  <a:srgbClr val="4A5570"/>
                </a:solidFill>
                <a:latin typeface="Calibri"/>
              </a:rPr>
              <a:t> gigaxonin tags </a:t>
            </a:r>
            <a:r>
              <a:rPr sz="1200" b="1" i="0">
                <a:solidFill>
                  <a:srgbClr val="4A5570"/>
                </a:solidFill>
                <a:latin typeface="Calibri"/>
              </a:rPr>
              <a:t>intermediate filament (IF)</a:t>
            </a:r>
            <a:r>
              <a:rPr sz="1200" b="0" i="0">
                <a:solidFill>
                  <a:srgbClr val="4A5570"/>
                </a:solidFill>
                <a:latin typeface="Calibri"/>
              </a:rPr>
              <a:t> proteins — neurofilaments, vimentin, peripherin, GFAP, keratins — for degradation by the proteasome.</a:t>
            </a:r>
          </a:p>
          <a:p>
            <a:pPr marL="256032" indent="-256032">
              <a:lnSpc>
                <a:spcPct val="112000"/>
              </a:lnSpc>
              <a:spcAft>
                <a:spcPts val="700"/>
              </a:spcAft>
            </a:pPr>
            <a:r>
              <a:rPr sz="839">
                <a:solidFill>
                  <a:srgbClr val="1A9C8E"/>
                </a:solidFill>
                <a:latin typeface="Calibri"/>
              </a:rPr>
              <a:t>● </a:t>
            </a:r>
            <a:r>
              <a:rPr sz="1200" b="1" i="0">
                <a:solidFill>
                  <a:srgbClr val="4A5570"/>
                </a:solidFill>
                <a:latin typeface="Calibri"/>
              </a:rPr>
              <a:t>Without gigaxonin:</a:t>
            </a:r>
            <a:r>
              <a:rPr sz="1200" b="0" i="0">
                <a:solidFill>
                  <a:srgbClr val="4A5570"/>
                </a:solidFill>
                <a:latin typeface="Calibri"/>
              </a:rPr>
              <a:t> IFs are never cleared. They pile up into dense, disorganised aggregates that choke axonal transport.</a:t>
            </a:r>
          </a:p>
          <a:p>
            <a:pPr marL="256032" indent="-256032">
              <a:lnSpc>
                <a:spcPct val="112000"/>
              </a:lnSpc>
              <a:spcAft>
                <a:spcPts val="700"/>
              </a:spcAft>
            </a:pPr>
            <a:r>
              <a:rPr sz="839">
                <a:solidFill>
                  <a:srgbClr val="1A9C8E"/>
                </a:solidFill>
                <a:latin typeface="Calibri"/>
              </a:rPr>
              <a:t>● </a:t>
            </a:r>
            <a:r>
              <a:rPr sz="1200" b="1" i="0">
                <a:solidFill>
                  <a:srgbClr val="4A5570"/>
                </a:solidFill>
                <a:latin typeface="Calibri"/>
              </a:rPr>
              <a:t>Second hit — Sonic hedgehog (Shh) signalling:</a:t>
            </a:r>
            <a:r>
              <a:rPr sz="1200" b="0" i="0">
                <a:solidFill>
                  <a:srgbClr val="4A5570"/>
                </a:solidFill>
                <a:latin typeface="Calibri"/>
              </a:rPr>
              <a:t> gigaxonin also degrades the receptor </a:t>
            </a:r>
            <a:r>
              <a:rPr sz="1200" b="1" i="0">
                <a:solidFill>
                  <a:srgbClr val="4A5570"/>
                </a:solidFill>
                <a:latin typeface="Calibri"/>
              </a:rPr>
              <a:t>Patched (Ptch)</a:t>
            </a:r>
            <a:r>
              <a:rPr sz="1200" b="0" i="0">
                <a:solidFill>
                  <a:srgbClr val="4A5570"/>
                </a:solidFill>
                <a:latin typeface="Calibri"/>
              </a:rPr>
              <a:t>. When Ptch accumulates, it keeps </a:t>
            </a:r>
            <a:r>
              <a:rPr sz="1200" b="1" i="0">
                <a:solidFill>
                  <a:srgbClr val="4A5570"/>
                </a:solidFill>
                <a:latin typeface="Calibri"/>
              </a:rPr>
              <a:t>Smoothened (Smo)</a:t>
            </a:r>
            <a:r>
              <a:rPr sz="1200" b="0" i="0">
                <a:solidFill>
                  <a:srgbClr val="4A5570"/>
                </a:solidFill>
                <a:latin typeface="Calibri"/>
              </a:rPr>
              <a:t> switched off, so the Shh pathway — key for neural development and repair — stays </a:t>
            </a:r>
            <a:r>
              <a:rPr sz="1200" b="1" i="0">
                <a:solidFill>
                  <a:srgbClr val="4A5570"/>
                </a:solidFill>
                <a:latin typeface="Calibri"/>
              </a:rPr>
              <a:t>OFF</a:t>
            </a:r>
            <a:r>
              <a:rPr sz="1200" b="0" i="0">
                <a:solidFill>
                  <a:srgbClr val="4A5570"/>
                </a:solidFill>
                <a:latin typeface="Calibri"/>
              </a:rPr>
              <a:t>.</a:t>
            </a:r>
          </a:p>
        </p:txBody>
      </p:sp>
      <p:pic>
        <p:nvPicPr>
          <p:cNvPr id="10" name="Picture 9" descr="filament.jpg"/>
          <p:cNvPicPr>
            <a:picLocks noChangeAspect="1"/>
          </p:cNvPicPr>
          <p:nvPr/>
        </p:nvPicPr>
        <p:blipFill>
          <a:blip r:embed="rId2"/>
          <a:stretch>
            <a:fillRect/>
          </a:stretch>
        </p:blipFill>
        <p:spPr>
          <a:xfrm>
            <a:off x="640080" y="4343400"/>
            <a:ext cx="1910316" cy="1920240"/>
          </a:xfrm>
          <a:prstGeom prst="rect">
            <a:avLst/>
          </a:prstGeom>
        </p:spPr>
      </p:pic>
      <p:sp>
        <p:nvSpPr>
          <p:cNvPr id="11" name="TextBox 10"/>
          <p:cNvSpPr txBox="1"/>
          <p:nvPr/>
        </p:nvSpPr>
        <p:spPr>
          <a:xfrm>
            <a:off x="2697480" y="5074920"/>
            <a:ext cx="3291840" cy="320040"/>
          </a:xfrm>
          <a:prstGeom prst="rect">
            <a:avLst/>
          </a:prstGeom>
          <a:noFill/>
        </p:spPr>
        <p:txBody>
          <a:bodyPr wrap="square" lIns="0" rIns="0" tIns="0" bIns="0">
            <a:spAutoFit/>
          </a:bodyPr>
          <a:lstStyle/>
          <a:p>
            <a:r>
              <a:rPr sz="850" b="1" i="0">
                <a:solidFill>
                  <a:srgbClr val="14213D"/>
                </a:solidFill>
                <a:latin typeface="Calibri"/>
              </a:rPr>
              <a:t>INTERMEDIATE FILAMENT AGGREGATE  </a:t>
            </a:r>
            <a:r>
              <a:rPr sz="900" b="0" i="0">
                <a:solidFill>
                  <a:srgbClr val="4A5570"/>
                </a:solidFill>
                <a:latin typeface="Calibri"/>
              </a:rPr>
              <a:t>Patient cell — the hallmark of gigaxonin loss (arrow), N = nucleus</a:t>
            </a:r>
          </a:p>
        </p:txBody>
      </p:sp>
      <p:pic>
        <p:nvPicPr>
          <p:cNvPr id="12" name="Picture 11" descr="pathway.jpg"/>
          <p:cNvPicPr>
            <a:picLocks noChangeAspect="1"/>
          </p:cNvPicPr>
          <p:nvPr/>
        </p:nvPicPr>
        <p:blipFill>
          <a:blip r:embed="rId3"/>
          <a:stretch>
            <a:fillRect/>
          </a:stretch>
        </p:blipFill>
        <p:spPr>
          <a:xfrm>
            <a:off x="6400800" y="1899458"/>
            <a:ext cx="5212080" cy="3790603"/>
          </a:xfrm>
          <a:prstGeom prst="rect">
            <a:avLst/>
          </a:prstGeom>
        </p:spPr>
      </p:pic>
      <p:sp>
        <p:nvSpPr>
          <p:cNvPr id="13" name="TextBox 12"/>
          <p:cNvSpPr txBox="1"/>
          <p:nvPr/>
        </p:nvSpPr>
        <p:spPr>
          <a:xfrm>
            <a:off x="6400800" y="5781501"/>
            <a:ext cx="5212080" cy="320040"/>
          </a:xfrm>
          <a:prstGeom prst="rect">
            <a:avLst/>
          </a:prstGeom>
          <a:noFill/>
        </p:spPr>
        <p:txBody>
          <a:bodyPr wrap="square" lIns="0" rIns="0" tIns="0" bIns="0">
            <a:spAutoFit/>
          </a:bodyPr>
          <a:lstStyle/>
          <a:p>
            <a:r>
              <a:rPr sz="850" b="1" i="0">
                <a:solidFill>
                  <a:srgbClr val="14213D"/>
                </a:solidFill>
                <a:latin typeface="Calibri"/>
              </a:rPr>
              <a:t>AFFECTED PATHWAY  </a:t>
            </a:r>
            <a:r>
              <a:rPr sz="900" b="0" i="0">
                <a:solidFill>
                  <a:srgbClr val="4A5570"/>
                </a:solidFill>
                <a:latin typeface="Calibri"/>
              </a:rPr>
              <a:t>With gigaxonin → Shh ON  ·  Without gigaxonin → Shh 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4A5570"/>
                </a:solidFill>
                <a:latin typeface="Calibri"/>
              </a:rPr>
              <a:t>03 · PHENOTYPE</a:t>
            </a:r>
          </a:p>
        </p:txBody>
      </p:sp>
      <p:sp>
        <p:nvSpPr>
          <p:cNvPr id="3" name="TextBox 2"/>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GIANT AXONAL NEUROPATHY</a:t>
            </a:r>
          </a:p>
        </p:txBody>
      </p:sp>
      <p:sp>
        <p:nvSpPr>
          <p:cNvPr id="4" name="TextBox 3"/>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04 / 08</a:t>
            </a:r>
          </a:p>
        </p:txBody>
      </p:sp>
      <p:sp>
        <p:nvSpPr>
          <p:cNvPr id="5" name="Rectangle 4"/>
          <p:cNvSpPr/>
          <p:nvPr/>
        </p:nvSpPr>
        <p:spPr>
          <a:xfrm>
            <a:off x="0" y="0"/>
            <a:ext cx="6095847"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640080" y="740664"/>
            <a:ext cx="320039" cy="0"/>
          </a:xfrm>
          <a:prstGeom prst="line">
            <a:avLst/>
          </a:prstGeom>
          <a:ln w="19050">
            <a:solidFill>
              <a:srgbClr val="E4572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51560" y="640080"/>
            <a:ext cx="54864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E4572E"/>
                </a:solidFill>
                <a:latin typeface="Calibri"/>
              </a:rPr>
              <a:t>THE PHENOTYPE, CELL BY CELL</a:t>
            </a:r>
          </a:p>
        </p:txBody>
      </p:sp>
      <p:sp>
        <p:nvSpPr>
          <p:cNvPr id="8" name="TextBox 7"/>
          <p:cNvSpPr txBox="1"/>
          <p:nvPr/>
        </p:nvSpPr>
        <p:spPr>
          <a:xfrm>
            <a:off x="640080" y="914400"/>
            <a:ext cx="6400800" cy="685800"/>
          </a:xfrm>
          <a:prstGeom prst="rect">
            <a:avLst/>
          </a:prstGeom>
          <a:noFill/>
        </p:spPr>
        <p:txBody>
          <a:bodyPr wrap="square" anchor="t" lIns="0" rIns="0" tIns="0" bIns="0">
            <a:spAutoFit/>
          </a:bodyPr>
          <a:lstStyle/>
          <a:p>
            <a:pPr algn="l">
              <a:lnSpc>
                <a:spcPct val="100000"/>
              </a:lnSpc>
              <a:spcAft>
                <a:spcPts val="400"/>
              </a:spcAft>
            </a:pPr>
            <a:r>
              <a:rPr sz="3000" b="0" i="0">
                <a:solidFill>
                  <a:srgbClr val="14213D"/>
                </a:solidFill>
                <a:latin typeface="Georgia"/>
              </a:rPr>
              <a:t>Axons that swell into giants</a:t>
            </a:r>
          </a:p>
        </p:txBody>
      </p:sp>
      <p:sp>
        <p:nvSpPr>
          <p:cNvPr id="9" name="TextBox 8"/>
          <p:cNvSpPr txBox="1"/>
          <p:nvPr/>
        </p:nvSpPr>
        <p:spPr>
          <a:xfrm>
            <a:off x="640080" y="1783080"/>
            <a:ext cx="6400800" cy="2651760"/>
          </a:xfrm>
          <a:prstGeom prst="rect">
            <a:avLst/>
          </a:prstGeom>
          <a:noFill/>
        </p:spPr>
        <p:txBody>
          <a:bodyPr wrap="square" lIns="0" rIns="0" tIns="0" bIns="0">
            <a:normAutofit/>
          </a:bodyPr>
          <a:lstStyle/>
          <a:p>
            <a:pPr marL="256032" indent="-256032">
              <a:lnSpc>
                <a:spcPct val="112000"/>
              </a:lnSpc>
              <a:spcAft>
                <a:spcPts val="700"/>
              </a:spcAft>
            </a:pPr>
            <a:r>
              <a:rPr sz="839">
                <a:solidFill>
                  <a:srgbClr val="E4572E"/>
                </a:solidFill>
                <a:latin typeface="Calibri"/>
              </a:rPr>
              <a:t>● </a:t>
            </a:r>
            <a:r>
              <a:rPr sz="1200" b="1" i="0">
                <a:solidFill>
                  <a:srgbClr val="4A5570"/>
                </a:solidFill>
                <a:latin typeface="Calibri"/>
              </a:rPr>
              <a:t>Focal axonal swellings</a:t>
            </a:r>
            <a:r>
              <a:rPr sz="1200" b="0" i="0">
                <a:solidFill>
                  <a:srgbClr val="4A5570"/>
                </a:solidFill>
                <a:latin typeface="Calibri"/>
              </a:rPr>
              <a:t> several times the normal diameter, packed with tangled neurofilaments — the "giant axons" that name the disease.</a:t>
            </a:r>
          </a:p>
          <a:p>
            <a:pPr marL="256032" indent="-256032">
              <a:lnSpc>
                <a:spcPct val="112000"/>
              </a:lnSpc>
              <a:spcAft>
                <a:spcPts val="700"/>
              </a:spcAft>
            </a:pPr>
            <a:r>
              <a:rPr sz="839">
                <a:solidFill>
                  <a:srgbClr val="E4572E"/>
                </a:solidFill>
                <a:latin typeface="Calibri"/>
              </a:rPr>
              <a:t>● </a:t>
            </a:r>
            <a:r>
              <a:rPr sz="1200" b="1" i="0">
                <a:solidFill>
                  <a:srgbClr val="4A5570"/>
                </a:solidFill>
                <a:latin typeface="Calibri"/>
              </a:rPr>
              <a:t>Myelin thins and degenerates</a:t>
            </a:r>
            <a:r>
              <a:rPr sz="1200" b="0" i="0">
                <a:solidFill>
                  <a:srgbClr val="4A5570"/>
                </a:solidFill>
                <a:latin typeface="Calibri"/>
              </a:rPr>
              <a:t> over each swelling; conduction slows, then fails.</a:t>
            </a:r>
          </a:p>
          <a:p>
            <a:pPr marL="256032" indent="-256032">
              <a:lnSpc>
                <a:spcPct val="112000"/>
              </a:lnSpc>
              <a:spcAft>
                <a:spcPts val="700"/>
              </a:spcAft>
            </a:pPr>
            <a:r>
              <a:rPr sz="839">
                <a:solidFill>
                  <a:srgbClr val="E4572E"/>
                </a:solidFill>
                <a:latin typeface="Calibri"/>
              </a:rPr>
              <a:t>● </a:t>
            </a:r>
            <a:r>
              <a:rPr sz="1200" b="1" i="0">
                <a:solidFill>
                  <a:srgbClr val="4A5570"/>
                </a:solidFill>
                <a:latin typeface="Calibri"/>
              </a:rPr>
              <a:t>Both nervous systems are hit:</a:t>
            </a:r>
            <a:r>
              <a:rPr sz="1200" b="0" i="0">
                <a:solidFill>
                  <a:srgbClr val="4A5570"/>
                </a:solidFill>
                <a:latin typeface="Calibri"/>
              </a:rPr>
              <a:t> peripheral sensory and motor nerves (PNS) and the cerebellum, brainstem and long white-matter tracts (CNS).</a:t>
            </a:r>
          </a:p>
          <a:p>
            <a:pPr marL="256032" indent="-256032">
              <a:lnSpc>
                <a:spcPct val="112000"/>
              </a:lnSpc>
              <a:spcAft>
                <a:spcPts val="700"/>
              </a:spcAft>
            </a:pPr>
            <a:r>
              <a:rPr sz="839">
                <a:solidFill>
                  <a:srgbClr val="E4572E"/>
                </a:solidFill>
                <a:latin typeface="Calibri"/>
              </a:rPr>
              <a:t>● </a:t>
            </a:r>
            <a:r>
              <a:rPr sz="1200" b="1" i="0">
                <a:solidFill>
                  <a:srgbClr val="4A5570"/>
                </a:solidFill>
                <a:latin typeface="Calibri"/>
              </a:rPr>
              <a:t>Not only neurons:</a:t>
            </a:r>
            <a:r>
              <a:rPr sz="1200" b="0" i="0">
                <a:solidFill>
                  <a:srgbClr val="4A5570"/>
                </a:solidFill>
                <a:latin typeface="Calibri"/>
              </a:rPr>
              <a:t> astrocytes fill with GFAP aggregates (Rosenthal fibres); disordered keratin filaments give the characteristic </a:t>
            </a:r>
            <a:r>
              <a:rPr sz="1200" b="1" i="0">
                <a:solidFill>
                  <a:srgbClr val="4A5570"/>
                </a:solidFill>
                <a:latin typeface="Calibri"/>
              </a:rPr>
              <a:t>tightly curled, "kinky" hair</a:t>
            </a:r>
            <a:r>
              <a:rPr sz="1200" b="0" i="0">
                <a:solidFill>
                  <a:srgbClr val="4A5570"/>
                </a:solidFill>
                <a:latin typeface="Calibri"/>
              </a:rPr>
              <a:t>.</a:t>
            </a:r>
          </a:p>
        </p:txBody>
      </p:sp>
      <p:sp>
        <p:nvSpPr>
          <p:cNvPr id="10" name="Rounded Rectangle 9"/>
          <p:cNvSpPr/>
          <p:nvPr/>
        </p:nvSpPr>
        <p:spPr>
          <a:xfrm>
            <a:off x="640080" y="4572000"/>
            <a:ext cx="2011680" cy="16916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4709160"/>
            <a:ext cx="1682496" cy="405130"/>
          </a:xfrm>
          <a:prstGeom prst="rect">
            <a:avLst/>
          </a:prstGeom>
          <a:noFill/>
        </p:spPr>
        <p:txBody>
          <a:bodyPr wrap="square" anchor="t" lIns="0" rIns="0" tIns="0" bIns="0">
            <a:spAutoFit/>
          </a:bodyPr>
          <a:lstStyle/>
          <a:p>
            <a:pPr algn="l">
              <a:lnSpc>
                <a:spcPct val="100000"/>
              </a:lnSpc>
              <a:spcAft>
                <a:spcPts val="400"/>
              </a:spcAft>
            </a:pPr>
            <a:r>
              <a:rPr sz="2200" b="0" i="0">
                <a:solidFill>
                  <a:srgbClr val="E4572E"/>
                </a:solidFill>
                <a:latin typeface="Georgia"/>
              </a:rPr>
              <a:t>3–5×</a:t>
            </a:r>
          </a:p>
        </p:txBody>
      </p:sp>
      <p:sp>
        <p:nvSpPr>
          <p:cNvPr id="12" name="TextBox 11"/>
          <p:cNvSpPr txBox="1"/>
          <p:nvPr/>
        </p:nvSpPr>
        <p:spPr>
          <a:xfrm>
            <a:off x="804671" y="5160010"/>
            <a:ext cx="1682496" cy="101219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typical diameter of a swollen "giant" axon vs. a healthy one</a:t>
            </a:r>
          </a:p>
        </p:txBody>
      </p:sp>
      <p:sp>
        <p:nvSpPr>
          <p:cNvPr id="13" name="Rounded Rectangle 12"/>
          <p:cNvSpPr/>
          <p:nvPr/>
        </p:nvSpPr>
        <p:spPr>
          <a:xfrm>
            <a:off x="2834639" y="4572000"/>
            <a:ext cx="2011680" cy="16916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99232" y="4709160"/>
            <a:ext cx="1682496" cy="405130"/>
          </a:xfrm>
          <a:prstGeom prst="rect">
            <a:avLst/>
          </a:prstGeom>
          <a:noFill/>
        </p:spPr>
        <p:txBody>
          <a:bodyPr wrap="square" anchor="t" lIns="0" rIns="0" tIns="0" bIns="0">
            <a:spAutoFit/>
          </a:bodyPr>
          <a:lstStyle/>
          <a:p>
            <a:pPr algn="l">
              <a:lnSpc>
                <a:spcPct val="100000"/>
              </a:lnSpc>
              <a:spcAft>
                <a:spcPts val="400"/>
              </a:spcAft>
            </a:pPr>
            <a:r>
              <a:rPr sz="2200" b="0" i="0">
                <a:solidFill>
                  <a:srgbClr val="14213D"/>
                </a:solidFill>
                <a:latin typeface="Georgia"/>
              </a:rPr>
              <a:t>PNS + CNS</a:t>
            </a:r>
          </a:p>
        </p:txBody>
      </p:sp>
      <p:sp>
        <p:nvSpPr>
          <p:cNvPr id="15" name="TextBox 14"/>
          <p:cNvSpPr txBox="1"/>
          <p:nvPr/>
        </p:nvSpPr>
        <p:spPr>
          <a:xfrm>
            <a:off x="2999232" y="5160010"/>
            <a:ext cx="1682496" cy="101219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a length-dependent axonopathy that later becomes a whole-brain disease</a:t>
            </a:r>
          </a:p>
        </p:txBody>
      </p:sp>
      <p:sp>
        <p:nvSpPr>
          <p:cNvPr id="16" name="Rounded Rectangle 15"/>
          <p:cNvSpPr/>
          <p:nvPr/>
        </p:nvSpPr>
        <p:spPr>
          <a:xfrm>
            <a:off x="5029200" y="4572000"/>
            <a:ext cx="2011680" cy="16916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93792" y="4709160"/>
            <a:ext cx="1682496" cy="405130"/>
          </a:xfrm>
          <a:prstGeom prst="rect">
            <a:avLst/>
          </a:prstGeom>
          <a:noFill/>
        </p:spPr>
        <p:txBody>
          <a:bodyPr wrap="square" anchor="t" lIns="0" rIns="0" tIns="0" bIns="0">
            <a:spAutoFit/>
          </a:bodyPr>
          <a:lstStyle/>
          <a:p>
            <a:pPr algn="l">
              <a:lnSpc>
                <a:spcPct val="100000"/>
              </a:lnSpc>
              <a:spcAft>
                <a:spcPts val="400"/>
              </a:spcAft>
            </a:pPr>
            <a:r>
              <a:rPr sz="2200" b="0" i="0">
                <a:solidFill>
                  <a:srgbClr val="1A9C8E"/>
                </a:solidFill>
                <a:latin typeface="Georgia"/>
              </a:rPr>
              <a:t>MRI</a:t>
            </a:r>
          </a:p>
        </p:txBody>
      </p:sp>
      <p:sp>
        <p:nvSpPr>
          <p:cNvPr id="18" name="TextBox 17"/>
          <p:cNvSpPr txBox="1"/>
          <p:nvPr/>
        </p:nvSpPr>
        <p:spPr>
          <a:xfrm>
            <a:off x="5193792" y="5160010"/>
            <a:ext cx="1682496" cy="101219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white-matter signal change in cerebellum and brainstem supports diagnosis</a:t>
            </a:r>
          </a:p>
        </p:txBody>
      </p:sp>
      <p:pic>
        <p:nvPicPr>
          <p:cNvPr id="19" name="Picture 18" descr="neuron.jpg"/>
          <p:cNvPicPr>
            <a:picLocks noChangeAspect="1"/>
          </p:cNvPicPr>
          <p:nvPr/>
        </p:nvPicPr>
        <p:blipFill>
          <a:blip r:embed="rId2"/>
          <a:stretch>
            <a:fillRect/>
          </a:stretch>
        </p:blipFill>
        <p:spPr>
          <a:xfrm>
            <a:off x="7406640" y="863301"/>
            <a:ext cx="4206240" cy="4948517"/>
          </a:xfrm>
          <a:prstGeom prst="rect">
            <a:avLst/>
          </a:prstGeom>
        </p:spPr>
      </p:pic>
      <p:sp>
        <p:nvSpPr>
          <p:cNvPr id="20" name="TextBox 19"/>
          <p:cNvSpPr txBox="1"/>
          <p:nvPr/>
        </p:nvSpPr>
        <p:spPr>
          <a:xfrm>
            <a:off x="7406640" y="5884970"/>
            <a:ext cx="4206240" cy="320040"/>
          </a:xfrm>
          <a:prstGeom prst="rect">
            <a:avLst/>
          </a:prstGeom>
          <a:noFill/>
        </p:spPr>
        <p:txBody>
          <a:bodyPr wrap="square" lIns="0" rIns="0" tIns="0" bIns="0">
            <a:spAutoFit/>
          </a:bodyPr>
          <a:lstStyle/>
          <a:p>
            <a:r>
              <a:rPr sz="850" b="1" i="0">
                <a:solidFill>
                  <a:srgbClr val="14213D"/>
                </a:solidFill>
                <a:latin typeface="Calibri"/>
              </a:rPr>
              <a:t>NORMAL VS GAN  </a:t>
            </a:r>
            <a:r>
              <a:rPr sz="900" b="0" i="0">
                <a:solidFill>
                  <a:srgbClr val="4A5570"/>
                </a:solidFill>
                <a:latin typeface="Calibri"/>
              </a:rPr>
              <a:t>Neurofilament accumulation → axonal swelling → myelin loss, in CNS and PNS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4A5570"/>
                </a:solidFill>
                <a:latin typeface="Calibri"/>
              </a:rPr>
              <a:t>04 · SYMPTOMS</a:t>
            </a:r>
          </a:p>
        </p:txBody>
      </p:sp>
      <p:sp>
        <p:nvSpPr>
          <p:cNvPr id="3" name="TextBox 2"/>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GIANT AXONAL NEUROPATHY</a:t>
            </a:r>
          </a:p>
        </p:txBody>
      </p:sp>
      <p:sp>
        <p:nvSpPr>
          <p:cNvPr id="4" name="TextBox 3"/>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05 / 08</a:t>
            </a:r>
          </a:p>
        </p:txBody>
      </p:sp>
      <p:sp>
        <p:nvSpPr>
          <p:cNvPr id="5" name="Rectangle 4"/>
          <p:cNvSpPr/>
          <p:nvPr/>
        </p:nvSpPr>
        <p:spPr>
          <a:xfrm>
            <a:off x="0" y="0"/>
            <a:ext cx="7619809"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640080" y="923544"/>
            <a:ext cx="320039" cy="0"/>
          </a:xfrm>
          <a:prstGeom prst="line">
            <a:avLst/>
          </a:prstGeom>
          <a:ln w="19050">
            <a:solidFill>
              <a:srgbClr val="E4572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51560" y="822960"/>
            <a:ext cx="54864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E4572E"/>
                </a:solidFill>
                <a:latin typeface="Calibri"/>
              </a:rPr>
              <a:t>SYMPTOMS AND CLINICAL COURSE</a:t>
            </a:r>
          </a:p>
        </p:txBody>
      </p:sp>
      <p:sp>
        <p:nvSpPr>
          <p:cNvPr id="8" name="TextBox 7"/>
          <p:cNvSpPr txBox="1"/>
          <p:nvPr/>
        </p:nvSpPr>
        <p:spPr>
          <a:xfrm>
            <a:off x="640080" y="1097280"/>
            <a:ext cx="10515600" cy="685800"/>
          </a:xfrm>
          <a:prstGeom prst="rect">
            <a:avLst/>
          </a:prstGeom>
          <a:noFill/>
        </p:spPr>
        <p:txBody>
          <a:bodyPr wrap="square" anchor="t" lIns="0" rIns="0" tIns="0" bIns="0">
            <a:spAutoFit/>
          </a:bodyPr>
          <a:lstStyle/>
          <a:p>
            <a:pPr algn="l">
              <a:lnSpc>
                <a:spcPct val="100000"/>
              </a:lnSpc>
              <a:spcAft>
                <a:spcPts val="400"/>
              </a:spcAft>
            </a:pPr>
            <a:r>
              <a:rPr sz="3000" b="0" i="0">
                <a:solidFill>
                  <a:srgbClr val="14213D"/>
                </a:solidFill>
                <a:latin typeface="Georgia"/>
              </a:rPr>
              <a:t>A slow, relentless loss — from the feet upward</a:t>
            </a:r>
          </a:p>
        </p:txBody>
      </p:sp>
      <p:sp>
        <p:nvSpPr>
          <p:cNvPr id="9" name="TextBox 8"/>
          <p:cNvSpPr txBox="1"/>
          <p:nvPr/>
        </p:nvSpPr>
        <p:spPr>
          <a:xfrm>
            <a:off x="640080" y="1828800"/>
            <a:ext cx="8686800" cy="731520"/>
          </a:xfrm>
          <a:prstGeom prst="rect">
            <a:avLst/>
          </a:prstGeom>
          <a:noFill/>
        </p:spPr>
        <p:txBody>
          <a:bodyPr wrap="square" anchor="t" lIns="0" rIns="0" tIns="0" bIns="0">
            <a:normAutofit/>
          </a:bodyPr>
          <a:lstStyle/>
          <a:p>
            <a:pPr algn="l">
              <a:lnSpc>
                <a:spcPct val="110000"/>
              </a:lnSpc>
              <a:spcAft>
                <a:spcPts val="400"/>
              </a:spcAft>
            </a:pPr>
            <a:r>
              <a:rPr sz="1400" b="0" i="0">
                <a:solidFill>
                  <a:srgbClr val="4A5570"/>
                </a:solidFill>
                <a:latin typeface="Calibri"/>
              </a:rPr>
              <a:t>GAN typically presents in a toddler who walks "clumsily", and progresses over two decades from peripheral weakness to whole-brain involvement.</a:t>
            </a:r>
          </a:p>
        </p:txBody>
      </p:sp>
      <p:cxnSp>
        <p:nvCxnSpPr>
          <p:cNvPr id="10" name="Connector 9"/>
          <p:cNvCxnSpPr/>
          <p:nvPr/>
        </p:nvCxnSpPr>
        <p:spPr>
          <a:xfrm>
            <a:off x="640080" y="2971800"/>
            <a:ext cx="10881360" cy="0"/>
          </a:xfrm>
          <a:prstGeom prst="line">
            <a:avLst/>
          </a:prstGeom>
          <a:ln w="25400">
            <a:solidFill>
              <a:srgbClr val="DCD8CE"/>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21792" y="2862072"/>
            <a:ext cx="219456" cy="219456"/>
          </a:xfrm>
          <a:prstGeom prst="ellipse">
            <a:avLst/>
          </a:prstGeom>
          <a:solidFill>
            <a:srgbClr val="F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1792" y="2862072"/>
            <a:ext cx="219456" cy="219456"/>
          </a:xfrm>
          <a:prstGeom prst="ellipse">
            <a:avLst/>
          </a:prstGeom>
          <a:solidFill>
            <a:srgbClr val="F6F3EC"/>
          </a:solidFill>
          <a:ln w="31750">
            <a:solidFill>
              <a:srgbClr val="1A9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46120"/>
            <a:ext cx="2514600" cy="274320"/>
          </a:xfrm>
          <a:prstGeom prst="rect">
            <a:avLst/>
          </a:prstGeom>
          <a:noFill/>
        </p:spPr>
        <p:txBody>
          <a:bodyPr wrap="square" anchor="t" lIns="0" rIns="0" tIns="0" bIns="0">
            <a:spAutoFit/>
          </a:bodyPr>
          <a:lstStyle/>
          <a:p>
            <a:pPr algn="l">
              <a:lnSpc>
                <a:spcPct val="110000"/>
              </a:lnSpc>
              <a:spcAft>
                <a:spcPts val="400"/>
              </a:spcAft>
            </a:pPr>
            <a:r>
              <a:rPr sz="850" b="1" i="0">
                <a:solidFill>
                  <a:srgbClr val="1A9C8E"/>
                </a:solidFill>
                <a:latin typeface="Calibri"/>
              </a:rPr>
              <a:t>ONSET · ≈ 3 YEARS</a:t>
            </a:r>
          </a:p>
        </p:txBody>
      </p:sp>
      <p:sp>
        <p:nvSpPr>
          <p:cNvPr id="14" name="TextBox 13"/>
          <p:cNvSpPr txBox="1"/>
          <p:nvPr/>
        </p:nvSpPr>
        <p:spPr>
          <a:xfrm>
            <a:off x="640080" y="3520440"/>
            <a:ext cx="2514600" cy="411480"/>
          </a:xfrm>
          <a:prstGeom prst="rect">
            <a:avLst/>
          </a:prstGeom>
          <a:noFill/>
        </p:spPr>
        <p:txBody>
          <a:bodyPr wrap="square" anchor="t" lIns="0" rIns="0" tIns="0" bIns="0">
            <a:spAutoFit/>
          </a:bodyPr>
          <a:lstStyle/>
          <a:p>
            <a:pPr algn="l">
              <a:lnSpc>
                <a:spcPct val="110000"/>
              </a:lnSpc>
              <a:spcAft>
                <a:spcPts val="400"/>
              </a:spcAft>
            </a:pPr>
            <a:r>
              <a:rPr sz="1500" b="1" i="0">
                <a:solidFill>
                  <a:srgbClr val="14213D"/>
                </a:solidFill>
                <a:latin typeface="Calibri"/>
              </a:rPr>
              <a:t>The clumsy walker</a:t>
            </a:r>
          </a:p>
        </p:txBody>
      </p:sp>
      <p:sp>
        <p:nvSpPr>
          <p:cNvPr id="15" name="TextBox 14"/>
          <p:cNvSpPr txBox="1"/>
          <p:nvPr/>
        </p:nvSpPr>
        <p:spPr>
          <a:xfrm>
            <a:off x="640080" y="3977639"/>
            <a:ext cx="2514600" cy="1828800"/>
          </a:xfrm>
          <a:prstGeom prst="rect">
            <a:avLst/>
          </a:prstGeom>
          <a:noFill/>
        </p:spPr>
        <p:txBody>
          <a:bodyPr wrap="square" anchor="t" lIns="0" rIns="0" tIns="0" bIns="0">
            <a:normAutofit/>
          </a:bodyPr>
          <a:lstStyle/>
          <a:p>
            <a:pPr algn="l">
              <a:lnSpc>
                <a:spcPct val="115000"/>
              </a:lnSpc>
              <a:spcAft>
                <a:spcPts val="400"/>
              </a:spcAft>
            </a:pPr>
            <a:r>
              <a:rPr sz="1150" b="0" i="0">
                <a:solidFill>
                  <a:srgbClr val="4A5570"/>
                </a:solidFill>
                <a:latin typeface="Calibri"/>
              </a:rPr>
              <a:t>Unsteady gait, frequent falls, weakness in feet and hands, high-arched feet (pes cavus), diminished reflexes. Tightly curled hair unlike either parent is a visible clue.</a:t>
            </a:r>
          </a:p>
        </p:txBody>
      </p:sp>
      <p:sp>
        <p:nvSpPr>
          <p:cNvPr id="16" name="Oval 15"/>
          <p:cNvSpPr/>
          <p:nvPr/>
        </p:nvSpPr>
        <p:spPr>
          <a:xfrm>
            <a:off x="3410712" y="2862072"/>
            <a:ext cx="219456" cy="219456"/>
          </a:xfrm>
          <a:prstGeom prst="ellipse">
            <a:avLst/>
          </a:prstGeom>
          <a:solidFill>
            <a:srgbClr val="F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410712" y="2862072"/>
            <a:ext cx="219456" cy="219456"/>
          </a:xfrm>
          <a:prstGeom prst="ellipse">
            <a:avLst/>
          </a:prstGeom>
          <a:solidFill>
            <a:srgbClr val="F6F3EC"/>
          </a:solidFill>
          <a:ln w="31750">
            <a:solidFill>
              <a:srgbClr val="B780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3246120"/>
            <a:ext cx="2514600" cy="274320"/>
          </a:xfrm>
          <a:prstGeom prst="rect">
            <a:avLst/>
          </a:prstGeom>
          <a:noFill/>
        </p:spPr>
        <p:txBody>
          <a:bodyPr wrap="square" anchor="t" lIns="0" rIns="0" tIns="0" bIns="0">
            <a:spAutoFit/>
          </a:bodyPr>
          <a:lstStyle/>
          <a:p>
            <a:pPr algn="l">
              <a:lnSpc>
                <a:spcPct val="110000"/>
              </a:lnSpc>
              <a:spcAft>
                <a:spcPts val="400"/>
              </a:spcAft>
            </a:pPr>
            <a:r>
              <a:rPr sz="850" b="1" i="0">
                <a:solidFill>
                  <a:srgbClr val="B7801E"/>
                </a:solidFill>
                <a:latin typeface="Calibri"/>
              </a:rPr>
              <a:t>CHILDHOOD · 5–10 YEARS</a:t>
            </a:r>
          </a:p>
        </p:txBody>
      </p:sp>
      <p:sp>
        <p:nvSpPr>
          <p:cNvPr id="19" name="TextBox 18"/>
          <p:cNvSpPr txBox="1"/>
          <p:nvPr/>
        </p:nvSpPr>
        <p:spPr>
          <a:xfrm>
            <a:off x="3429000" y="3520440"/>
            <a:ext cx="2514600" cy="411480"/>
          </a:xfrm>
          <a:prstGeom prst="rect">
            <a:avLst/>
          </a:prstGeom>
          <a:noFill/>
        </p:spPr>
        <p:txBody>
          <a:bodyPr wrap="square" anchor="t" lIns="0" rIns="0" tIns="0" bIns="0">
            <a:spAutoFit/>
          </a:bodyPr>
          <a:lstStyle/>
          <a:p>
            <a:pPr algn="l">
              <a:lnSpc>
                <a:spcPct val="110000"/>
              </a:lnSpc>
              <a:spcAft>
                <a:spcPts val="400"/>
              </a:spcAft>
            </a:pPr>
            <a:r>
              <a:rPr sz="1500" b="1" i="0">
                <a:solidFill>
                  <a:srgbClr val="14213D"/>
                </a:solidFill>
                <a:latin typeface="Calibri"/>
              </a:rPr>
              <a:t>Peripheral neuropathy</a:t>
            </a:r>
          </a:p>
        </p:txBody>
      </p:sp>
      <p:sp>
        <p:nvSpPr>
          <p:cNvPr id="20" name="TextBox 19"/>
          <p:cNvSpPr txBox="1"/>
          <p:nvPr/>
        </p:nvSpPr>
        <p:spPr>
          <a:xfrm>
            <a:off x="3429000" y="3977639"/>
            <a:ext cx="2514600" cy="1828800"/>
          </a:xfrm>
          <a:prstGeom prst="rect">
            <a:avLst/>
          </a:prstGeom>
          <a:noFill/>
        </p:spPr>
        <p:txBody>
          <a:bodyPr wrap="square" anchor="t" lIns="0" rIns="0" tIns="0" bIns="0">
            <a:normAutofit/>
          </a:bodyPr>
          <a:lstStyle/>
          <a:p>
            <a:pPr algn="l">
              <a:lnSpc>
                <a:spcPct val="115000"/>
              </a:lnSpc>
              <a:spcAft>
                <a:spcPts val="400"/>
              </a:spcAft>
            </a:pPr>
            <a:r>
              <a:rPr sz="1150" b="0" i="0">
                <a:solidFill>
                  <a:srgbClr val="4A5570"/>
                </a:solidFill>
                <a:latin typeface="Calibri"/>
              </a:rPr>
              <a:t>Loss of vibration and position sense, absent reflexes, muscle wasting below knees and elbows. Nerve biopsy shows giant axons; genetic testing confirms GAN variants.</a:t>
            </a:r>
          </a:p>
        </p:txBody>
      </p:sp>
      <p:sp>
        <p:nvSpPr>
          <p:cNvPr id="21" name="Oval 20"/>
          <p:cNvSpPr/>
          <p:nvPr/>
        </p:nvSpPr>
        <p:spPr>
          <a:xfrm>
            <a:off x="6199632" y="2862072"/>
            <a:ext cx="219456" cy="219456"/>
          </a:xfrm>
          <a:prstGeom prst="ellipse">
            <a:avLst/>
          </a:prstGeom>
          <a:solidFill>
            <a:srgbClr val="F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199632" y="2862072"/>
            <a:ext cx="219456" cy="219456"/>
          </a:xfrm>
          <a:prstGeom prst="ellipse">
            <a:avLst/>
          </a:prstGeom>
          <a:solidFill>
            <a:srgbClr val="F6F3EC"/>
          </a:solidFill>
          <a:ln w="31750">
            <a:solidFill>
              <a:srgbClr val="E45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3246120"/>
            <a:ext cx="2514600" cy="274320"/>
          </a:xfrm>
          <a:prstGeom prst="rect">
            <a:avLst/>
          </a:prstGeom>
          <a:noFill/>
        </p:spPr>
        <p:txBody>
          <a:bodyPr wrap="square" anchor="t" lIns="0" rIns="0" tIns="0" bIns="0">
            <a:spAutoFit/>
          </a:bodyPr>
          <a:lstStyle/>
          <a:p>
            <a:pPr algn="l">
              <a:lnSpc>
                <a:spcPct val="110000"/>
              </a:lnSpc>
              <a:spcAft>
                <a:spcPts val="400"/>
              </a:spcAft>
            </a:pPr>
            <a:r>
              <a:rPr sz="850" b="1" i="0">
                <a:solidFill>
                  <a:srgbClr val="E4572E"/>
                </a:solidFill>
                <a:latin typeface="Calibri"/>
              </a:rPr>
              <a:t>ADOLESCENCE</a:t>
            </a:r>
          </a:p>
        </p:txBody>
      </p:sp>
      <p:sp>
        <p:nvSpPr>
          <p:cNvPr id="24" name="TextBox 23"/>
          <p:cNvSpPr txBox="1"/>
          <p:nvPr/>
        </p:nvSpPr>
        <p:spPr>
          <a:xfrm>
            <a:off x="6217920" y="3520440"/>
            <a:ext cx="2514600" cy="411480"/>
          </a:xfrm>
          <a:prstGeom prst="rect">
            <a:avLst/>
          </a:prstGeom>
          <a:noFill/>
        </p:spPr>
        <p:txBody>
          <a:bodyPr wrap="square" anchor="t" lIns="0" rIns="0" tIns="0" bIns="0">
            <a:spAutoFit/>
          </a:bodyPr>
          <a:lstStyle/>
          <a:p>
            <a:pPr algn="l">
              <a:lnSpc>
                <a:spcPct val="110000"/>
              </a:lnSpc>
              <a:spcAft>
                <a:spcPts val="400"/>
              </a:spcAft>
            </a:pPr>
            <a:r>
              <a:rPr sz="1500" b="1" i="0">
                <a:solidFill>
                  <a:srgbClr val="14213D"/>
                </a:solidFill>
                <a:latin typeface="Calibri"/>
              </a:rPr>
              <a:t>Central nervous system</a:t>
            </a:r>
          </a:p>
        </p:txBody>
      </p:sp>
      <p:sp>
        <p:nvSpPr>
          <p:cNvPr id="25" name="TextBox 24"/>
          <p:cNvSpPr txBox="1"/>
          <p:nvPr/>
        </p:nvSpPr>
        <p:spPr>
          <a:xfrm>
            <a:off x="6217920" y="3977639"/>
            <a:ext cx="2514600" cy="1828800"/>
          </a:xfrm>
          <a:prstGeom prst="rect">
            <a:avLst/>
          </a:prstGeom>
          <a:noFill/>
        </p:spPr>
        <p:txBody>
          <a:bodyPr wrap="square" anchor="t" lIns="0" rIns="0" tIns="0" bIns="0">
            <a:normAutofit/>
          </a:bodyPr>
          <a:lstStyle/>
          <a:p>
            <a:pPr algn="l">
              <a:lnSpc>
                <a:spcPct val="115000"/>
              </a:lnSpc>
              <a:spcAft>
                <a:spcPts val="400"/>
              </a:spcAft>
            </a:pPr>
            <a:r>
              <a:rPr sz="1150" b="0" i="0">
                <a:solidFill>
                  <a:srgbClr val="4A5570"/>
                </a:solidFill>
                <a:latin typeface="Calibri"/>
              </a:rPr>
              <a:t>Wheelchair dependence, cerebellar ataxia, nystagmus, slurred speech, scoliosis, seizures and cognitive decline as brain white matter degenerates.</a:t>
            </a:r>
          </a:p>
        </p:txBody>
      </p:sp>
      <p:sp>
        <p:nvSpPr>
          <p:cNvPr id="26" name="Oval 25"/>
          <p:cNvSpPr/>
          <p:nvPr/>
        </p:nvSpPr>
        <p:spPr>
          <a:xfrm>
            <a:off x="8988552" y="2862072"/>
            <a:ext cx="219456" cy="219456"/>
          </a:xfrm>
          <a:prstGeom prst="ellipse">
            <a:avLst/>
          </a:prstGeom>
          <a:solidFill>
            <a:srgbClr val="F6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88552" y="2862072"/>
            <a:ext cx="219456" cy="219456"/>
          </a:xfrm>
          <a:prstGeom prst="ellipse">
            <a:avLst/>
          </a:prstGeom>
          <a:solidFill>
            <a:srgbClr val="F6F3EC"/>
          </a:solidFill>
          <a:ln w="31750">
            <a:solidFill>
              <a:srgbClr val="4A55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3246120"/>
            <a:ext cx="2514600" cy="274320"/>
          </a:xfrm>
          <a:prstGeom prst="rect">
            <a:avLst/>
          </a:prstGeom>
          <a:noFill/>
        </p:spPr>
        <p:txBody>
          <a:bodyPr wrap="square" anchor="t" lIns="0" rIns="0" tIns="0" bIns="0">
            <a:spAutoFit/>
          </a:bodyPr>
          <a:lstStyle/>
          <a:p>
            <a:pPr algn="l">
              <a:lnSpc>
                <a:spcPct val="110000"/>
              </a:lnSpc>
              <a:spcAft>
                <a:spcPts val="400"/>
              </a:spcAft>
            </a:pPr>
            <a:r>
              <a:rPr sz="850" b="1" i="0">
                <a:solidFill>
                  <a:srgbClr val="4A5570"/>
                </a:solidFill>
                <a:latin typeface="Calibri"/>
              </a:rPr>
              <a:t>EARLY ADULTHOOD</a:t>
            </a:r>
          </a:p>
        </p:txBody>
      </p:sp>
      <p:sp>
        <p:nvSpPr>
          <p:cNvPr id="29" name="TextBox 28"/>
          <p:cNvSpPr txBox="1"/>
          <p:nvPr/>
        </p:nvSpPr>
        <p:spPr>
          <a:xfrm>
            <a:off x="9006840" y="3520440"/>
            <a:ext cx="2514600" cy="411480"/>
          </a:xfrm>
          <a:prstGeom prst="rect">
            <a:avLst/>
          </a:prstGeom>
          <a:noFill/>
        </p:spPr>
        <p:txBody>
          <a:bodyPr wrap="square" anchor="t" lIns="0" rIns="0" tIns="0" bIns="0">
            <a:spAutoFit/>
          </a:bodyPr>
          <a:lstStyle/>
          <a:p>
            <a:pPr algn="l">
              <a:lnSpc>
                <a:spcPct val="110000"/>
              </a:lnSpc>
              <a:spcAft>
                <a:spcPts val="400"/>
              </a:spcAft>
            </a:pPr>
            <a:r>
              <a:rPr sz="1500" b="1" i="0">
                <a:solidFill>
                  <a:srgbClr val="14213D"/>
                </a:solidFill>
                <a:latin typeface="Calibri"/>
              </a:rPr>
              <a:t>Late stage</a:t>
            </a:r>
          </a:p>
        </p:txBody>
      </p:sp>
      <p:sp>
        <p:nvSpPr>
          <p:cNvPr id="30" name="TextBox 29"/>
          <p:cNvSpPr txBox="1"/>
          <p:nvPr/>
        </p:nvSpPr>
        <p:spPr>
          <a:xfrm>
            <a:off x="9006840" y="3977639"/>
            <a:ext cx="2514600" cy="1828800"/>
          </a:xfrm>
          <a:prstGeom prst="rect">
            <a:avLst/>
          </a:prstGeom>
          <a:noFill/>
        </p:spPr>
        <p:txBody>
          <a:bodyPr wrap="square" anchor="t" lIns="0" rIns="0" tIns="0" bIns="0">
            <a:normAutofit/>
          </a:bodyPr>
          <a:lstStyle/>
          <a:p>
            <a:pPr algn="l">
              <a:lnSpc>
                <a:spcPct val="115000"/>
              </a:lnSpc>
              <a:spcAft>
                <a:spcPts val="400"/>
              </a:spcAft>
            </a:pPr>
            <a:r>
              <a:rPr sz="1150" b="0" i="0">
                <a:solidFill>
                  <a:srgbClr val="4A5570"/>
                </a:solidFill>
                <a:latin typeface="Calibri"/>
              </a:rPr>
              <a:t>Swallowing and breathing muscles weaken; most patients die of respiratory failure in the 2nd–3rd decade. Until 2015 there was </a:t>
            </a:r>
            <a:r>
              <a:rPr sz="1150" b="1" i="0">
                <a:solidFill>
                  <a:srgbClr val="4A5570"/>
                </a:solidFill>
                <a:latin typeface="Calibri"/>
              </a:rPr>
              <a:t>no treatment beyond supportive care</a:t>
            </a:r>
            <a:r>
              <a:rPr sz="1150" b="0" i="0">
                <a:solidFill>
                  <a:srgbClr val="4A5570"/>
                </a:solidFill>
                <a:latin typeface="Calibri"/>
              </a:rPr>
              <a:t>.</a:t>
            </a:r>
          </a:p>
        </p:txBody>
      </p:sp>
      <p:sp>
        <p:nvSpPr>
          <p:cNvPr id="31" name="TextBox 30"/>
          <p:cNvSpPr txBox="1"/>
          <p:nvPr/>
        </p:nvSpPr>
        <p:spPr>
          <a:xfrm>
            <a:off x="640080" y="5989320"/>
            <a:ext cx="10881360" cy="36576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Diagnosis: clinical picture + nerve biopsy (giant axons) + brain MRI + GAN sequencing. Motor decline is tracked with the 32-item Motor Function Measure (MFM-32).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B33"/>
        </a:solidFill>
        <a:effectLst/>
      </p:bgPr>
    </p:bg>
    <p:spTree>
      <p:nvGrpSpPr>
        <p:cNvPr id="1" name=""/>
        <p:cNvGrpSpPr/>
        <p:nvPr/>
      </p:nvGrpSpPr>
      <p:grpSpPr/>
      <p:sp>
        <p:nvSpPr>
          <p:cNvPr id="2" name="Oval 1"/>
          <p:cNvSpPr/>
          <p:nvPr/>
        </p:nvSpPr>
        <p:spPr>
          <a:xfrm>
            <a:off x="8961120" y="4206240"/>
            <a:ext cx="5486400" cy="5486400"/>
          </a:xfrm>
          <a:prstGeom prst="ellipse">
            <a:avLst/>
          </a:prstGeom>
          <a:solidFill>
            <a:srgbClr val="1E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B8BCC8"/>
                </a:solidFill>
                <a:latin typeface="Calibri"/>
              </a:rPr>
              <a:t>05 · ONE PATIENT</a:t>
            </a:r>
          </a:p>
        </p:txBody>
      </p:sp>
      <p:sp>
        <p:nvSpPr>
          <p:cNvPr id="4" name="TextBox 3"/>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B8BCC8"/>
                </a:solidFill>
                <a:latin typeface="Calibri"/>
              </a:rPr>
              <a:t>GIANT AXONAL NEUROPATHY</a:t>
            </a:r>
          </a:p>
        </p:txBody>
      </p:sp>
      <p:sp>
        <p:nvSpPr>
          <p:cNvPr id="5" name="TextBox 4"/>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B8BCC8"/>
                </a:solidFill>
                <a:latin typeface="Calibri"/>
              </a:rPr>
              <a:t>06 / 08</a:t>
            </a:r>
          </a:p>
        </p:txBody>
      </p:sp>
      <p:sp>
        <p:nvSpPr>
          <p:cNvPr id="6" name="Rectangle 5"/>
          <p:cNvSpPr/>
          <p:nvPr/>
        </p:nvSpPr>
        <p:spPr>
          <a:xfrm>
            <a:off x="0" y="0"/>
            <a:ext cx="9143771"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hannah.jpg"/>
          <p:cNvPicPr>
            <a:picLocks noChangeAspect="1"/>
          </p:cNvPicPr>
          <p:nvPr/>
        </p:nvPicPr>
        <p:blipFill>
          <a:blip r:embed="rId2"/>
          <a:stretch>
            <a:fillRect/>
          </a:stretch>
        </p:blipFill>
        <p:spPr>
          <a:xfrm>
            <a:off x="640080" y="1942149"/>
            <a:ext cx="4846320" cy="3065140"/>
          </a:xfrm>
          <a:prstGeom prst="rect">
            <a:avLst/>
          </a:prstGeom>
        </p:spPr>
      </p:pic>
      <p:sp>
        <p:nvSpPr>
          <p:cNvPr id="8" name="Rounded Rectangle 7"/>
          <p:cNvSpPr/>
          <p:nvPr/>
        </p:nvSpPr>
        <p:spPr>
          <a:xfrm>
            <a:off x="822959" y="4230050"/>
            <a:ext cx="3749039" cy="594360"/>
          </a:xfrm>
          <a:prstGeom prst="roundRect">
            <a:avLst>
              <a:gd name="adj" fmla="val 12000"/>
            </a:avLst>
          </a:prstGeom>
          <a:solidFill>
            <a:srgbClr val="0F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19" y="4275770"/>
            <a:ext cx="3474720" cy="548640"/>
          </a:xfrm>
          <a:prstGeom prst="rect">
            <a:avLst/>
          </a:prstGeom>
          <a:noFill/>
        </p:spPr>
        <p:txBody>
          <a:bodyPr wrap="square" anchor="t" lIns="0" rIns="0" tIns="0" bIns="0">
            <a:spAutoFit/>
          </a:bodyPr>
          <a:lstStyle/>
          <a:p>
            <a:pPr algn="l">
              <a:lnSpc>
                <a:spcPct val="110000"/>
              </a:lnSpc>
              <a:spcAft>
                <a:spcPts val="100"/>
              </a:spcAft>
            </a:pPr>
            <a:r>
              <a:rPr sz="850" b="1" i="0">
                <a:solidFill>
                  <a:srgbClr val="7FE0D4"/>
                </a:solidFill>
                <a:latin typeface="Calibri"/>
              </a:rPr>
              <a:t>HANNAH SAMES</a:t>
            </a:r>
          </a:p>
          <a:p>
            <a:pPr algn="l">
              <a:lnSpc>
                <a:spcPct val="110000"/>
              </a:lnSpc>
              <a:spcAft>
                <a:spcPts val="400"/>
              </a:spcAft>
            </a:pPr>
            <a:r>
              <a:rPr sz="950" b="0" i="0">
                <a:solidFill>
                  <a:srgbClr val="F6F3EC"/>
                </a:solidFill>
                <a:latin typeface="Calibri"/>
              </a:rPr>
              <a:t>Rexford, New York · diagnosed 24 March 2008, aged 4</a:t>
            </a:r>
          </a:p>
        </p:txBody>
      </p:sp>
      <p:cxnSp>
        <p:nvCxnSpPr>
          <p:cNvPr id="10" name="Connector 9"/>
          <p:cNvCxnSpPr/>
          <p:nvPr/>
        </p:nvCxnSpPr>
        <p:spPr>
          <a:xfrm>
            <a:off x="6035040" y="1060704"/>
            <a:ext cx="320039" cy="0"/>
          </a:xfrm>
          <a:prstGeom prst="line">
            <a:avLst/>
          </a:prstGeom>
          <a:ln w="19050">
            <a:solidFill>
              <a:srgbClr val="E9B44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46520" y="960120"/>
            <a:ext cx="54864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E9B44C"/>
                </a:solidFill>
                <a:latin typeface="Calibri"/>
              </a:rPr>
              <a:t>THE CASE THAT CHANGED THE FIELD</a:t>
            </a:r>
          </a:p>
        </p:txBody>
      </p:sp>
      <p:sp>
        <p:nvSpPr>
          <p:cNvPr id="12" name="TextBox 11"/>
          <p:cNvSpPr txBox="1"/>
          <p:nvPr/>
        </p:nvSpPr>
        <p:spPr>
          <a:xfrm>
            <a:off x="6035040" y="1234440"/>
            <a:ext cx="5669280" cy="731520"/>
          </a:xfrm>
          <a:prstGeom prst="rect">
            <a:avLst/>
          </a:prstGeom>
          <a:noFill/>
        </p:spPr>
        <p:txBody>
          <a:bodyPr wrap="square" anchor="t" lIns="0" rIns="0" tIns="0" bIns="0">
            <a:spAutoFit/>
          </a:bodyPr>
          <a:lstStyle/>
          <a:p>
            <a:pPr algn="l">
              <a:lnSpc>
                <a:spcPct val="110000"/>
              </a:lnSpc>
              <a:spcAft>
                <a:spcPts val="400"/>
              </a:spcAft>
            </a:pPr>
            <a:r>
              <a:rPr sz="3000" b="0" i="0">
                <a:solidFill>
                  <a:srgbClr val="F6F3EC"/>
                </a:solidFill>
                <a:latin typeface="Georgia"/>
              </a:rPr>
              <a:t>"We decided to </a:t>
            </a:r>
            <a:r>
              <a:rPr sz="3000" b="0" i="1">
                <a:solidFill>
                  <a:srgbClr val="F6F3EC"/>
                </a:solidFill>
                <a:latin typeface="Georgia"/>
              </a:rPr>
              <a:t>fight</a:t>
            </a:r>
            <a:r>
              <a:rPr sz="3000" b="0" i="0">
                <a:solidFill>
                  <a:srgbClr val="F6F3EC"/>
                </a:solidFill>
                <a:latin typeface="Georgia"/>
              </a:rPr>
              <a:t>."</a:t>
            </a:r>
          </a:p>
        </p:txBody>
      </p:sp>
      <p:sp>
        <p:nvSpPr>
          <p:cNvPr id="13" name="TextBox 12"/>
          <p:cNvSpPr txBox="1"/>
          <p:nvPr/>
        </p:nvSpPr>
        <p:spPr>
          <a:xfrm>
            <a:off x="6035040" y="2148840"/>
            <a:ext cx="5577840" cy="2834640"/>
          </a:xfrm>
          <a:prstGeom prst="rect">
            <a:avLst/>
          </a:prstGeom>
          <a:noFill/>
        </p:spPr>
        <p:txBody>
          <a:bodyPr wrap="square" lIns="0" rIns="0" tIns="0" bIns="0">
            <a:normAutofit/>
          </a:bodyPr>
          <a:lstStyle/>
          <a:p>
            <a:pPr marL="256032" indent="-256032">
              <a:lnSpc>
                <a:spcPct val="112000"/>
              </a:lnSpc>
              <a:spcAft>
                <a:spcPts val="700"/>
              </a:spcAft>
            </a:pPr>
            <a:r>
              <a:rPr sz="804">
                <a:solidFill>
                  <a:srgbClr val="1A9C8E"/>
                </a:solidFill>
                <a:latin typeface="Calibri"/>
              </a:rPr>
              <a:t>● </a:t>
            </a:r>
            <a:r>
              <a:rPr sz="1150" b="1" i="0">
                <a:solidFill>
                  <a:srgbClr val="F6F3EC"/>
                </a:solidFill>
                <a:latin typeface="Calibri"/>
              </a:rPr>
              <a:t>2007:</a:t>
            </a:r>
            <a:r>
              <a:rPr sz="1150" b="0" i="0">
                <a:solidFill>
                  <a:srgbClr val="B8BCC8"/>
                </a:solidFill>
                <a:latin typeface="Calibri"/>
              </a:rPr>
              <a:t> at age 3 Hannah's walking and balance lag behind; doctors call it growing pains. Nearly a year of tests ends with a GAN diagnosis in </a:t>
            </a:r>
            <a:r>
              <a:rPr sz="1150" b="1" i="0">
                <a:solidFill>
                  <a:srgbClr val="F6F3EC"/>
                </a:solidFill>
                <a:latin typeface="Calibri"/>
              </a:rPr>
              <a:t>March 2008</a:t>
            </a:r>
            <a:r>
              <a:rPr sz="1150" b="0" i="0">
                <a:solidFill>
                  <a:srgbClr val="B8BCC8"/>
                </a:solidFill>
                <a:latin typeface="Calibri"/>
              </a:rPr>
              <a:t>.</a:t>
            </a:r>
          </a:p>
          <a:p>
            <a:pPr marL="256032" indent="-256032">
              <a:lnSpc>
                <a:spcPct val="112000"/>
              </a:lnSpc>
              <a:spcAft>
                <a:spcPts val="700"/>
              </a:spcAft>
            </a:pPr>
            <a:r>
              <a:rPr sz="804">
                <a:solidFill>
                  <a:srgbClr val="1A9C8E"/>
                </a:solidFill>
                <a:latin typeface="Calibri"/>
              </a:rPr>
              <a:t>● </a:t>
            </a:r>
            <a:r>
              <a:rPr sz="1150" b="1" i="0">
                <a:solidFill>
                  <a:srgbClr val="F6F3EC"/>
                </a:solidFill>
                <a:latin typeface="Calibri"/>
              </a:rPr>
              <a:t>The hardest genotype:</a:t>
            </a:r>
            <a:r>
              <a:rPr sz="1150" b="0" i="0">
                <a:solidFill>
                  <a:srgbClr val="B8BCC8"/>
                </a:solidFill>
                <a:latin typeface="Calibri"/>
              </a:rPr>
              <a:t> two deletion mutations — Hannah makes </a:t>
            </a:r>
            <a:r>
              <a:rPr sz="1150" b="1" i="0">
                <a:solidFill>
                  <a:srgbClr val="F6F3EC"/>
                </a:solidFill>
                <a:latin typeface="Calibri"/>
              </a:rPr>
              <a:t>no gigaxonin at all</a:t>
            </a:r>
            <a:r>
              <a:rPr sz="1150" b="0" i="0">
                <a:solidFill>
                  <a:srgbClr val="B8BCC8"/>
                </a:solidFill>
                <a:latin typeface="Calibri"/>
              </a:rPr>
              <a:t> (CRIM-negative), so her immune system had never "seen" the protein.</a:t>
            </a:r>
          </a:p>
          <a:p>
            <a:pPr marL="256032" indent="-256032">
              <a:lnSpc>
                <a:spcPct val="112000"/>
              </a:lnSpc>
              <a:spcAft>
                <a:spcPts val="700"/>
              </a:spcAft>
            </a:pPr>
            <a:r>
              <a:rPr sz="804">
                <a:solidFill>
                  <a:srgbClr val="1A9C8E"/>
                </a:solidFill>
                <a:latin typeface="Calibri"/>
              </a:rPr>
              <a:t>● </a:t>
            </a:r>
            <a:r>
              <a:rPr sz="1150" b="1" i="0">
                <a:solidFill>
                  <a:srgbClr val="F6F3EC"/>
                </a:solidFill>
                <a:latin typeface="Calibri"/>
              </a:rPr>
              <a:t>Hannah's Hope Fund</a:t>
            </a:r>
            <a:r>
              <a:rPr sz="1150" b="0" i="0">
                <a:solidFill>
                  <a:srgbClr val="B8BCC8"/>
                </a:solidFill>
                <a:latin typeface="Calibri"/>
              </a:rPr>
              <a:t> is founded within months by parents Lori and Matt Sames. Their first symposium (Boston, Aug 2008) gathers 20 experts, who conclude: </a:t>
            </a:r>
            <a:r>
              <a:rPr sz="1150" b="0" i="1">
                <a:solidFill>
                  <a:srgbClr val="B8BCC8"/>
                </a:solidFill>
                <a:latin typeface="Georgia"/>
              </a:rPr>
              <a:t>gene therapy is the only path fast enough</a:t>
            </a:r>
            <a:r>
              <a:rPr sz="1150" b="0" i="0">
                <a:solidFill>
                  <a:srgbClr val="B8BCC8"/>
                </a:solidFill>
                <a:latin typeface="Calibri"/>
              </a:rPr>
              <a:t>.</a:t>
            </a:r>
          </a:p>
          <a:p>
            <a:pPr marL="256032" indent="-256032">
              <a:lnSpc>
                <a:spcPct val="112000"/>
              </a:lnSpc>
              <a:spcAft>
                <a:spcPts val="700"/>
              </a:spcAft>
            </a:pPr>
            <a:r>
              <a:rPr sz="804">
                <a:solidFill>
                  <a:srgbClr val="1A9C8E"/>
                </a:solidFill>
                <a:latin typeface="Calibri"/>
              </a:rPr>
              <a:t>● </a:t>
            </a:r>
            <a:r>
              <a:rPr sz="1150" b="0" i="0">
                <a:solidFill>
                  <a:srgbClr val="B8BCC8"/>
                </a:solidFill>
                <a:latin typeface="Calibri"/>
              </a:rPr>
              <a:t>The fund raises </a:t>
            </a:r>
            <a:r>
              <a:rPr sz="1150" b="1" i="0">
                <a:solidFill>
                  <a:srgbClr val="F6F3EC"/>
                </a:solidFill>
                <a:latin typeface="Calibri"/>
              </a:rPr>
              <a:t>&gt;$8 million</a:t>
            </a:r>
            <a:r>
              <a:rPr sz="1150" b="0" i="0">
                <a:solidFill>
                  <a:srgbClr val="B8BCC8"/>
                </a:solidFill>
                <a:latin typeface="Calibri"/>
              </a:rPr>
              <a:t>, pays for all pre-clinical work and a natural-history study, and recruits a young UNC post-doc, </a:t>
            </a:r>
            <a:r>
              <a:rPr sz="1150" b="1" i="0">
                <a:solidFill>
                  <a:srgbClr val="F6F3EC"/>
                </a:solidFill>
                <a:latin typeface="Calibri"/>
              </a:rPr>
              <a:t>Steven Gray</a:t>
            </a:r>
            <a:r>
              <a:rPr sz="1150" b="0" i="0">
                <a:solidFill>
                  <a:srgbClr val="B8BCC8"/>
                </a:solidFill>
                <a:latin typeface="Calibri"/>
              </a:rPr>
              <a:t>, to build the vector.</a:t>
            </a:r>
          </a:p>
        </p:txBody>
      </p:sp>
      <p:sp>
        <p:nvSpPr>
          <p:cNvPr id="14" name="Rectangle 13"/>
          <p:cNvSpPr/>
          <p:nvPr/>
        </p:nvSpPr>
        <p:spPr>
          <a:xfrm>
            <a:off x="6035040" y="5120640"/>
            <a:ext cx="36576" cy="91440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17920" y="5074920"/>
            <a:ext cx="5394960" cy="1097280"/>
          </a:xfrm>
          <a:prstGeom prst="rect">
            <a:avLst/>
          </a:prstGeom>
          <a:noFill/>
        </p:spPr>
        <p:txBody>
          <a:bodyPr wrap="square" anchor="t" lIns="0" rIns="0" tIns="0" bIns="0">
            <a:normAutofit/>
          </a:bodyPr>
          <a:lstStyle/>
          <a:p>
            <a:pPr algn="l">
              <a:lnSpc>
                <a:spcPct val="115000"/>
              </a:lnSpc>
              <a:spcAft>
                <a:spcPts val="400"/>
              </a:spcAft>
            </a:pPr>
            <a:r>
              <a:rPr sz="1300" b="0" i="0">
                <a:solidFill>
                  <a:srgbClr val="F6F3EC"/>
                </a:solidFill>
                <a:latin typeface="Georgia"/>
              </a:rPr>
              <a:t>Hannah's parents found themselves in the unimaginable situation of having funded a clinical trial that might have to exclude their own child.</a:t>
            </a:r>
          </a:p>
          <a:p>
            <a:pPr algn="l">
              <a:lnSpc>
                <a:spcPct val="115000"/>
              </a:lnSpc>
              <a:spcAft>
                <a:spcPts val="400"/>
              </a:spcAft>
            </a:pPr>
            <a:r>
              <a:rPr sz="800" b="1" i="0">
                <a:solidFill>
                  <a:srgbClr val="B8BCC8"/>
                </a:solidFill>
                <a:latin typeface="Calibri"/>
              </a:rPr>
              <a:t>DNA SCIENCE, JULY 2016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4A5570"/>
                </a:solidFill>
                <a:latin typeface="Calibri"/>
              </a:rPr>
              <a:t>06 · TREATMENT</a:t>
            </a:r>
          </a:p>
        </p:txBody>
      </p:sp>
      <p:sp>
        <p:nvSpPr>
          <p:cNvPr id="3" name="TextBox 2"/>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GIANT AXONAL NEUROPATHY</a:t>
            </a:r>
          </a:p>
        </p:txBody>
      </p:sp>
      <p:sp>
        <p:nvSpPr>
          <p:cNvPr id="4" name="TextBox 3"/>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4A5570"/>
                </a:solidFill>
                <a:latin typeface="Calibri"/>
              </a:rPr>
              <a:t>07 / 08</a:t>
            </a:r>
          </a:p>
        </p:txBody>
      </p:sp>
      <p:sp>
        <p:nvSpPr>
          <p:cNvPr id="5" name="Rectangle 4"/>
          <p:cNvSpPr/>
          <p:nvPr/>
        </p:nvSpPr>
        <p:spPr>
          <a:xfrm>
            <a:off x="0" y="0"/>
            <a:ext cx="10667733"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640080" y="667512"/>
            <a:ext cx="320039" cy="0"/>
          </a:xfrm>
          <a:prstGeom prst="line">
            <a:avLst/>
          </a:prstGeom>
          <a:ln w="19050">
            <a:solidFill>
              <a:srgbClr val="1A9C8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51560" y="566928"/>
            <a:ext cx="73152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1A9C8E"/>
                </a:solidFill>
                <a:latin typeface="Calibri"/>
              </a:rPr>
              <a:t>THE GENETIC TREATMENT · SCAAV9/JET-GAN</a:t>
            </a:r>
          </a:p>
        </p:txBody>
      </p:sp>
      <p:sp>
        <p:nvSpPr>
          <p:cNvPr id="8" name="TextBox 7"/>
          <p:cNvSpPr txBox="1"/>
          <p:nvPr/>
        </p:nvSpPr>
        <p:spPr>
          <a:xfrm>
            <a:off x="640080" y="822960"/>
            <a:ext cx="10515600" cy="685800"/>
          </a:xfrm>
          <a:prstGeom prst="rect">
            <a:avLst/>
          </a:prstGeom>
          <a:noFill/>
        </p:spPr>
        <p:txBody>
          <a:bodyPr wrap="square" anchor="t" lIns="0" rIns="0" tIns="0" bIns="0">
            <a:spAutoFit/>
          </a:bodyPr>
          <a:lstStyle/>
          <a:p>
            <a:pPr algn="l">
              <a:lnSpc>
                <a:spcPct val="100000"/>
              </a:lnSpc>
              <a:spcAft>
                <a:spcPts val="400"/>
              </a:spcAft>
            </a:pPr>
            <a:r>
              <a:rPr sz="3000" b="0" i="0">
                <a:solidFill>
                  <a:srgbClr val="14213D"/>
                </a:solidFill>
                <a:latin typeface="Georgia"/>
              </a:rPr>
              <a:t>A working gene, delivered into the spinal fluid</a:t>
            </a:r>
          </a:p>
        </p:txBody>
      </p:sp>
      <p:sp>
        <p:nvSpPr>
          <p:cNvPr id="9" name="TextBox 8"/>
          <p:cNvSpPr txBox="1"/>
          <p:nvPr/>
        </p:nvSpPr>
        <p:spPr>
          <a:xfrm>
            <a:off x="640080" y="1508760"/>
            <a:ext cx="10058400" cy="640080"/>
          </a:xfrm>
          <a:prstGeom prst="rect">
            <a:avLst/>
          </a:prstGeom>
          <a:noFill/>
        </p:spPr>
        <p:txBody>
          <a:bodyPr wrap="square" anchor="t" lIns="0" rIns="0" tIns="0" bIns="0">
            <a:normAutofit/>
          </a:bodyPr>
          <a:lstStyle/>
          <a:p>
            <a:pPr algn="l">
              <a:lnSpc>
                <a:spcPct val="110000"/>
              </a:lnSpc>
              <a:spcAft>
                <a:spcPts val="400"/>
              </a:spcAft>
            </a:pPr>
            <a:r>
              <a:rPr sz="1300" b="0" i="0">
                <a:solidFill>
                  <a:srgbClr val="4A5570"/>
                </a:solidFill>
                <a:latin typeface="Calibri"/>
              </a:rPr>
              <a:t>The first-in-human trial of an AAV gene therapy given </a:t>
            </a:r>
            <a:r>
              <a:rPr sz="1300" b="1" i="0">
                <a:solidFill>
                  <a:srgbClr val="4A5570"/>
                </a:solidFill>
                <a:latin typeface="Calibri"/>
              </a:rPr>
              <a:t>intrathecally</a:t>
            </a:r>
            <a:r>
              <a:rPr sz="1300" b="0" i="0">
                <a:solidFill>
                  <a:srgbClr val="4A5570"/>
                </a:solidFill>
                <a:latin typeface="Calibri"/>
              </a:rPr>
              <a:t> — into the cerebrospinal fluid — opened at the NIH Clinical Center in 2015 (NCT02362438, led by Carsten Bönnemann, NINDS).</a:t>
            </a:r>
          </a:p>
        </p:txBody>
      </p:sp>
      <p:sp>
        <p:nvSpPr>
          <p:cNvPr id="10" name="Rounded Rectangle 9"/>
          <p:cNvSpPr/>
          <p:nvPr/>
        </p:nvSpPr>
        <p:spPr>
          <a:xfrm>
            <a:off x="640080" y="2286000"/>
            <a:ext cx="2606040" cy="233172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377440"/>
            <a:ext cx="548640" cy="457200"/>
          </a:xfrm>
          <a:prstGeom prst="rect">
            <a:avLst/>
          </a:prstGeom>
          <a:noFill/>
        </p:spPr>
        <p:txBody>
          <a:bodyPr wrap="square" anchor="t" lIns="0" rIns="0" tIns="0" bIns="0">
            <a:spAutoFit/>
          </a:bodyPr>
          <a:lstStyle/>
          <a:p>
            <a:pPr algn="l">
              <a:lnSpc>
                <a:spcPct val="110000"/>
              </a:lnSpc>
              <a:spcAft>
                <a:spcPts val="400"/>
              </a:spcAft>
            </a:pPr>
            <a:r>
              <a:rPr sz="2200" b="0" i="0">
                <a:solidFill>
                  <a:srgbClr val="1A9C8E"/>
                </a:solidFill>
                <a:latin typeface="Georgia"/>
              </a:rPr>
              <a:t>1</a:t>
            </a:r>
          </a:p>
        </p:txBody>
      </p:sp>
      <p:sp>
        <p:nvSpPr>
          <p:cNvPr id="12" name="TextBox 11"/>
          <p:cNvSpPr txBox="1"/>
          <p:nvPr/>
        </p:nvSpPr>
        <p:spPr>
          <a:xfrm>
            <a:off x="822959" y="2788920"/>
            <a:ext cx="2240280" cy="320040"/>
          </a:xfrm>
          <a:prstGeom prst="rect">
            <a:avLst/>
          </a:prstGeom>
          <a:noFill/>
        </p:spPr>
        <p:txBody>
          <a:bodyPr wrap="square" anchor="t" lIns="0" rIns="0" tIns="0" bIns="0">
            <a:spAutoFit/>
          </a:bodyPr>
          <a:lstStyle/>
          <a:p>
            <a:pPr algn="l">
              <a:lnSpc>
                <a:spcPct val="110000"/>
              </a:lnSpc>
              <a:spcAft>
                <a:spcPts val="400"/>
              </a:spcAft>
            </a:pPr>
            <a:r>
              <a:rPr sz="1300" b="1" i="0">
                <a:solidFill>
                  <a:srgbClr val="14213D"/>
                </a:solidFill>
                <a:latin typeface="Calibri"/>
              </a:rPr>
              <a:t>Build the vector</a:t>
            </a:r>
          </a:p>
        </p:txBody>
      </p:sp>
      <p:sp>
        <p:nvSpPr>
          <p:cNvPr id="13" name="TextBox 12"/>
          <p:cNvSpPr txBox="1"/>
          <p:nvPr/>
        </p:nvSpPr>
        <p:spPr>
          <a:xfrm>
            <a:off x="822959" y="3108960"/>
            <a:ext cx="2240280" cy="1463040"/>
          </a:xfrm>
          <a:prstGeom prst="rect">
            <a:avLst/>
          </a:prstGeom>
          <a:noFill/>
        </p:spPr>
        <p:txBody>
          <a:bodyPr wrap="square" anchor="t" lIns="0" rIns="0" tIns="0" bIns="0">
            <a:normAutofit/>
          </a:bodyPr>
          <a:lstStyle/>
          <a:p>
            <a:pPr algn="l">
              <a:lnSpc>
                <a:spcPct val="112000"/>
              </a:lnSpc>
              <a:spcAft>
                <a:spcPts val="400"/>
              </a:spcAft>
            </a:pPr>
            <a:r>
              <a:rPr sz="1050" b="1" i="0">
                <a:solidFill>
                  <a:srgbClr val="4A5570"/>
                </a:solidFill>
                <a:latin typeface="Calibri"/>
              </a:rPr>
              <a:t>scAAV9</a:t>
            </a:r>
            <a:r>
              <a:rPr sz="1050" b="0" i="0">
                <a:solidFill>
                  <a:srgbClr val="4A5570"/>
                </a:solidFill>
                <a:latin typeface="Calibri"/>
              </a:rPr>
              <a:t>: a self-complementary adeno-associated virus 9 shell that can enter neurons and spread through spinal cord and brain. It carries no viral genes and does not integrate.</a:t>
            </a:r>
          </a:p>
        </p:txBody>
      </p:sp>
      <p:sp>
        <p:nvSpPr>
          <p:cNvPr id="14" name="TextBox 13"/>
          <p:cNvSpPr txBox="1"/>
          <p:nvPr/>
        </p:nvSpPr>
        <p:spPr>
          <a:xfrm>
            <a:off x="3227832" y="3246120"/>
            <a:ext cx="192024" cy="274320"/>
          </a:xfrm>
          <a:prstGeom prst="rect">
            <a:avLst/>
          </a:prstGeom>
          <a:noFill/>
        </p:spPr>
        <p:txBody>
          <a:bodyPr wrap="square" anchor="t" lIns="0" rIns="0" tIns="0" bIns="0">
            <a:spAutoFit/>
          </a:bodyPr>
          <a:lstStyle/>
          <a:p>
            <a:pPr algn="ctr">
              <a:lnSpc>
                <a:spcPct val="110000"/>
              </a:lnSpc>
              <a:spcAft>
                <a:spcPts val="400"/>
              </a:spcAft>
            </a:pPr>
            <a:r>
              <a:rPr sz="1200" b="1" i="0">
                <a:solidFill>
                  <a:srgbClr val="1A9C8E"/>
                </a:solidFill>
                <a:latin typeface="Calibri"/>
              </a:rPr>
              <a:t>→</a:t>
            </a:r>
          </a:p>
        </p:txBody>
      </p:sp>
      <p:sp>
        <p:nvSpPr>
          <p:cNvPr id="15" name="Rounded Rectangle 14"/>
          <p:cNvSpPr/>
          <p:nvPr/>
        </p:nvSpPr>
        <p:spPr>
          <a:xfrm>
            <a:off x="3401568" y="2286000"/>
            <a:ext cx="2606040" cy="233172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84448" y="2377440"/>
            <a:ext cx="548640" cy="457200"/>
          </a:xfrm>
          <a:prstGeom prst="rect">
            <a:avLst/>
          </a:prstGeom>
          <a:noFill/>
        </p:spPr>
        <p:txBody>
          <a:bodyPr wrap="square" anchor="t" lIns="0" rIns="0" tIns="0" bIns="0">
            <a:spAutoFit/>
          </a:bodyPr>
          <a:lstStyle/>
          <a:p>
            <a:pPr algn="l">
              <a:lnSpc>
                <a:spcPct val="110000"/>
              </a:lnSpc>
              <a:spcAft>
                <a:spcPts val="400"/>
              </a:spcAft>
            </a:pPr>
            <a:r>
              <a:rPr sz="2200" b="0" i="0">
                <a:solidFill>
                  <a:srgbClr val="1A9C8E"/>
                </a:solidFill>
                <a:latin typeface="Georgia"/>
              </a:rPr>
              <a:t>2</a:t>
            </a:r>
          </a:p>
        </p:txBody>
      </p:sp>
      <p:sp>
        <p:nvSpPr>
          <p:cNvPr id="17" name="TextBox 16"/>
          <p:cNvSpPr txBox="1"/>
          <p:nvPr/>
        </p:nvSpPr>
        <p:spPr>
          <a:xfrm>
            <a:off x="3584448" y="2788920"/>
            <a:ext cx="2240280" cy="320040"/>
          </a:xfrm>
          <a:prstGeom prst="rect">
            <a:avLst/>
          </a:prstGeom>
          <a:noFill/>
        </p:spPr>
        <p:txBody>
          <a:bodyPr wrap="square" anchor="t" lIns="0" rIns="0" tIns="0" bIns="0">
            <a:spAutoFit/>
          </a:bodyPr>
          <a:lstStyle/>
          <a:p>
            <a:pPr algn="l">
              <a:lnSpc>
                <a:spcPct val="110000"/>
              </a:lnSpc>
              <a:spcAft>
                <a:spcPts val="400"/>
              </a:spcAft>
            </a:pPr>
            <a:r>
              <a:rPr sz="1300" b="1" i="0">
                <a:solidFill>
                  <a:srgbClr val="14213D"/>
                </a:solidFill>
                <a:latin typeface="Calibri"/>
              </a:rPr>
              <a:t>Load the cargo</a:t>
            </a:r>
          </a:p>
        </p:txBody>
      </p:sp>
      <p:sp>
        <p:nvSpPr>
          <p:cNvPr id="18" name="TextBox 17"/>
          <p:cNvSpPr txBox="1"/>
          <p:nvPr/>
        </p:nvSpPr>
        <p:spPr>
          <a:xfrm>
            <a:off x="3584448" y="3108960"/>
            <a:ext cx="2240280" cy="1463040"/>
          </a:xfrm>
          <a:prstGeom prst="rect">
            <a:avLst/>
          </a:prstGeom>
          <a:noFill/>
        </p:spPr>
        <p:txBody>
          <a:bodyPr wrap="square" anchor="t" lIns="0" rIns="0" tIns="0" bIns="0">
            <a:normAutofit/>
          </a:bodyPr>
          <a:lstStyle/>
          <a:p>
            <a:pPr algn="l">
              <a:lnSpc>
                <a:spcPct val="112000"/>
              </a:lnSpc>
              <a:spcAft>
                <a:spcPts val="400"/>
              </a:spcAft>
            </a:pPr>
            <a:r>
              <a:rPr sz="1050" b="0" i="0">
                <a:solidFill>
                  <a:srgbClr val="4A5570"/>
                </a:solidFill>
                <a:latin typeface="Calibri"/>
              </a:rPr>
              <a:t>A </a:t>
            </a:r>
            <a:r>
              <a:rPr sz="1050" b="1" i="0">
                <a:solidFill>
                  <a:srgbClr val="4A5570"/>
                </a:solidFill>
                <a:latin typeface="Calibri"/>
              </a:rPr>
              <a:t>codon-optimised human</a:t>
            </a:r>
            <a:r>
              <a:rPr sz="1050" b="0" i="0">
                <a:solidFill>
                  <a:srgbClr val="4A5570"/>
                </a:solidFill>
                <a:latin typeface="Calibri"/>
              </a:rPr>
              <a:t> </a:t>
            </a:r>
            <a:r>
              <a:rPr sz="1050" b="0" i="1">
                <a:solidFill>
                  <a:srgbClr val="4A5570"/>
                </a:solidFill>
                <a:latin typeface="Georgia"/>
              </a:rPr>
              <a:t>GAN</a:t>
            </a:r>
            <a:r>
              <a:rPr sz="1050" b="0" i="0">
                <a:solidFill>
                  <a:srgbClr val="4A5570"/>
                </a:solidFill>
                <a:latin typeface="Calibri"/>
              </a:rPr>
              <a:t> transgene driven by </a:t>
            </a:r>
            <a:r>
              <a:rPr sz="1050" b="1" i="0">
                <a:solidFill>
                  <a:srgbClr val="4A5570"/>
                </a:solidFill>
                <a:latin typeface="Calibri"/>
              </a:rPr>
              <a:t>JeT</a:t>
            </a:r>
            <a:r>
              <a:rPr sz="1050" b="0" i="0">
                <a:solidFill>
                  <a:srgbClr val="4A5570"/>
                </a:solidFill>
                <a:latin typeface="Calibri"/>
              </a:rPr>
              <a:t>, a tiny synthetic promoter — small enough to fit the compact self-complementary genome.</a:t>
            </a:r>
          </a:p>
        </p:txBody>
      </p:sp>
      <p:sp>
        <p:nvSpPr>
          <p:cNvPr id="19" name="TextBox 18"/>
          <p:cNvSpPr txBox="1"/>
          <p:nvPr/>
        </p:nvSpPr>
        <p:spPr>
          <a:xfrm>
            <a:off x="5989320" y="3246120"/>
            <a:ext cx="192024" cy="274320"/>
          </a:xfrm>
          <a:prstGeom prst="rect">
            <a:avLst/>
          </a:prstGeom>
          <a:noFill/>
        </p:spPr>
        <p:txBody>
          <a:bodyPr wrap="square" anchor="t" lIns="0" rIns="0" tIns="0" bIns="0">
            <a:spAutoFit/>
          </a:bodyPr>
          <a:lstStyle/>
          <a:p>
            <a:pPr algn="ctr">
              <a:lnSpc>
                <a:spcPct val="110000"/>
              </a:lnSpc>
              <a:spcAft>
                <a:spcPts val="400"/>
              </a:spcAft>
            </a:pPr>
            <a:r>
              <a:rPr sz="1200" b="1" i="0">
                <a:solidFill>
                  <a:srgbClr val="1A9C8E"/>
                </a:solidFill>
                <a:latin typeface="Calibri"/>
              </a:rPr>
              <a:t>→</a:t>
            </a:r>
          </a:p>
        </p:txBody>
      </p:sp>
      <p:sp>
        <p:nvSpPr>
          <p:cNvPr id="20" name="Rounded Rectangle 19"/>
          <p:cNvSpPr/>
          <p:nvPr/>
        </p:nvSpPr>
        <p:spPr>
          <a:xfrm>
            <a:off x="6163056" y="2286000"/>
            <a:ext cx="2606040" cy="233172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377440"/>
            <a:ext cx="548640" cy="457200"/>
          </a:xfrm>
          <a:prstGeom prst="rect">
            <a:avLst/>
          </a:prstGeom>
          <a:noFill/>
        </p:spPr>
        <p:txBody>
          <a:bodyPr wrap="square" anchor="t" lIns="0" rIns="0" tIns="0" bIns="0">
            <a:spAutoFit/>
          </a:bodyPr>
          <a:lstStyle/>
          <a:p>
            <a:pPr algn="l">
              <a:lnSpc>
                <a:spcPct val="110000"/>
              </a:lnSpc>
              <a:spcAft>
                <a:spcPts val="400"/>
              </a:spcAft>
            </a:pPr>
            <a:r>
              <a:rPr sz="2200" b="0" i="0">
                <a:solidFill>
                  <a:srgbClr val="1A9C8E"/>
                </a:solidFill>
                <a:latin typeface="Georgia"/>
              </a:rPr>
              <a:t>3</a:t>
            </a:r>
          </a:p>
        </p:txBody>
      </p:sp>
      <p:sp>
        <p:nvSpPr>
          <p:cNvPr id="22" name="TextBox 21"/>
          <p:cNvSpPr txBox="1"/>
          <p:nvPr/>
        </p:nvSpPr>
        <p:spPr>
          <a:xfrm>
            <a:off x="6345936" y="2788920"/>
            <a:ext cx="2240280" cy="320040"/>
          </a:xfrm>
          <a:prstGeom prst="rect">
            <a:avLst/>
          </a:prstGeom>
          <a:noFill/>
        </p:spPr>
        <p:txBody>
          <a:bodyPr wrap="square" anchor="t" lIns="0" rIns="0" tIns="0" bIns="0">
            <a:spAutoFit/>
          </a:bodyPr>
          <a:lstStyle/>
          <a:p>
            <a:pPr algn="l">
              <a:lnSpc>
                <a:spcPct val="110000"/>
              </a:lnSpc>
              <a:spcAft>
                <a:spcPts val="400"/>
              </a:spcAft>
            </a:pPr>
            <a:r>
              <a:rPr sz="1300" b="1" i="0">
                <a:solidFill>
                  <a:srgbClr val="14213D"/>
                </a:solidFill>
                <a:latin typeface="Calibri"/>
              </a:rPr>
              <a:t>Single lumbar injection</a:t>
            </a:r>
          </a:p>
        </p:txBody>
      </p:sp>
      <p:sp>
        <p:nvSpPr>
          <p:cNvPr id="23" name="TextBox 22"/>
          <p:cNvSpPr txBox="1"/>
          <p:nvPr/>
        </p:nvSpPr>
        <p:spPr>
          <a:xfrm>
            <a:off x="6345936" y="3108960"/>
            <a:ext cx="2240280" cy="1463040"/>
          </a:xfrm>
          <a:prstGeom prst="rect">
            <a:avLst/>
          </a:prstGeom>
          <a:noFill/>
        </p:spPr>
        <p:txBody>
          <a:bodyPr wrap="square" anchor="t" lIns="0" rIns="0" tIns="0" bIns="0">
            <a:normAutofit/>
          </a:bodyPr>
          <a:lstStyle/>
          <a:p>
            <a:pPr algn="l">
              <a:lnSpc>
                <a:spcPct val="112000"/>
              </a:lnSpc>
              <a:spcAft>
                <a:spcPts val="400"/>
              </a:spcAft>
            </a:pPr>
            <a:r>
              <a:rPr sz="1050" b="0" i="0">
                <a:solidFill>
                  <a:srgbClr val="4A5570"/>
                </a:solidFill>
                <a:latin typeface="Calibri"/>
              </a:rPr>
              <a:t>One dose — up to </a:t>
            </a:r>
            <a:r>
              <a:rPr sz="1050" b="1" i="0">
                <a:solidFill>
                  <a:srgbClr val="4A5570"/>
                </a:solidFill>
                <a:latin typeface="Calibri"/>
              </a:rPr>
              <a:t>3.5 × 10¹⁴</a:t>
            </a:r>
            <a:r>
              <a:rPr sz="1050" b="0" i="0">
                <a:solidFill>
                  <a:srgbClr val="4A5570"/>
                </a:solidFill>
                <a:latin typeface="Calibri"/>
              </a:rPr>
              <a:t> vector genomes — is injected into the CSF by lumbar puncture, bathing motor neurons and dorsal root ganglia directly and bypassing the blood–brain barrier.</a:t>
            </a:r>
          </a:p>
        </p:txBody>
      </p:sp>
      <p:sp>
        <p:nvSpPr>
          <p:cNvPr id="24" name="TextBox 23"/>
          <p:cNvSpPr txBox="1"/>
          <p:nvPr/>
        </p:nvSpPr>
        <p:spPr>
          <a:xfrm>
            <a:off x="8750808" y="3246120"/>
            <a:ext cx="192024" cy="274320"/>
          </a:xfrm>
          <a:prstGeom prst="rect">
            <a:avLst/>
          </a:prstGeom>
          <a:noFill/>
        </p:spPr>
        <p:txBody>
          <a:bodyPr wrap="square" anchor="t" lIns="0" rIns="0" tIns="0" bIns="0">
            <a:spAutoFit/>
          </a:bodyPr>
          <a:lstStyle/>
          <a:p>
            <a:pPr algn="ctr">
              <a:lnSpc>
                <a:spcPct val="110000"/>
              </a:lnSpc>
              <a:spcAft>
                <a:spcPts val="400"/>
              </a:spcAft>
            </a:pPr>
            <a:r>
              <a:rPr sz="1200" b="1" i="0">
                <a:solidFill>
                  <a:srgbClr val="1A9C8E"/>
                </a:solidFill>
                <a:latin typeface="Calibri"/>
              </a:rPr>
              <a:t>→</a:t>
            </a:r>
          </a:p>
        </p:txBody>
      </p:sp>
      <p:sp>
        <p:nvSpPr>
          <p:cNvPr id="25" name="Rounded Rectangle 24"/>
          <p:cNvSpPr/>
          <p:nvPr/>
        </p:nvSpPr>
        <p:spPr>
          <a:xfrm>
            <a:off x="8924544" y="2286000"/>
            <a:ext cx="2606040" cy="233172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07424" y="2377440"/>
            <a:ext cx="548640" cy="457200"/>
          </a:xfrm>
          <a:prstGeom prst="rect">
            <a:avLst/>
          </a:prstGeom>
          <a:noFill/>
        </p:spPr>
        <p:txBody>
          <a:bodyPr wrap="square" anchor="t" lIns="0" rIns="0" tIns="0" bIns="0">
            <a:spAutoFit/>
          </a:bodyPr>
          <a:lstStyle/>
          <a:p>
            <a:pPr algn="l">
              <a:lnSpc>
                <a:spcPct val="110000"/>
              </a:lnSpc>
              <a:spcAft>
                <a:spcPts val="400"/>
              </a:spcAft>
            </a:pPr>
            <a:r>
              <a:rPr sz="2200" b="0" i="0">
                <a:solidFill>
                  <a:srgbClr val="1A9C8E"/>
                </a:solidFill>
                <a:latin typeface="Georgia"/>
              </a:rPr>
              <a:t>4</a:t>
            </a:r>
          </a:p>
        </p:txBody>
      </p:sp>
      <p:sp>
        <p:nvSpPr>
          <p:cNvPr id="27" name="TextBox 26"/>
          <p:cNvSpPr txBox="1"/>
          <p:nvPr/>
        </p:nvSpPr>
        <p:spPr>
          <a:xfrm>
            <a:off x="9107424" y="2788920"/>
            <a:ext cx="2240280" cy="320040"/>
          </a:xfrm>
          <a:prstGeom prst="rect">
            <a:avLst/>
          </a:prstGeom>
          <a:noFill/>
        </p:spPr>
        <p:txBody>
          <a:bodyPr wrap="square" anchor="t" lIns="0" rIns="0" tIns="0" bIns="0">
            <a:spAutoFit/>
          </a:bodyPr>
          <a:lstStyle/>
          <a:p>
            <a:pPr algn="l">
              <a:lnSpc>
                <a:spcPct val="110000"/>
              </a:lnSpc>
              <a:spcAft>
                <a:spcPts val="400"/>
              </a:spcAft>
            </a:pPr>
            <a:r>
              <a:rPr sz="1300" b="1" i="0">
                <a:solidFill>
                  <a:srgbClr val="14213D"/>
                </a:solidFill>
                <a:latin typeface="Calibri"/>
              </a:rPr>
              <a:t>Restore gigaxonin</a:t>
            </a:r>
          </a:p>
        </p:txBody>
      </p:sp>
      <p:sp>
        <p:nvSpPr>
          <p:cNvPr id="28" name="TextBox 27"/>
          <p:cNvSpPr txBox="1"/>
          <p:nvPr/>
        </p:nvSpPr>
        <p:spPr>
          <a:xfrm>
            <a:off x="9107424" y="3108960"/>
            <a:ext cx="2240280" cy="1463040"/>
          </a:xfrm>
          <a:prstGeom prst="rect">
            <a:avLst/>
          </a:prstGeom>
          <a:noFill/>
        </p:spPr>
        <p:txBody>
          <a:bodyPr wrap="square" anchor="t" lIns="0" rIns="0" tIns="0" bIns="0">
            <a:normAutofit/>
          </a:bodyPr>
          <a:lstStyle/>
          <a:p>
            <a:pPr algn="l">
              <a:lnSpc>
                <a:spcPct val="112000"/>
              </a:lnSpc>
              <a:spcAft>
                <a:spcPts val="400"/>
              </a:spcAft>
            </a:pPr>
            <a:r>
              <a:rPr sz="1050" b="0" i="0">
                <a:solidFill>
                  <a:srgbClr val="4A5570"/>
                </a:solidFill>
                <a:latin typeface="Calibri"/>
              </a:rPr>
              <a:t>Transduced neurons begin making gigaxonin within ~2 weeks, clearing filament aggregates and letting damaged sensory nerves </a:t>
            </a:r>
            <a:r>
              <a:rPr sz="1050" b="1" i="0">
                <a:solidFill>
                  <a:srgbClr val="4A5570"/>
                </a:solidFill>
                <a:latin typeface="Calibri"/>
              </a:rPr>
              <a:t>regenerate</a:t>
            </a:r>
            <a:r>
              <a:rPr sz="1050" b="0" i="0">
                <a:solidFill>
                  <a:srgbClr val="4A5570"/>
                </a:solidFill>
                <a:latin typeface="Calibri"/>
              </a:rPr>
              <a:t>.</a:t>
            </a:r>
          </a:p>
        </p:txBody>
      </p:sp>
      <p:sp>
        <p:nvSpPr>
          <p:cNvPr id="29" name="Rounded Rectangle 28"/>
          <p:cNvSpPr/>
          <p:nvPr/>
        </p:nvSpPr>
        <p:spPr>
          <a:xfrm>
            <a:off x="640080" y="4800600"/>
            <a:ext cx="2606040" cy="14630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4671" y="4937760"/>
            <a:ext cx="2276856" cy="368300"/>
          </a:xfrm>
          <a:prstGeom prst="rect">
            <a:avLst/>
          </a:prstGeom>
          <a:noFill/>
        </p:spPr>
        <p:txBody>
          <a:bodyPr wrap="square" anchor="t" lIns="0" rIns="0" tIns="0" bIns="0">
            <a:spAutoFit/>
          </a:bodyPr>
          <a:lstStyle/>
          <a:p>
            <a:pPr algn="l">
              <a:lnSpc>
                <a:spcPct val="100000"/>
              </a:lnSpc>
              <a:spcAft>
                <a:spcPts val="400"/>
              </a:spcAft>
            </a:pPr>
            <a:r>
              <a:rPr sz="2000" b="0" i="0">
                <a:solidFill>
                  <a:srgbClr val="1A9C8E"/>
                </a:solidFill>
                <a:latin typeface="Georgia"/>
              </a:rPr>
              <a:t>May 2015</a:t>
            </a:r>
          </a:p>
        </p:txBody>
      </p:sp>
      <p:sp>
        <p:nvSpPr>
          <p:cNvPr id="31" name="TextBox 30"/>
          <p:cNvSpPr txBox="1"/>
          <p:nvPr/>
        </p:nvSpPr>
        <p:spPr>
          <a:xfrm>
            <a:off x="804671" y="5351780"/>
            <a:ext cx="2276856" cy="82042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first human ever to receive a therapeutic gene via the spinal fluid — a GAN patient</a:t>
            </a:r>
          </a:p>
        </p:txBody>
      </p:sp>
      <p:sp>
        <p:nvSpPr>
          <p:cNvPr id="32" name="Rounded Rectangle 31"/>
          <p:cNvSpPr/>
          <p:nvPr/>
        </p:nvSpPr>
        <p:spPr>
          <a:xfrm>
            <a:off x="3401568" y="4800600"/>
            <a:ext cx="2606040" cy="14630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566160" y="4937760"/>
            <a:ext cx="2276856" cy="368300"/>
          </a:xfrm>
          <a:prstGeom prst="rect">
            <a:avLst/>
          </a:prstGeom>
          <a:noFill/>
        </p:spPr>
        <p:txBody>
          <a:bodyPr wrap="square" anchor="t" lIns="0" rIns="0" tIns="0" bIns="0">
            <a:spAutoFit/>
          </a:bodyPr>
          <a:lstStyle/>
          <a:p>
            <a:pPr algn="l">
              <a:lnSpc>
                <a:spcPct val="100000"/>
              </a:lnSpc>
              <a:spcAft>
                <a:spcPts val="400"/>
              </a:spcAft>
            </a:pPr>
            <a:r>
              <a:rPr sz="2000" b="0" i="0">
                <a:solidFill>
                  <a:srgbClr val="B7801E"/>
                </a:solidFill>
                <a:latin typeface="Georgia"/>
              </a:rPr>
              <a:t>21 Jul 2016</a:t>
            </a:r>
          </a:p>
        </p:txBody>
      </p:sp>
      <p:sp>
        <p:nvSpPr>
          <p:cNvPr id="34" name="TextBox 33"/>
          <p:cNvSpPr txBox="1"/>
          <p:nvPr/>
        </p:nvSpPr>
        <p:spPr>
          <a:xfrm>
            <a:off x="3566160" y="5351780"/>
            <a:ext cx="2276856" cy="82042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Hannah, aged 12, treated as the 5th child (≈120 trillion vector genomes)</a:t>
            </a:r>
          </a:p>
        </p:txBody>
      </p:sp>
      <p:sp>
        <p:nvSpPr>
          <p:cNvPr id="35" name="Rounded Rectangle 34"/>
          <p:cNvSpPr/>
          <p:nvPr/>
        </p:nvSpPr>
        <p:spPr>
          <a:xfrm>
            <a:off x="6163056" y="4800600"/>
            <a:ext cx="2606040" cy="14630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27648" y="4937760"/>
            <a:ext cx="2276856" cy="368300"/>
          </a:xfrm>
          <a:prstGeom prst="rect">
            <a:avLst/>
          </a:prstGeom>
          <a:noFill/>
        </p:spPr>
        <p:txBody>
          <a:bodyPr wrap="square" anchor="t" lIns="0" rIns="0" tIns="0" bIns="0">
            <a:spAutoFit/>
          </a:bodyPr>
          <a:lstStyle/>
          <a:p>
            <a:pPr algn="l">
              <a:lnSpc>
                <a:spcPct val="100000"/>
              </a:lnSpc>
              <a:spcAft>
                <a:spcPts val="400"/>
              </a:spcAft>
            </a:pPr>
            <a:r>
              <a:rPr sz="2000" b="0" i="0">
                <a:solidFill>
                  <a:srgbClr val="E4572E"/>
                </a:solidFill>
                <a:latin typeface="Georgia"/>
              </a:rPr>
              <a:t>CRIM-neg</a:t>
            </a:r>
          </a:p>
        </p:txBody>
      </p:sp>
      <p:sp>
        <p:nvSpPr>
          <p:cNvPr id="37" name="TextBox 36"/>
          <p:cNvSpPr txBox="1"/>
          <p:nvPr/>
        </p:nvSpPr>
        <p:spPr>
          <a:xfrm>
            <a:off x="6327648" y="5351780"/>
            <a:ext cx="2276856" cy="82042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as the first patient making no gigaxonin, Hannah needed a dedicated immunosuppression protocol</a:t>
            </a:r>
          </a:p>
        </p:txBody>
      </p:sp>
      <p:sp>
        <p:nvSpPr>
          <p:cNvPr id="38" name="Rounded Rectangle 37"/>
          <p:cNvSpPr/>
          <p:nvPr/>
        </p:nvSpPr>
        <p:spPr>
          <a:xfrm>
            <a:off x="8924544" y="4800600"/>
            <a:ext cx="2606040" cy="1463040"/>
          </a:xfrm>
          <a:prstGeom prst="roundRect">
            <a:avLst>
              <a:gd name="adj" fmla="val 6000"/>
            </a:avLst>
          </a:prstGeom>
          <a:solidFill>
            <a:srgbClr val="FFFFFF"/>
          </a:solidFill>
          <a:ln w="9525">
            <a:solidFill>
              <a:srgbClr val="DCD8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089136" y="4937760"/>
            <a:ext cx="2276856" cy="368300"/>
          </a:xfrm>
          <a:prstGeom prst="rect">
            <a:avLst/>
          </a:prstGeom>
          <a:noFill/>
        </p:spPr>
        <p:txBody>
          <a:bodyPr wrap="square" anchor="t" lIns="0" rIns="0" tIns="0" bIns="0">
            <a:spAutoFit/>
          </a:bodyPr>
          <a:lstStyle/>
          <a:p>
            <a:pPr algn="l">
              <a:lnSpc>
                <a:spcPct val="100000"/>
              </a:lnSpc>
              <a:spcAft>
                <a:spcPts val="400"/>
              </a:spcAft>
            </a:pPr>
            <a:r>
              <a:rPr sz="2000" b="0" i="0">
                <a:solidFill>
                  <a:srgbClr val="14213D"/>
                </a:solidFill>
                <a:latin typeface="Georgia"/>
              </a:rPr>
              <a:t>UNC → UTSW</a:t>
            </a:r>
          </a:p>
        </p:txBody>
      </p:sp>
      <p:sp>
        <p:nvSpPr>
          <p:cNvPr id="40" name="TextBox 39"/>
          <p:cNvSpPr txBox="1"/>
          <p:nvPr/>
        </p:nvSpPr>
        <p:spPr>
          <a:xfrm>
            <a:off x="9089136" y="5351780"/>
            <a:ext cx="2276856" cy="820420"/>
          </a:xfrm>
          <a:prstGeom prst="rect">
            <a:avLst/>
          </a:prstGeom>
          <a:noFill/>
        </p:spPr>
        <p:txBody>
          <a:bodyPr wrap="square" anchor="t" lIns="0" rIns="0" tIns="0" bIns="0">
            <a:normAutofit/>
          </a:bodyPr>
          <a:lstStyle/>
          <a:p>
            <a:pPr algn="l">
              <a:lnSpc>
                <a:spcPct val="110000"/>
              </a:lnSpc>
              <a:spcAft>
                <a:spcPts val="400"/>
              </a:spcAft>
            </a:pPr>
            <a:r>
              <a:rPr sz="950" b="0" i="0">
                <a:solidFill>
                  <a:srgbClr val="4A5570"/>
                </a:solidFill>
                <a:latin typeface="Calibri"/>
              </a:rPr>
              <a:t>vector designed by Steven Gray in Jude Samulski's UNC Gene Therapy Center, funded by Hannah's Hope Fund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B33"/>
        </a:solidFill>
        <a:effectLst/>
      </p:bgPr>
    </p:bg>
    <p:spTree>
      <p:nvGrpSpPr>
        <p:cNvPr id="1" name=""/>
        <p:cNvGrpSpPr/>
        <p:nvPr/>
      </p:nvGrpSpPr>
      <p:grpSpPr/>
      <p:sp>
        <p:nvSpPr>
          <p:cNvPr id="2" name="Oval 1"/>
          <p:cNvSpPr/>
          <p:nvPr/>
        </p:nvSpPr>
        <p:spPr>
          <a:xfrm>
            <a:off x="-2560320" y="-2743200"/>
            <a:ext cx="5943600" cy="5943600"/>
          </a:xfrm>
          <a:prstGeom prst="ellipse">
            <a:avLst/>
          </a:prstGeom>
          <a:solidFill>
            <a:srgbClr val="1230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5486400" cy="228600"/>
          </a:xfrm>
          <a:prstGeom prst="rect">
            <a:avLst/>
          </a:prstGeom>
          <a:noFill/>
        </p:spPr>
        <p:txBody>
          <a:bodyPr wrap="square" anchor="t" lIns="0" rIns="0" tIns="0" bIns="0">
            <a:spAutoFit/>
          </a:bodyPr>
          <a:lstStyle/>
          <a:p>
            <a:pPr algn="l">
              <a:lnSpc>
                <a:spcPct val="110000"/>
              </a:lnSpc>
              <a:spcAft>
                <a:spcPts val="400"/>
              </a:spcAft>
            </a:pPr>
            <a:r>
              <a:rPr sz="800" b="1" i="0">
                <a:solidFill>
                  <a:srgbClr val="B8BCC8"/>
                </a:solidFill>
                <a:latin typeface="Calibri"/>
              </a:rPr>
              <a:t>07 · RESULTS &amp; LEGACY</a:t>
            </a:r>
          </a:p>
        </p:txBody>
      </p:sp>
      <p:sp>
        <p:nvSpPr>
          <p:cNvPr id="4" name="TextBox 3"/>
          <p:cNvSpPr txBox="1"/>
          <p:nvPr/>
        </p:nvSpPr>
        <p:spPr>
          <a:xfrm>
            <a:off x="6126480" y="256032"/>
            <a:ext cx="54864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B8BCC8"/>
                </a:solidFill>
                <a:latin typeface="Calibri"/>
              </a:rPr>
              <a:t>GIANT AXONAL NEUROPATHY</a:t>
            </a:r>
          </a:p>
        </p:txBody>
      </p:sp>
      <p:sp>
        <p:nvSpPr>
          <p:cNvPr id="5" name="TextBox 4"/>
          <p:cNvSpPr txBox="1"/>
          <p:nvPr/>
        </p:nvSpPr>
        <p:spPr>
          <a:xfrm>
            <a:off x="10241280" y="6400800"/>
            <a:ext cx="1371600" cy="228600"/>
          </a:xfrm>
          <a:prstGeom prst="rect">
            <a:avLst/>
          </a:prstGeom>
          <a:noFill/>
        </p:spPr>
        <p:txBody>
          <a:bodyPr wrap="square" anchor="t" lIns="0" rIns="0" tIns="0" bIns="0">
            <a:spAutoFit/>
          </a:bodyPr>
          <a:lstStyle/>
          <a:p>
            <a:pPr algn="r">
              <a:lnSpc>
                <a:spcPct val="110000"/>
              </a:lnSpc>
              <a:spcAft>
                <a:spcPts val="400"/>
              </a:spcAft>
            </a:pPr>
            <a:r>
              <a:rPr sz="800" b="1" i="0">
                <a:solidFill>
                  <a:srgbClr val="B8BCC8"/>
                </a:solidFill>
                <a:latin typeface="Calibri"/>
              </a:rPr>
              <a:t>08 / 08</a:t>
            </a:r>
          </a:p>
        </p:txBody>
      </p:sp>
      <p:sp>
        <p:nvSpPr>
          <p:cNvPr id="6" name="Rectangle 5"/>
          <p:cNvSpPr/>
          <p:nvPr/>
        </p:nvSpPr>
        <p:spPr>
          <a:xfrm>
            <a:off x="0" y="0"/>
            <a:ext cx="12191695" cy="4572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640080" y="740664"/>
            <a:ext cx="320039" cy="0"/>
          </a:xfrm>
          <a:prstGeom prst="line">
            <a:avLst/>
          </a:prstGeom>
          <a:ln w="19050">
            <a:solidFill>
              <a:srgbClr val="1A9C8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51560" y="640080"/>
            <a:ext cx="7315200" cy="274320"/>
          </a:xfrm>
          <a:prstGeom prst="rect">
            <a:avLst/>
          </a:prstGeom>
          <a:noFill/>
        </p:spPr>
        <p:txBody>
          <a:bodyPr wrap="square" anchor="t" lIns="0" rIns="0" tIns="0" bIns="0">
            <a:spAutoFit/>
          </a:bodyPr>
          <a:lstStyle/>
          <a:p>
            <a:pPr algn="l">
              <a:lnSpc>
                <a:spcPct val="110000"/>
              </a:lnSpc>
              <a:spcAft>
                <a:spcPts val="400"/>
              </a:spcAft>
            </a:pPr>
            <a:r>
              <a:rPr sz="900" b="1" i="0">
                <a:solidFill>
                  <a:srgbClr val="1A9C8E"/>
                </a:solidFill>
                <a:latin typeface="Calibri"/>
              </a:rPr>
              <a:t>WHAT THE TRIAL SHOWED — NEJM, MARCH 2024</a:t>
            </a:r>
          </a:p>
        </p:txBody>
      </p:sp>
      <p:sp>
        <p:nvSpPr>
          <p:cNvPr id="9" name="TextBox 8"/>
          <p:cNvSpPr txBox="1"/>
          <p:nvPr/>
        </p:nvSpPr>
        <p:spPr>
          <a:xfrm>
            <a:off x="640080" y="914400"/>
            <a:ext cx="10515600" cy="685800"/>
          </a:xfrm>
          <a:prstGeom prst="rect">
            <a:avLst/>
          </a:prstGeom>
          <a:noFill/>
        </p:spPr>
        <p:txBody>
          <a:bodyPr wrap="square" anchor="t" lIns="0" rIns="0" tIns="0" bIns="0">
            <a:spAutoFit/>
          </a:bodyPr>
          <a:lstStyle/>
          <a:p>
            <a:pPr algn="l">
              <a:lnSpc>
                <a:spcPct val="100000"/>
              </a:lnSpc>
              <a:spcAft>
                <a:spcPts val="400"/>
              </a:spcAft>
            </a:pPr>
            <a:r>
              <a:rPr sz="3000" b="0" i="0">
                <a:solidFill>
                  <a:srgbClr val="F6F3EC"/>
                </a:solidFill>
                <a:latin typeface="Georgia"/>
              </a:rPr>
              <a:t>Bending the curve of an "untreatable" disease</a:t>
            </a:r>
          </a:p>
        </p:txBody>
      </p:sp>
      <p:sp>
        <p:nvSpPr>
          <p:cNvPr id="10" name="Rounded Rectangle 9"/>
          <p:cNvSpPr/>
          <p:nvPr/>
        </p:nvSpPr>
        <p:spPr>
          <a:xfrm>
            <a:off x="640080" y="1828800"/>
            <a:ext cx="1828800" cy="1691640"/>
          </a:xfrm>
          <a:prstGeom prst="roundRect">
            <a:avLst>
              <a:gd name="adj" fmla="val 6000"/>
            </a:avLst>
          </a:prstGeom>
          <a:solidFill>
            <a:srgbClr val="18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1965960"/>
            <a:ext cx="1499616" cy="478789"/>
          </a:xfrm>
          <a:prstGeom prst="rect">
            <a:avLst/>
          </a:prstGeom>
          <a:noFill/>
        </p:spPr>
        <p:txBody>
          <a:bodyPr wrap="square" anchor="t" lIns="0" rIns="0" tIns="0" bIns="0">
            <a:spAutoFit/>
          </a:bodyPr>
          <a:lstStyle/>
          <a:p>
            <a:pPr algn="l">
              <a:lnSpc>
                <a:spcPct val="100000"/>
              </a:lnSpc>
              <a:spcAft>
                <a:spcPts val="400"/>
              </a:spcAft>
            </a:pPr>
            <a:r>
              <a:rPr sz="2600" b="0" i="0">
                <a:solidFill>
                  <a:srgbClr val="F6F3EC"/>
                </a:solidFill>
                <a:latin typeface="Georgia"/>
              </a:rPr>
              <a:t>14</a:t>
            </a:r>
          </a:p>
        </p:txBody>
      </p:sp>
      <p:sp>
        <p:nvSpPr>
          <p:cNvPr id="12" name="TextBox 11"/>
          <p:cNvSpPr txBox="1"/>
          <p:nvPr/>
        </p:nvSpPr>
        <p:spPr>
          <a:xfrm>
            <a:off x="804671" y="2490470"/>
            <a:ext cx="1499616" cy="938530"/>
          </a:xfrm>
          <a:prstGeom prst="rect">
            <a:avLst/>
          </a:prstGeom>
          <a:noFill/>
        </p:spPr>
        <p:txBody>
          <a:bodyPr wrap="square" anchor="t" lIns="0" rIns="0" tIns="0" bIns="0">
            <a:normAutofit/>
          </a:bodyPr>
          <a:lstStyle/>
          <a:p>
            <a:pPr algn="l">
              <a:lnSpc>
                <a:spcPct val="110000"/>
              </a:lnSpc>
              <a:spcAft>
                <a:spcPts val="400"/>
              </a:spcAft>
            </a:pPr>
            <a:r>
              <a:rPr sz="950" b="0" i="0">
                <a:solidFill>
                  <a:srgbClr val="B8BCC8"/>
                </a:solidFill>
                <a:latin typeface="Calibri"/>
              </a:rPr>
              <a:t>children aged 6–14 treated at four dose levels, followed for a median of 68.7 months</a:t>
            </a:r>
          </a:p>
        </p:txBody>
      </p:sp>
      <p:sp>
        <p:nvSpPr>
          <p:cNvPr id="13" name="Rounded Rectangle 12"/>
          <p:cNvSpPr/>
          <p:nvPr/>
        </p:nvSpPr>
        <p:spPr>
          <a:xfrm>
            <a:off x="2606039" y="1828800"/>
            <a:ext cx="1828800" cy="1691640"/>
          </a:xfrm>
          <a:prstGeom prst="roundRect">
            <a:avLst>
              <a:gd name="adj" fmla="val 6000"/>
            </a:avLst>
          </a:prstGeom>
          <a:solidFill>
            <a:srgbClr val="18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770632" y="1965960"/>
            <a:ext cx="1499616" cy="478789"/>
          </a:xfrm>
          <a:prstGeom prst="rect">
            <a:avLst/>
          </a:prstGeom>
          <a:noFill/>
        </p:spPr>
        <p:txBody>
          <a:bodyPr wrap="square" anchor="t" lIns="0" rIns="0" tIns="0" bIns="0">
            <a:spAutoFit/>
          </a:bodyPr>
          <a:lstStyle/>
          <a:p>
            <a:pPr algn="l">
              <a:lnSpc>
                <a:spcPct val="100000"/>
              </a:lnSpc>
              <a:spcAft>
                <a:spcPts val="400"/>
              </a:spcAft>
            </a:pPr>
            <a:r>
              <a:rPr sz="2600" b="0" i="0">
                <a:solidFill>
                  <a:srgbClr val="F6F3EC"/>
                </a:solidFill>
                <a:latin typeface="Georgia"/>
              </a:rPr>
              <a:t>1</a:t>
            </a:r>
          </a:p>
        </p:txBody>
      </p:sp>
      <p:sp>
        <p:nvSpPr>
          <p:cNvPr id="15" name="TextBox 14"/>
          <p:cNvSpPr txBox="1"/>
          <p:nvPr/>
        </p:nvSpPr>
        <p:spPr>
          <a:xfrm>
            <a:off x="2770632" y="2490470"/>
            <a:ext cx="1499616" cy="938530"/>
          </a:xfrm>
          <a:prstGeom prst="rect">
            <a:avLst/>
          </a:prstGeom>
          <a:noFill/>
        </p:spPr>
        <p:txBody>
          <a:bodyPr wrap="square" anchor="t" lIns="0" rIns="0" tIns="0" bIns="0">
            <a:normAutofit/>
          </a:bodyPr>
          <a:lstStyle/>
          <a:p>
            <a:pPr algn="l">
              <a:lnSpc>
                <a:spcPct val="110000"/>
              </a:lnSpc>
              <a:spcAft>
                <a:spcPts val="400"/>
              </a:spcAft>
            </a:pPr>
            <a:r>
              <a:rPr sz="950" b="0" i="0">
                <a:solidFill>
                  <a:srgbClr val="B8BCC8"/>
                </a:solidFill>
                <a:latin typeface="Calibri"/>
              </a:rPr>
              <a:t>serious adverse event (fever) possibly related to treatment; CSF inflammation was managed with steroids</a:t>
            </a:r>
          </a:p>
        </p:txBody>
      </p:sp>
      <p:sp>
        <p:nvSpPr>
          <p:cNvPr id="16" name="Rounded Rectangle 15"/>
          <p:cNvSpPr/>
          <p:nvPr/>
        </p:nvSpPr>
        <p:spPr>
          <a:xfrm>
            <a:off x="4572000" y="1828800"/>
            <a:ext cx="1828800" cy="1691640"/>
          </a:xfrm>
          <a:prstGeom prst="roundRect">
            <a:avLst>
              <a:gd name="adj" fmla="val 6000"/>
            </a:avLst>
          </a:prstGeom>
          <a:solidFill>
            <a:srgbClr val="18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36592" y="1965960"/>
            <a:ext cx="1499616" cy="331470"/>
          </a:xfrm>
          <a:prstGeom prst="rect">
            <a:avLst/>
          </a:prstGeom>
          <a:noFill/>
        </p:spPr>
        <p:txBody>
          <a:bodyPr wrap="square" anchor="t" lIns="0" rIns="0" tIns="0" bIns="0">
            <a:spAutoFit/>
          </a:bodyPr>
          <a:lstStyle/>
          <a:p>
            <a:pPr algn="l">
              <a:lnSpc>
                <a:spcPct val="100000"/>
              </a:lnSpc>
              <a:spcAft>
                <a:spcPts val="400"/>
              </a:spcAft>
            </a:pPr>
            <a:r>
              <a:rPr sz="1800" b="0" i="0">
                <a:solidFill>
                  <a:srgbClr val="F6F3EC"/>
                </a:solidFill>
                <a:latin typeface="Georgia"/>
              </a:rPr>
              <a:t>−7.2 → −1.9</a:t>
            </a:r>
          </a:p>
        </p:txBody>
      </p:sp>
      <p:sp>
        <p:nvSpPr>
          <p:cNvPr id="18" name="TextBox 17"/>
          <p:cNvSpPr txBox="1"/>
          <p:nvPr/>
        </p:nvSpPr>
        <p:spPr>
          <a:xfrm>
            <a:off x="4736592" y="2343150"/>
            <a:ext cx="1499616" cy="1085850"/>
          </a:xfrm>
          <a:prstGeom prst="rect">
            <a:avLst/>
          </a:prstGeom>
          <a:noFill/>
        </p:spPr>
        <p:txBody>
          <a:bodyPr wrap="square" anchor="t" lIns="0" rIns="0" tIns="0" bIns="0">
            <a:normAutofit/>
          </a:bodyPr>
          <a:lstStyle/>
          <a:p>
            <a:pPr algn="l">
              <a:lnSpc>
                <a:spcPct val="110000"/>
              </a:lnSpc>
              <a:spcAft>
                <a:spcPts val="400"/>
              </a:spcAft>
            </a:pPr>
            <a:r>
              <a:rPr sz="950" b="0" i="0">
                <a:solidFill>
                  <a:srgbClr val="B8BCC8"/>
                </a:solidFill>
                <a:latin typeface="Calibri"/>
              </a:rPr>
              <a:t>MFM-32 points lost per year before vs. after the 1.8 × 10¹⁴ vg dose (slope slowed by 5.3 points)</a:t>
            </a:r>
          </a:p>
        </p:txBody>
      </p:sp>
      <p:sp>
        <p:nvSpPr>
          <p:cNvPr id="19" name="Rounded Rectangle 18"/>
          <p:cNvSpPr/>
          <p:nvPr/>
        </p:nvSpPr>
        <p:spPr>
          <a:xfrm>
            <a:off x="640080" y="3657600"/>
            <a:ext cx="1828800" cy="1691640"/>
          </a:xfrm>
          <a:prstGeom prst="roundRect">
            <a:avLst>
              <a:gd name="adj" fmla="val 6000"/>
            </a:avLst>
          </a:prstGeom>
          <a:solidFill>
            <a:srgbClr val="18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1" y="3794760"/>
            <a:ext cx="1499616" cy="478789"/>
          </a:xfrm>
          <a:prstGeom prst="rect">
            <a:avLst/>
          </a:prstGeom>
          <a:noFill/>
        </p:spPr>
        <p:txBody>
          <a:bodyPr wrap="square" anchor="t" lIns="0" rIns="0" tIns="0" bIns="0">
            <a:spAutoFit/>
          </a:bodyPr>
          <a:lstStyle/>
          <a:p>
            <a:pPr algn="l">
              <a:lnSpc>
                <a:spcPct val="100000"/>
              </a:lnSpc>
              <a:spcAft>
                <a:spcPts val="400"/>
              </a:spcAft>
            </a:pPr>
            <a:r>
              <a:rPr sz="2600" b="0" i="0">
                <a:solidFill>
                  <a:srgbClr val="F6F3EC"/>
                </a:solidFill>
                <a:latin typeface="Georgia"/>
              </a:rPr>
              <a:t>99%</a:t>
            </a:r>
          </a:p>
        </p:txBody>
      </p:sp>
      <p:sp>
        <p:nvSpPr>
          <p:cNvPr id="21" name="TextBox 20"/>
          <p:cNvSpPr txBox="1"/>
          <p:nvPr/>
        </p:nvSpPr>
        <p:spPr>
          <a:xfrm>
            <a:off x="804671" y="4319270"/>
            <a:ext cx="1499616" cy="938530"/>
          </a:xfrm>
          <a:prstGeom prst="rect">
            <a:avLst/>
          </a:prstGeom>
          <a:noFill/>
        </p:spPr>
        <p:txBody>
          <a:bodyPr wrap="square" anchor="t" lIns="0" rIns="0" tIns="0" bIns="0">
            <a:normAutofit/>
          </a:bodyPr>
          <a:lstStyle/>
          <a:p>
            <a:pPr algn="l">
              <a:lnSpc>
                <a:spcPct val="110000"/>
              </a:lnSpc>
              <a:spcAft>
                <a:spcPts val="400"/>
              </a:spcAft>
            </a:pPr>
            <a:r>
              <a:rPr sz="950" b="0" i="0">
                <a:solidFill>
                  <a:srgbClr val="B8BCC8"/>
                </a:solidFill>
                <a:latin typeface="Calibri"/>
              </a:rPr>
              <a:t>posterior probability that motor decline slowed at that dose — above the prespecified 95% bar</a:t>
            </a:r>
          </a:p>
        </p:txBody>
      </p:sp>
      <p:sp>
        <p:nvSpPr>
          <p:cNvPr id="22" name="Rounded Rectangle 21"/>
          <p:cNvSpPr/>
          <p:nvPr/>
        </p:nvSpPr>
        <p:spPr>
          <a:xfrm>
            <a:off x="2606039" y="3657600"/>
            <a:ext cx="1828800" cy="1691640"/>
          </a:xfrm>
          <a:prstGeom prst="roundRect">
            <a:avLst>
              <a:gd name="adj" fmla="val 6000"/>
            </a:avLst>
          </a:prstGeom>
          <a:solidFill>
            <a:srgbClr val="18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770632" y="3794760"/>
            <a:ext cx="1499616" cy="478789"/>
          </a:xfrm>
          <a:prstGeom prst="rect">
            <a:avLst/>
          </a:prstGeom>
          <a:noFill/>
        </p:spPr>
        <p:txBody>
          <a:bodyPr wrap="square" anchor="t" lIns="0" rIns="0" tIns="0" bIns="0">
            <a:spAutoFit/>
          </a:bodyPr>
          <a:lstStyle/>
          <a:p>
            <a:pPr algn="l">
              <a:lnSpc>
                <a:spcPct val="100000"/>
              </a:lnSpc>
              <a:spcAft>
                <a:spcPts val="400"/>
              </a:spcAft>
            </a:pPr>
            <a:r>
              <a:rPr sz="2600" b="0" i="0">
                <a:solidFill>
                  <a:srgbClr val="F6F3EC"/>
                </a:solidFill>
                <a:latin typeface="Georgia"/>
              </a:rPr>
              <a:t>6 / 14</a:t>
            </a:r>
          </a:p>
        </p:txBody>
      </p:sp>
      <p:sp>
        <p:nvSpPr>
          <p:cNvPr id="24" name="TextBox 23"/>
          <p:cNvSpPr txBox="1"/>
          <p:nvPr/>
        </p:nvSpPr>
        <p:spPr>
          <a:xfrm>
            <a:off x="2770632" y="4319270"/>
            <a:ext cx="1499616" cy="938530"/>
          </a:xfrm>
          <a:prstGeom prst="rect">
            <a:avLst/>
          </a:prstGeom>
          <a:noFill/>
        </p:spPr>
        <p:txBody>
          <a:bodyPr wrap="square" anchor="t" lIns="0" rIns="0" tIns="0" bIns="0">
            <a:normAutofit/>
          </a:bodyPr>
          <a:lstStyle/>
          <a:p>
            <a:pPr algn="l">
              <a:lnSpc>
                <a:spcPct val="110000"/>
              </a:lnSpc>
              <a:spcAft>
                <a:spcPts val="400"/>
              </a:spcAft>
            </a:pPr>
            <a:r>
              <a:rPr sz="950" b="0" i="0">
                <a:solidFill>
                  <a:srgbClr val="B8BCC8"/>
                </a:solidFill>
                <a:latin typeface="Calibri"/>
              </a:rPr>
              <a:t>regained, stabilised or newly recordable sensory nerve responses 6–24 months after dosing</a:t>
            </a:r>
          </a:p>
        </p:txBody>
      </p:sp>
      <p:sp>
        <p:nvSpPr>
          <p:cNvPr id="25" name="Rounded Rectangle 24"/>
          <p:cNvSpPr/>
          <p:nvPr/>
        </p:nvSpPr>
        <p:spPr>
          <a:xfrm>
            <a:off x="4572000" y="3657600"/>
            <a:ext cx="1828800" cy="1691640"/>
          </a:xfrm>
          <a:prstGeom prst="roundRect">
            <a:avLst>
              <a:gd name="adj" fmla="val 6000"/>
            </a:avLst>
          </a:prstGeom>
          <a:solidFill>
            <a:srgbClr val="1827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36592" y="3794760"/>
            <a:ext cx="1499616" cy="478789"/>
          </a:xfrm>
          <a:prstGeom prst="rect">
            <a:avLst/>
          </a:prstGeom>
          <a:noFill/>
        </p:spPr>
        <p:txBody>
          <a:bodyPr wrap="square" anchor="t" lIns="0" rIns="0" tIns="0" bIns="0">
            <a:spAutoFit/>
          </a:bodyPr>
          <a:lstStyle/>
          <a:p>
            <a:pPr algn="l">
              <a:lnSpc>
                <a:spcPct val="100000"/>
              </a:lnSpc>
              <a:spcAft>
                <a:spcPts val="400"/>
              </a:spcAft>
            </a:pPr>
            <a:r>
              <a:rPr sz="2600" b="0" i="0">
                <a:solidFill>
                  <a:srgbClr val="F6F3EC"/>
                </a:solidFill>
                <a:latin typeface="Georgia"/>
              </a:rPr>
              <a:t>3–48×</a:t>
            </a:r>
          </a:p>
        </p:txBody>
      </p:sp>
      <p:sp>
        <p:nvSpPr>
          <p:cNvPr id="27" name="TextBox 26"/>
          <p:cNvSpPr txBox="1"/>
          <p:nvPr/>
        </p:nvSpPr>
        <p:spPr>
          <a:xfrm>
            <a:off x="4736592" y="4319270"/>
            <a:ext cx="1499616" cy="938530"/>
          </a:xfrm>
          <a:prstGeom prst="rect">
            <a:avLst/>
          </a:prstGeom>
          <a:noFill/>
        </p:spPr>
        <p:txBody>
          <a:bodyPr wrap="square" anchor="t" lIns="0" rIns="0" tIns="0" bIns="0">
            <a:normAutofit/>
          </a:bodyPr>
          <a:lstStyle/>
          <a:p>
            <a:pPr algn="l">
              <a:lnSpc>
                <a:spcPct val="110000"/>
              </a:lnSpc>
              <a:spcAft>
                <a:spcPts val="400"/>
              </a:spcAft>
            </a:pPr>
            <a:r>
              <a:rPr sz="950" b="0" i="0">
                <a:solidFill>
                  <a:srgbClr val="B8BCC8"/>
                </a:solidFill>
                <a:latin typeface="Calibri"/>
              </a:rPr>
              <a:t>more regenerating nerve-fibre clusters in sensory-nerve biopsies one year after treatment</a:t>
            </a:r>
          </a:p>
        </p:txBody>
      </p:sp>
      <p:sp>
        <p:nvSpPr>
          <p:cNvPr id="28" name="TextBox 27"/>
          <p:cNvSpPr txBox="1"/>
          <p:nvPr/>
        </p:nvSpPr>
        <p:spPr>
          <a:xfrm>
            <a:off x="6766560" y="1783080"/>
            <a:ext cx="4846320" cy="2377440"/>
          </a:xfrm>
          <a:prstGeom prst="rect">
            <a:avLst/>
          </a:prstGeom>
          <a:noFill/>
        </p:spPr>
        <p:txBody>
          <a:bodyPr wrap="square" lIns="0" rIns="0" tIns="0" bIns="0">
            <a:normAutofit/>
          </a:bodyPr>
          <a:lstStyle/>
          <a:p>
            <a:pPr marL="256032" indent="-256032">
              <a:lnSpc>
                <a:spcPct val="112000"/>
              </a:lnSpc>
              <a:spcAft>
                <a:spcPts val="700"/>
              </a:spcAft>
            </a:pPr>
            <a:r>
              <a:rPr sz="804">
                <a:solidFill>
                  <a:srgbClr val="1A9C8E"/>
                </a:solidFill>
                <a:latin typeface="Calibri"/>
              </a:rPr>
              <a:t>● </a:t>
            </a:r>
            <a:r>
              <a:rPr sz="1150" b="1" i="0">
                <a:solidFill>
                  <a:srgbClr val="F6F3EC"/>
                </a:solidFill>
                <a:latin typeface="Calibri"/>
              </a:rPr>
              <a:t>Not a cure — yet.</a:t>
            </a:r>
            <a:r>
              <a:rPr sz="1150" b="0" i="0">
                <a:solidFill>
                  <a:srgbClr val="B8BCC8"/>
                </a:solidFill>
                <a:latin typeface="Calibri"/>
              </a:rPr>
              <a:t> Damage already done is not reversed, and motor nerves kept declining; benefit is largest when children are treated </a:t>
            </a:r>
            <a:r>
              <a:rPr sz="1150" b="1" i="0">
                <a:solidFill>
                  <a:srgbClr val="F6F3EC"/>
                </a:solidFill>
                <a:latin typeface="Calibri"/>
              </a:rPr>
              <a:t>young and early</a:t>
            </a:r>
            <a:r>
              <a:rPr sz="1150" b="0" i="0">
                <a:solidFill>
                  <a:srgbClr val="B8BCC8"/>
                </a:solidFill>
                <a:latin typeface="Calibri"/>
              </a:rPr>
              <a:t>.</a:t>
            </a:r>
          </a:p>
          <a:p>
            <a:pPr marL="256032" indent="-256032">
              <a:lnSpc>
                <a:spcPct val="112000"/>
              </a:lnSpc>
              <a:spcAft>
                <a:spcPts val="700"/>
              </a:spcAft>
            </a:pPr>
            <a:r>
              <a:rPr sz="804">
                <a:solidFill>
                  <a:srgbClr val="1A9C8E"/>
                </a:solidFill>
                <a:latin typeface="Calibri"/>
              </a:rPr>
              <a:t>● </a:t>
            </a:r>
            <a:r>
              <a:rPr sz="1150" b="1" i="0">
                <a:solidFill>
                  <a:srgbClr val="F6F3EC"/>
                </a:solidFill>
                <a:latin typeface="Calibri"/>
              </a:rPr>
              <a:t>A template for the field:</a:t>
            </a:r>
            <a:r>
              <a:rPr sz="1150" b="0" i="0">
                <a:solidFill>
                  <a:srgbClr val="B8BCC8"/>
                </a:solidFill>
                <a:latin typeface="Calibri"/>
              </a:rPr>
              <a:t> intrathecal AAV9 delivery pioneered here is now used in trials for many other childhood neurological diseases.</a:t>
            </a:r>
          </a:p>
          <a:p>
            <a:pPr marL="256032" indent="-256032">
              <a:lnSpc>
                <a:spcPct val="112000"/>
              </a:lnSpc>
              <a:spcAft>
                <a:spcPts val="700"/>
              </a:spcAft>
            </a:pPr>
            <a:r>
              <a:rPr sz="804">
                <a:solidFill>
                  <a:srgbClr val="1A9C8E"/>
                </a:solidFill>
                <a:latin typeface="Calibri"/>
              </a:rPr>
              <a:t>● </a:t>
            </a:r>
            <a:r>
              <a:rPr sz="1150" b="1" i="0">
                <a:solidFill>
                  <a:srgbClr val="F6F3EC"/>
                </a:solidFill>
                <a:latin typeface="Calibri"/>
              </a:rPr>
              <a:t>Next steps:</a:t>
            </a:r>
            <a:r>
              <a:rPr sz="1150" b="0" i="0">
                <a:solidFill>
                  <a:srgbClr val="B8BCC8"/>
                </a:solidFill>
                <a:latin typeface="Calibri"/>
              </a:rPr>
              <a:t> the programme was licensed to industry (Taysha, TSHA-120); Hannah's Hope Fund funds a second injection site and research into treating the autonomic nervous system.</a:t>
            </a:r>
          </a:p>
        </p:txBody>
      </p:sp>
      <p:sp>
        <p:nvSpPr>
          <p:cNvPr id="29" name="Rectangle 28"/>
          <p:cNvSpPr/>
          <p:nvPr/>
        </p:nvSpPr>
        <p:spPr>
          <a:xfrm>
            <a:off x="6766560" y="4343400"/>
            <a:ext cx="36576" cy="1051560"/>
          </a:xfrm>
          <a:prstGeom prst="rect">
            <a:avLst/>
          </a:prstGeom>
          <a:solidFill>
            <a:srgbClr val="1A9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949440" y="4297680"/>
            <a:ext cx="4663440" cy="1188720"/>
          </a:xfrm>
          <a:prstGeom prst="rect">
            <a:avLst/>
          </a:prstGeom>
          <a:noFill/>
        </p:spPr>
        <p:txBody>
          <a:bodyPr wrap="square" anchor="t" lIns="0" rIns="0" tIns="0" bIns="0">
            <a:normAutofit/>
          </a:bodyPr>
          <a:lstStyle/>
          <a:p>
            <a:pPr algn="l">
              <a:lnSpc>
                <a:spcPct val="115000"/>
              </a:lnSpc>
              <a:spcAft>
                <a:spcPts val="400"/>
              </a:spcAft>
            </a:pPr>
            <a:r>
              <a:rPr sz="1300" b="0" i="0">
                <a:solidFill>
                  <a:srgbClr val="F6F3EC"/>
                </a:solidFill>
                <a:latin typeface="Georgia"/>
              </a:rPr>
              <a:t>One family with no medical background turned a diagnosis into a first-in-human therapy — proof of what patient-driven science can do.</a:t>
            </a:r>
          </a:p>
          <a:p>
            <a:pPr algn="l">
              <a:lnSpc>
                <a:spcPct val="115000"/>
              </a:lnSpc>
              <a:spcAft>
                <a:spcPts val="400"/>
              </a:spcAft>
            </a:pPr>
            <a:r>
              <a:rPr sz="800" b="1" i="0">
                <a:solidFill>
                  <a:srgbClr val="B8BCC8"/>
                </a:solidFill>
                <a:latin typeface="Calibri"/>
              </a:rPr>
              <a:t>TAKE-HOME MESSAGE</a:t>
            </a:r>
          </a:p>
        </p:txBody>
      </p:sp>
      <p:sp>
        <p:nvSpPr>
          <p:cNvPr id="31" name="TextBox 30"/>
          <p:cNvSpPr txBox="1"/>
          <p:nvPr/>
        </p:nvSpPr>
        <p:spPr>
          <a:xfrm>
            <a:off x="6766560" y="5669280"/>
            <a:ext cx="4846320" cy="548640"/>
          </a:xfrm>
          <a:prstGeom prst="rect">
            <a:avLst/>
          </a:prstGeom>
          <a:noFill/>
        </p:spPr>
        <p:txBody>
          <a:bodyPr wrap="square" anchor="t" lIns="0" rIns="0" tIns="0" bIns="0">
            <a:normAutofit/>
          </a:bodyPr>
          <a:lstStyle/>
          <a:p>
            <a:pPr algn="l">
              <a:lnSpc>
                <a:spcPct val="110000"/>
              </a:lnSpc>
              <a:spcAft>
                <a:spcPts val="400"/>
              </a:spcAft>
            </a:pPr>
            <a:r>
              <a:rPr sz="900" b="0" i="0">
                <a:solidFill>
                  <a:srgbClr val="B8BCC8"/>
                </a:solidFill>
                <a:latin typeface="Calibri"/>
              </a:rPr>
              <a:t>Bharucha-Goebel DX et al. </a:t>
            </a:r>
            <a:r>
              <a:rPr sz="900" b="0" i="1">
                <a:solidFill>
                  <a:srgbClr val="B8BCC8"/>
                </a:solidFill>
                <a:latin typeface="Georgia"/>
              </a:rPr>
              <a:t>Intrathecal Gene Therapy for Giant Axonal Neuropathy.</a:t>
            </a:r>
            <a:r>
              <a:rPr sz="900" b="0" i="0">
                <a:solidFill>
                  <a:srgbClr val="B8BCC8"/>
                </a:solidFill>
                <a:latin typeface="Calibri"/>
              </a:rPr>
              <a:t> N Engl J Med 2024;390:1092-1104.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