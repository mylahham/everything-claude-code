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420000" cy="50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420000" cy="4284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128000" y="-5796000"/>
            <a:ext cx="9576000" cy="9576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780000" y="-1008000"/>
            <a:ext cx="5040000" cy="5040000"/>
          </a:xfrm>
          <a:prstGeom prst="ellipse">
            <a:avLst/>
          </a:prstGeom>
          <a:solidFill>
            <a:srgbClr val="2A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30400"/>
            <a:ext cx="21420000" cy="3024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76000" y="3578400"/>
            <a:ext cx="5544000" cy="756000"/>
          </a:xfrm>
          <a:prstGeom prst="ellipse">
            <a:avLst/>
          </a:prstGeom>
          <a:solidFill>
            <a:srgbClr val="1B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981600"/>
            <a:ext cx="21420000" cy="100800"/>
          </a:xfrm>
          <a:prstGeom prst="rect">
            <a:avLst/>
          </a:prstGeom>
          <a:solidFill>
            <a:srgbClr val="2B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7600" y="64008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2400" y="554400"/>
            <a:ext cx="151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RARE NEUROGENETIC DISEASE · OMIM #256850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00" y="856800"/>
            <a:ext cx="19656000" cy="131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9240" b="0" i="0">
                <a:solidFill>
                  <a:srgbClr val="F6F3EC"/>
                </a:solidFill>
                <a:latin typeface="Fraunces"/>
              </a:rPr>
              <a:t>Giant Axonal </a:t>
            </a:r>
            <a:r>
              <a:rPr sz="9240" b="0" i="1">
                <a:solidFill>
                  <a:srgbClr val="F6F3EC"/>
                </a:solidFill>
                <a:latin typeface="Fraunces"/>
              </a:rPr>
              <a:t>Neuropathy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600" y="2318400"/>
            <a:ext cx="176400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959" b="0" i="0">
                <a:solidFill>
                  <a:srgbClr val="B8BCC8"/>
                </a:solidFill>
                <a:latin typeface="Manrope"/>
              </a:rPr>
              <a:t>From a missing protein to the first gene therapy delivered into the spinal fluid.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600" y="2973600"/>
            <a:ext cx="1496880" cy="3528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600" y="2973600"/>
            <a:ext cx="1496880" cy="35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7FE0D4"/>
                </a:solidFill>
                <a:latin typeface="Manrope"/>
              </a:rPr>
              <a:t>GENE: 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5680" y="2973600"/>
            <a:ext cx="2540160" cy="3528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5680" y="2973600"/>
            <a:ext cx="2540160" cy="35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B8BCC8"/>
                </a:solidFill>
                <a:latin typeface="Manrope"/>
              </a:rPr>
              <a:t>CHROMOSOME 16Q23.2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7040" y="2973600"/>
            <a:ext cx="2656080" cy="3528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7040" y="2973600"/>
            <a:ext cx="2656080" cy="35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B8BCC8"/>
                </a:solidFill>
                <a:latin typeface="Manrope"/>
              </a:rPr>
              <a:t>AUTOSOMAL RECESSIVE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4320" y="2973600"/>
            <a:ext cx="2192400" cy="3528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4320" y="2973600"/>
            <a:ext cx="2192400" cy="35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B8BCC8"/>
                </a:solidFill>
                <a:latin typeface="Manrope"/>
              </a:rPr>
              <a:t>ONSET ≈ 3 YEARS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47920" y="2973600"/>
            <a:ext cx="2308320" cy="3528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47920" y="2973600"/>
            <a:ext cx="2308320" cy="35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B8BCC8"/>
                </a:solidFill>
                <a:latin typeface="Manrope"/>
              </a:rPr>
              <a:t>&lt; 1 IN 1,000,000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000" y="4284000"/>
            <a:ext cx="75600" cy="8316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1200" y="4838400"/>
            <a:ext cx="655200" cy="6552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1200" y="4838400"/>
            <a:ext cx="655200" cy="65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7600" y="477288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62400" y="4687200"/>
            <a:ext cx="18144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THE GENETIC 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00" y="4964400"/>
            <a:ext cx="195048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4340" b="0" i="0">
                <a:solidFill>
                  <a:srgbClr val="14213D"/>
                </a:solidFill>
                <a:latin typeface="Fraunces"/>
              </a:rPr>
              <a:t>One gene, two broken copies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600" y="5846400"/>
            <a:ext cx="3712800" cy="11592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9600" y="5997600"/>
            <a:ext cx="32088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1A9C8E"/>
                </a:solidFill>
                <a:latin typeface="Manrope"/>
              </a:rPr>
              <a:t>GENE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9600" y="6199200"/>
            <a:ext cx="32088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379" b="0" i="1">
                <a:solidFill>
                  <a:srgbClr val="14213D"/>
                </a:solidFill>
                <a:latin typeface="Fraunces"/>
              </a:rPr>
              <a:t>GAN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9600" y="6627600"/>
            <a:ext cx="32088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0" i="0">
                <a:solidFill>
                  <a:srgbClr val="4A5570"/>
                </a:solidFill>
                <a:latin typeface="Manrope"/>
              </a:rPr>
              <a:t>chromosome 16 · band q23.2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2000" y="5846400"/>
            <a:ext cx="3712800" cy="11592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4000" y="5997600"/>
            <a:ext cx="32088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1A9C8E"/>
                </a:solidFill>
                <a:latin typeface="Manrope"/>
              </a:rPr>
              <a:t>PROTEIN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4000" y="6199200"/>
            <a:ext cx="32088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379" b="0" i="0">
                <a:solidFill>
                  <a:srgbClr val="14213D"/>
                </a:solidFill>
                <a:latin typeface="Fraunces"/>
              </a:rPr>
              <a:t>Gigaxonin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4000" y="6627600"/>
            <a:ext cx="32088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0" i="0">
                <a:solidFill>
                  <a:srgbClr val="4A5570"/>
                </a:solidFill>
                <a:latin typeface="Manrope"/>
              </a:rPr>
              <a:t>597 aa · BTB / Kelch family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86400" y="5846400"/>
            <a:ext cx="3712800" cy="11592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8400" y="5997600"/>
            <a:ext cx="32088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1A9C8E"/>
                </a:solidFill>
                <a:latin typeface="Manrope"/>
              </a:rPr>
              <a:t>VARIANTS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8400" y="6199200"/>
            <a:ext cx="32088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379" b="0" i="0">
                <a:solidFill>
                  <a:srgbClr val="14213D"/>
                </a:solidFill>
                <a:latin typeface="Fraunces"/>
              </a:rPr>
              <a:t>&gt;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8400" y="6627600"/>
            <a:ext cx="32088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0" i="0">
                <a:solidFill>
                  <a:srgbClr val="4A5570"/>
                </a:solidFill>
                <a:latin typeface="Manrope"/>
              </a:rPr>
              <a:t>all loss-of-function</a:t>
            </a:r>
          </a:p>
        </p:txBody>
      </p:sp>
      <p:pic>
        <p:nvPicPr>
          <p:cNvPr id="40" name="Picture 39" descr="l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00" y="7358400"/>
            <a:ext cx="9489284" cy="3780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600" y="11289600"/>
            <a:ext cx="11541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975" b="1" i="0">
                <a:solidFill>
                  <a:srgbClr val="14213D"/>
                </a:solidFill>
                <a:latin typeface="Manrope"/>
              </a:rPr>
              <a:t>MUTATION LOCUS   </a:t>
            </a:r>
            <a:r>
              <a:rPr sz="1189" b="0" i="0">
                <a:solidFill>
                  <a:srgbClr val="4A5570"/>
                </a:solidFill>
                <a:latin typeface="Manrope"/>
              </a:rPr>
              <a:t>Long arm of chromosome 16, band q23.2</a:t>
            </a:r>
          </a:p>
        </p:txBody>
      </p:sp>
      <p:pic>
        <p:nvPicPr>
          <p:cNvPr id="42" name="Picture 41" descr="inheri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400" y="5846400"/>
            <a:ext cx="6633449" cy="5997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902400" y="11995200"/>
            <a:ext cx="75600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975" b="1" i="0">
                <a:solidFill>
                  <a:srgbClr val="14213D"/>
                </a:solidFill>
                <a:latin typeface="Manrope"/>
              </a:rPr>
              <a:t>TWO HEALTHY CARRIERS   </a:t>
            </a:r>
            <a:r>
              <a:rPr sz="1189" b="0" i="0">
                <a:solidFill>
                  <a:srgbClr val="4A5570"/>
                </a:solidFill>
                <a:latin typeface="Manrope"/>
              </a:rPr>
              <a:t>each child: 1 in 4 affected · 2 in 4 carriers · 1 in 4 unaffected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12600000"/>
            <a:ext cx="21420000" cy="1285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1000" y="12600000"/>
            <a:ext cx="75600" cy="12852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1200" y="13154400"/>
            <a:ext cx="655200" cy="6552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1200" y="13154400"/>
            <a:ext cx="655200" cy="65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7600" y="1308888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62400" y="13003200"/>
            <a:ext cx="18144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THE GIGAXONIN PATHWAY — HOW ONE MISSING PROTEIN DAMAGES THE NERVE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600" y="13280400"/>
            <a:ext cx="195048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4340" b="0" i="0">
                <a:solidFill>
                  <a:srgbClr val="14213D"/>
                </a:solidFill>
                <a:latin typeface="Fraunces"/>
              </a:rPr>
              <a:t>The cell's filament recycler goes missing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99000" y="14968800"/>
            <a:ext cx="6568800" cy="504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67800" y="14968800"/>
            <a:ext cx="6568800" cy="50400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600" y="14968800"/>
            <a:ext cx="3284400" cy="504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ascade-g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400" y="14162400"/>
            <a:ext cx="1663200" cy="166320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2952600" y="14061600"/>
            <a:ext cx="403200" cy="4032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52600" y="14061600"/>
            <a:ext cx="403200" cy="4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600" y="15976800"/>
            <a:ext cx="30828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9"/>
              </a:spcAft>
            </a:pPr>
            <a:r>
              <a:rPr sz="1750" b="1" i="1">
                <a:solidFill>
                  <a:srgbClr val="14213D"/>
                </a:solidFill>
                <a:latin typeface="Fraunces"/>
              </a:rPr>
              <a:t>GAN</a:t>
            </a:r>
            <a:r>
              <a:rPr sz="1750" b="1" i="0">
                <a:solidFill>
                  <a:srgbClr val="14213D"/>
                </a:solidFill>
                <a:latin typeface="Manrope"/>
              </a:rPr>
              <a:t> mutated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600" y="16354800"/>
            <a:ext cx="30828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209"/>
              </a:spcAft>
            </a:pPr>
            <a:r>
              <a:rPr sz="1260" b="0" i="0">
                <a:solidFill>
                  <a:srgbClr val="4A5570"/>
                </a:solidFill>
                <a:latin typeface="Manrope"/>
              </a:rPr>
              <a:t>Both copies carry a loss-of-function variant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9600" y="14515200"/>
            <a:ext cx="403200" cy="5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3079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60" name="Picture 59" descr="cascade-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800" y="14162400"/>
            <a:ext cx="1663200" cy="1663200"/>
          </a:xfrm>
          <a:prstGeom prst="rect">
            <a:avLst/>
          </a:prstGeom>
        </p:spPr>
      </p:pic>
      <p:sp>
        <p:nvSpPr>
          <p:cNvPr id="61" name="Oval 60"/>
          <p:cNvSpPr/>
          <p:nvPr/>
        </p:nvSpPr>
        <p:spPr>
          <a:xfrm>
            <a:off x="6237000" y="14061600"/>
            <a:ext cx="403200" cy="4032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7000" y="14061600"/>
            <a:ext cx="403200" cy="4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2000" y="15976800"/>
            <a:ext cx="30828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No gigaxonin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42000" y="16354800"/>
            <a:ext cx="30828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209"/>
              </a:spcAft>
            </a:pPr>
            <a:r>
              <a:rPr sz="1260" b="0" i="0">
                <a:solidFill>
                  <a:srgbClr val="4A5570"/>
                </a:solidFill>
                <a:latin typeface="Manrope"/>
              </a:rPr>
              <a:t>The adaptor of the Cul3 E3 ubiquitin ligase is absent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4000" y="14515200"/>
            <a:ext cx="403200" cy="5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3079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66" name="Picture 65" descr="cascade-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6200" y="14162400"/>
            <a:ext cx="1663200" cy="1663200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9521400" y="14061600"/>
            <a:ext cx="403200" cy="403200"/>
          </a:xfrm>
          <a:prstGeom prst="ellipse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21400" y="14061600"/>
            <a:ext cx="403200" cy="4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26400" y="15976800"/>
            <a:ext cx="30828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Filaments not tagged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6400" y="16354800"/>
            <a:ext cx="30828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209"/>
              </a:spcAft>
            </a:pPr>
            <a:r>
              <a:rPr sz="1260" b="0" i="0">
                <a:solidFill>
                  <a:srgbClr val="4A5570"/>
                </a:solidFill>
                <a:latin typeface="Manrope"/>
              </a:rPr>
              <a:t>Neurofilaments, vimentin, GFAP and keratin are never ubiquitinated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08400" y="14515200"/>
            <a:ext cx="403200" cy="5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3079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72" name="Picture 71" descr="cascade-p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0600" y="14162400"/>
            <a:ext cx="1663200" cy="1663200"/>
          </a:xfrm>
          <a:prstGeom prst="rect">
            <a:avLst/>
          </a:prstGeom>
        </p:spPr>
      </p:pic>
      <p:sp>
        <p:nvSpPr>
          <p:cNvPr id="73" name="Oval 72"/>
          <p:cNvSpPr/>
          <p:nvPr/>
        </p:nvSpPr>
        <p:spPr>
          <a:xfrm>
            <a:off x="12805800" y="14061600"/>
            <a:ext cx="403200" cy="403200"/>
          </a:xfrm>
          <a:prstGeom prst="ellipse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805800" y="14061600"/>
            <a:ext cx="403200" cy="4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10800" y="15976800"/>
            <a:ext cx="30828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Aggregates pile 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10800" y="16354800"/>
            <a:ext cx="30828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209"/>
              </a:spcAft>
            </a:pPr>
            <a:r>
              <a:rPr sz="1260" b="0" i="0">
                <a:solidFill>
                  <a:srgbClr val="4A5570"/>
                </a:solidFill>
                <a:latin typeface="Manrope"/>
              </a:rPr>
              <a:t>The proteasome cannot clear them; dense tangles form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92800" y="14515200"/>
            <a:ext cx="403200" cy="5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3079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78" name="Picture 77" descr="cascade-ax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05000" y="14162400"/>
            <a:ext cx="1663200" cy="1663200"/>
          </a:xfrm>
          <a:prstGeom prst="rect">
            <a:avLst/>
          </a:prstGeom>
        </p:spPr>
      </p:pic>
      <p:sp>
        <p:nvSpPr>
          <p:cNvPr id="79" name="Oval 78"/>
          <p:cNvSpPr/>
          <p:nvPr/>
        </p:nvSpPr>
        <p:spPr>
          <a:xfrm>
            <a:off x="16090200" y="14061600"/>
            <a:ext cx="403200" cy="403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090200" y="14061600"/>
            <a:ext cx="403200" cy="4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FFFFFF"/>
                </a:solidFill>
                <a:latin typeface="Manrope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095200" y="15976800"/>
            <a:ext cx="30828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Axon swells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095200" y="16354800"/>
            <a:ext cx="30828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209"/>
              </a:spcAft>
            </a:pPr>
            <a:r>
              <a:rPr sz="1260" b="0" i="0">
                <a:solidFill>
                  <a:srgbClr val="4A5570"/>
                </a:solidFill>
                <a:latin typeface="Manrope"/>
              </a:rPr>
              <a:t>Focal "giant" swellings; myelin thins over them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077200" y="14515200"/>
            <a:ext cx="403200" cy="5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3079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84" name="Picture 83" descr="cascade-sign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89400" y="14162400"/>
            <a:ext cx="1663200" cy="1663200"/>
          </a:xfrm>
          <a:prstGeom prst="rect">
            <a:avLst/>
          </a:prstGeom>
        </p:spPr>
      </p:pic>
      <p:sp>
        <p:nvSpPr>
          <p:cNvPr id="85" name="Oval 84"/>
          <p:cNvSpPr/>
          <p:nvPr/>
        </p:nvSpPr>
        <p:spPr>
          <a:xfrm>
            <a:off x="19374600" y="14061600"/>
            <a:ext cx="403200" cy="403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374600" y="14061600"/>
            <a:ext cx="403200" cy="4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979" b="1" i="0">
                <a:solidFill>
                  <a:srgbClr val="FFFFFF"/>
                </a:solidFill>
                <a:latin typeface="Manrope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79600" y="15976800"/>
            <a:ext cx="30828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Signal fails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379600" y="16354800"/>
            <a:ext cx="30828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209"/>
              </a:spcAft>
            </a:pPr>
            <a:r>
              <a:rPr sz="1260" b="0" i="0">
                <a:solidFill>
                  <a:srgbClr val="4A5570"/>
                </a:solidFill>
                <a:latin typeface="Manrope"/>
              </a:rPr>
              <a:t>Transport and conduction break down in nerves and brain</a:t>
            </a:r>
          </a:p>
        </p:txBody>
      </p:sp>
      <p:pic>
        <p:nvPicPr>
          <p:cNvPr id="89" name="Picture 88" descr="fila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600" y="17362800"/>
            <a:ext cx="6919256" cy="69552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57600" y="24444000"/>
            <a:ext cx="6919256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975" b="1" i="0">
                <a:solidFill>
                  <a:srgbClr val="14213D"/>
                </a:solidFill>
                <a:latin typeface="Manrope"/>
              </a:rPr>
              <a:t>STEP 4   </a:t>
            </a:r>
            <a:r>
              <a:rPr sz="1189" b="0" i="0">
                <a:solidFill>
                  <a:srgbClr val="4A5570"/>
                </a:solidFill>
                <a:latin typeface="Manrope"/>
              </a:rPr>
              <a:t>Intermediate-filament aggregate in a patient cell — the hallmark of gigaxonin loss</a:t>
            </a:r>
          </a:p>
        </p:txBody>
      </p:sp>
      <p:pic>
        <p:nvPicPr>
          <p:cNvPr id="91" name="Picture 90" descr="neur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0056" y="17362800"/>
            <a:ext cx="5911920" cy="69552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280056" y="24444000"/>
            <a:ext cx="616392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975" b="1" i="0">
                <a:solidFill>
                  <a:srgbClr val="14213D"/>
                </a:solidFill>
                <a:latin typeface="Manrope"/>
              </a:rPr>
              <a:t>STEP 5   </a:t>
            </a:r>
            <a:r>
              <a:rPr sz="1189" b="0" i="0">
                <a:solidFill>
                  <a:srgbClr val="4A5570"/>
                </a:solidFill>
                <a:latin typeface="Manrope"/>
              </a:rPr>
              <a:t>Normal vs GAN neuron: accumulation → swelling → myelin loss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4595176" y="17362800"/>
            <a:ext cx="5867224" cy="215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847176" y="17614800"/>
            <a:ext cx="5363224" cy="757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5180" b="0" i="0">
                <a:solidFill>
                  <a:srgbClr val="E4572E"/>
                </a:solidFill>
                <a:latin typeface="Fraunces"/>
              </a:rPr>
              <a:t>3–5×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847176" y="18447416"/>
            <a:ext cx="5363224" cy="990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diameter of a swollen "giant" axon compared with a healthy one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4595176" y="19765200"/>
            <a:ext cx="5867224" cy="215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847176" y="20017200"/>
            <a:ext cx="5363224" cy="5319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640" b="0" i="0">
                <a:solidFill>
                  <a:srgbClr val="14213D"/>
                </a:solidFill>
                <a:latin typeface="Fraunces"/>
              </a:rPr>
              <a:t>PNS + CNS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847176" y="20624757"/>
            <a:ext cx="5363224" cy="1215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peripheral nerves first, then cerebellum, brainstem and white matter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4595176" y="22167600"/>
            <a:ext cx="5867224" cy="215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847176" y="22419600"/>
            <a:ext cx="5363224" cy="5319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640" b="0" i="0">
                <a:solidFill>
                  <a:srgbClr val="B7801E"/>
                </a:solidFill>
                <a:latin typeface="Fraunces"/>
              </a:rPr>
              <a:t>Curly hair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847176" y="23027157"/>
            <a:ext cx="5363224" cy="1215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disordered keratin filaments — a visible clue at diagnosis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1000" y="25452000"/>
            <a:ext cx="75600" cy="6804000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51200" y="26006400"/>
            <a:ext cx="655200" cy="6552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1200" y="26006400"/>
            <a:ext cx="655200" cy="65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7600" y="25940880"/>
            <a:ext cx="453600" cy="352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62400" y="25855200"/>
            <a:ext cx="18144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E4572E"/>
                </a:solidFill>
                <a:latin typeface="Manrope"/>
              </a:rPr>
              <a:t>SYMPTOMS AND CLINICAL COURSE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7600" y="26132400"/>
            <a:ext cx="195048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4340" b="0" i="0">
                <a:solidFill>
                  <a:srgbClr val="14213D"/>
                </a:solidFill>
                <a:latin typeface="Fraunces"/>
              </a:rPr>
              <a:t>A slow loss — from the feet upward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57600" y="27518400"/>
            <a:ext cx="4951800" cy="4536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09400" y="27518400"/>
            <a:ext cx="4951800" cy="45360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61200" y="27518400"/>
            <a:ext cx="4951800" cy="4536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5813000" y="27518400"/>
            <a:ext cx="4649400" cy="45360"/>
          </a:xfrm>
          <a:prstGeom prst="rect">
            <a:avLst/>
          </a:prstGeom>
          <a:solidFill>
            <a:srgbClr val="4A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57600" y="27367200"/>
            <a:ext cx="352800" cy="352800"/>
          </a:xfrm>
          <a:prstGeom prst="ellipse">
            <a:avLst/>
          </a:prstGeom>
          <a:solidFill>
            <a:srgbClr val="F6F3EC"/>
          </a:solidFill>
          <a:ln w="62229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body-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7600" y="27871200"/>
            <a:ext cx="1663200" cy="40320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2822400" y="27921600"/>
            <a:ext cx="27846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1A9C8E"/>
                </a:solidFill>
                <a:latin typeface="Manrope"/>
              </a:rPr>
              <a:t>≈ 3 YEARS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22400" y="28198800"/>
            <a:ext cx="2784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2170" b="1" i="0">
                <a:solidFill>
                  <a:srgbClr val="14213D"/>
                </a:solidFill>
                <a:latin typeface="Manrope"/>
              </a:rPr>
              <a:t>Clumsy walker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22400" y="28677600"/>
            <a:ext cx="2784600" cy="17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1A9C8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Unsteady gait, falls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1A9C8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Weak feet, high arches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1A9C8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Tightly curled hair</a:t>
            </a:r>
          </a:p>
        </p:txBody>
      </p:sp>
      <p:sp>
        <p:nvSpPr>
          <p:cNvPr id="117" name="Oval 116"/>
          <p:cNvSpPr/>
          <p:nvPr/>
        </p:nvSpPr>
        <p:spPr>
          <a:xfrm>
            <a:off x="5909400" y="27367200"/>
            <a:ext cx="352800" cy="352800"/>
          </a:xfrm>
          <a:prstGeom prst="ellipse">
            <a:avLst/>
          </a:prstGeom>
          <a:solidFill>
            <a:srgbClr val="F6F3EC"/>
          </a:solidFill>
          <a:ln w="62229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Picture 117" descr="body-go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9400" y="27871200"/>
            <a:ext cx="1663200" cy="403200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7774200" y="27921600"/>
            <a:ext cx="27846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B7801E"/>
                </a:solidFill>
                <a:latin typeface="Manrope"/>
              </a:rPr>
              <a:t>5–10 YEARS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774200" y="28198800"/>
            <a:ext cx="2784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2170" b="1" i="0">
                <a:solidFill>
                  <a:srgbClr val="14213D"/>
                </a:solidFill>
                <a:latin typeface="Manrope"/>
              </a:rPr>
              <a:t>Peripheral nerves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4200" y="28677600"/>
            <a:ext cx="2784600" cy="17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B7801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Lost reflexes and sensation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B7801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Muscle wasting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B7801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Biopsy: giant axons</a:t>
            </a:r>
          </a:p>
        </p:txBody>
      </p:sp>
      <p:sp>
        <p:nvSpPr>
          <p:cNvPr id="122" name="Oval 121"/>
          <p:cNvSpPr/>
          <p:nvPr/>
        </p:nvSpPr>
        <p:spPr>
          <a:xfrm>
            <a:off x="10861200" y="27367200"/>
            <a:ext cx="352800" cy="352800"/>
          </a:xfrm>
          <a:prstGeom prst="ellipse">
            <a:avLst/>
          </a:prstGeom>
          <a:solidFill>
            <a:srgbClr val="F6F3EC"/>
          </a:solidFill>
          <a:ln w="62229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body-cora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61200" y="27871200"/>
            <a:ext cx="1663200" cy="403200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2726000" y="27921600"/>
            <a:ext cx="27846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E4572E"/>
                </a:solidFill>
                <a:latin typeface="Manrope"/>
              </a:rPr>
              <a:t>ADOLESCENCE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726000" y="28198800"/>
            <a:ext cx="2784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2170" b="1" i="0">
                <a:solidFill>
                  <a:srgbClr val="14213D"/>
                </a:solidFill>
                <a:latin typeface="Manrope"/>
              </a:rPr>
              <a:t>Brain involved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726000" y="28677600"/>
            <a:ext cx="2784600" cy="17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E4572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Wheelchair, ataxia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E4572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Slurred speech, nystagmus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E4572E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Scoliosis, seizures</a:t>
            </a:r>
          </a:p>
        </p:txBody>
      </p:sp>
      <p:sp>
        <p:nvSpPr>
          <p:cNvPr id="127" name="Oval 126"/>
          <p:cNvSpPr/>
          <p:nvPr/>
        </p:nvSpPr>
        <p:spPr>
          <a:xfrm>
            <a:off x="15813000" y="27367200"/>
            <a:ext cx="352800" cy="352800"/>
          </a:xfrm>
          <a:prstGeom prst="ellipse">
            <a:avLst/>
          </a:prstGeom>
          <a:solidFill>
            <a:srgbClr val="F6F3EC"/>
          </a:solidFill>
          <a:ln w="62229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body-in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13000" y="27871200"/>
            <a:ext cx="1663200" cy="403200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7677800" y="27921600"/>
            <a:ext cx="27846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89" b="1" i="0">
                <a:solidFill>
                  <a:srgbClr val="4A5570"/>
                </a:solidFill>
                <a:latin typeface="Manrope"/>
              </a:rPr>
              <a:t>20S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7677800" y="28198800"/>
            <a:ext cx="2784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2170" b="1" i="0">
                <a:solidFill>
                  <a:srgbClr val="14213D"/>
                </a:solidFill>
                <a:latin typeface="Manrope"/>
              </a:rPr>
              <a:t>Late stage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677800" y="28677600"/>
            <a:ext cx="2784600" cy="17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4A5570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Swallowing, breathing fail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4A5570"/>
                </a:solidFill>
                <a:latin typeface="Manrope"/>
              </a:rPr>
              <a:t>● </a:t>
            </a:r>
            <a:r>
              <a:rPr sz="1609" b="0" i="0">
                <a:solidFill>
                  <a:srgbClr val="4A5570"/>
                </a:solidFill>
                <a:latin typeface="Manrope"/>
              </a:rPr>
              <a:t>Respiratory failure</a:t>
            </a:r>
          </a:p>
          <a:p>
            <a:pPr marL="252000" indent="-252000">
              <a:lnSpc>
                <a:spcPct val="120000"/>
              </a:lnSpc>
              <a:spcAft>
                <a:spcPts val="350"/>
              </a:spcAft>
            </a:pPr>
            <a:r>
              <a:rPr sz="965">
                <a:solidFill>
                  <a:srgbClr val="4A5570"/>
                </a:solidFill>
                <a:latin typeface="Manrope"/>
              </a:rPr>
              <a:t>● </a:t>
            </a:r>
            <a:r>
              <a:rPr sz="1609" b="1" i="0">
                <a:solidFill>
                  <a:srgbClr val="14213D"/>
                </a:solidFill>
                <a:latin typeface="Manrope"/>
              </a:rPr>
              <a:t>No treatment until 2015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32256000"/>
            <a:ext cx="21420000" cy="5544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8396000" y="33768000"/>
            <a:ext cx="3780000" cy="3780000"/>
          </a:xfrm>
          <a:prstGeom prst="ellipse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41000" y="32256000"/>
            <a:ext cx="75600" cy="5544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51200" y="32810400"/>
            <a:ext cx="655200" cy="655200"/>
          </a:xfrm>
          <a:prstGeom prst="ellipse">
            <a:avLst/>
          </a:prstGeom>
          <a:solidFill>
            <a:srgbClr val="0F1B33"/>
          </a:solidFill>
          <a:ln w="8001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51200" y="32810400"/>
            <a:ext cx="655200" cy="65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F6F3EC"/>
                </a:solidFill>
                <a:latin typeface="Fraunces"/>
              </a:rPr>
              <a:t>4</a:t>
            </a:r>
          </a:p>
        </p:txBody>
      </p:sp>
      <p:pic>
        <p:nvPicPr>
          <p:cNvPr id="137" name="Picture 136" descr="hannah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600" y="32659200"/>
            <a:ext cx="7459200" cy="4717702"/>
          </a:xfrm>
          <a:prstGeom prst="rect">
            <a:avLst/>
          </a:prstGeom>
        </p:spPr>
      </p:pic>
      <p:sp>
        <p:nvSpPr>
          <p:cNvPr id="138" name="Rounded Rectangle 137"/>
          <p:cNvSpPr/>
          <p:nvPr/>
        </p:nvSpPr>
        <p:spPr>
          <a:xfrm>
            <a:off x="1159200" y="36620902"/>
            <a:ext cx="3780000" cy="554400"/>
          </a:xfrm>
          <a:prstGeom prst="roundRect">
            <a:avLst>
              <a:gd name="adj" fmla="val 15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310400" y="36696502"/>
            <a:ext cx="3528000" cy="45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"/>
              </a:spcAft>
            </a:pPr>
            <a:r>
              <a:rPr sz="952" b="1" i="0">
                <a:solidFill>
                  <a:srgbClr val="7FE0D4"/>
                </a:solidFill>
                <a:latin typeface="Manrope"/>
              </a:rPr>
              <a:t>HANNAH SAMES</a:t>
            </a:r>
          </a:p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071" b="0" i="0">
                <a:solidFill>
                  <a:srgbClr val="F6F3EC"/>
                </a:solidFill>
                <a:latin typeface="Manrope"/>
              </a:rPr>
              <a:t>Rexford, New York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971200" y="33248880"/>
            <a:ext cx="453600" cy="3528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576000" y="33163200"/>
            <a:ext cx="1260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E9B44C"/>
                </a:solidFill>
                <a:latin typeface="Manrope"/>
              </a:rPr>
              <a:t>THE CASE THAT CHANGED THE FIELD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971200" y="33465600"/>
            <a:ext cx="114912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4340" b="0" i="0">
                <a:solidFill>
                  <a:srgbClr val="F6F3EC"/>
                </a:solidFill>
                <a:latin typeface="Fraunces"/>
              </a:rPr>
              <a:t>"We decided to </a:t>
            </a:r>
            <a:r>
              <a:rPr sz="4340" b="0" i="1">
                <a:solidFill>
                  <a:srgbClr val="F6F3EC"/>
                </a:solidFill>
                <a:latin typeface="Fraunces"/>
              </a:rPr>
              <a:t>fight</a:t>
            </a:r>
            <a:r>
              <a:rPr sz="4340" b="0" i="0">
                <a:solidFill>
                  <a:srgbClr val="F6F3EC"/>
                </a:solidFill>
                <a:latin typeface="Fraunces"/>
              </a:rPr>
              <a:t>."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971200" y="34574400"/>
            <a:ext cx="3662400" cy="5544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971200" y="34776000"/>
            <a:ext cx="36624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359" b="0" i="0">
                <a:solidFill>
                  <a:srgbClr val="E9B44C"/>
                </a:solidFill>
                <a:latin typeface="Fraunces"/>
              </a:rPr>
              <a:t>2008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971200" y="35330400"/>
            <a:ext cx="3662400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F6F3EC"/>
                </a:solidFill>
                <a:latin typeface="Manrope"/>
              </a:rPr>
              <a:t>Diagnosed at 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971200" y="35683200"/>
            <a:ext cx="36624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260" b="0" i="0">
                <a:solidFill>
                  <a:srgbClr val="B8BCC8"/>
                </a:solidFill>
                <a:latin typeface="Manrope"/>
              </a:rPr>
              <a:t>Two deletions — Hannah makes no gigaxonin at all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2885600" y="34574400"/>
            <a:ext cx="3662400" cy="55440"/>
          </a:xfrm>
          <a:prstGeom prst="rect">
            <a:avLst/>
          </a:prstGeom>
          <a:solidFill>
            <a:srgbClr val="7F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885600" y="34776000"/>
            <a:ext cx="36624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359" b="0" i="0">
                <a:solidFill>
                  <a:srgbClr val="7FE0D4"/>
                </a:solidFill>
                <a:latin typeface="Fraunces"/>
              </a:rPr>
              <a:t>2008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885600" y="35330400"/>
            <a:ext cx="3662400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F6F3EC"/>
                </a:solidFill>
                <a:latin typeface="Manrope"/>
              </a:rPr>
              <a:t>Hannah's Hope Fund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885600" y="35683200"/>
            <a:ext cx="36624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260" b="0" i="0">
                <a:solidFill>
                  <a:srgbClr val="B8BCC8"/>
                </a:solidFill>
                <a:latin typeface="Manrope"/>
              </a:rPr>
              <a:t>Founded by her parents; first GAN symposium the same year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800000" y="34574400"/>
            <a:ext cx="3662400" cy="5544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800000" y="34776000"/>
            <a:ext cx="36624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359" b="0" i="0">
                <a:solidFill>
                  <a:srgbClr val="E4572E"/>
                </a:solidFill>
                <a:latin typeface="Fraunces"/>
              </a:rPr>
              <a:t>$8 M+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800000" y="35330400"/>
            <a:ext cx="3662400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F6F3EC"/>
                </a:solidFill>
                <a:latin typeface="Manrope"/>
              </a:rPr>
              <a:t>Raised for a cure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6800000" y="35683200"/>
            <a:ext cx="36624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260" b="0" i="0">
                <a:solidFill>
                  <a:srgbClr val="B8BCC8"/>
                </a:solidFill>
                <a:latin typeface="Manrope"/>
              </a:rPr>
              <a:t>Funds Steven Gray (UNC) to build the gene-therapy vector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41000" y="37800000"/>
            <a:ext cx="75600" cy="6804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51200" y="38354400"/>
            <a:ext cx="655200" cy="6552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51200" y="38354400"/>
            <a:ext cx="655200" cy="65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57600" y="3828888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562400" y="38203200"/>
            <a:ext cx="18144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THE GENETIC TREATMENT · SCAAV9/JET-GAN · NIH CLINICAL CENTER · NCT02362438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57600" y="38480400"/>
            <a:ext cx="195048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4340" b="0" i="0">
                <a:solidFill>
                  <a:srgbClr val="14213D"/>
                </a:solidFill>
                <a:latin typeface="Fraunces"/>
              </a:rPr>
              <a:t>A working gene, delivered into the spinal fluid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57600" y="39513600"/>
            <a:ext cx="4649400" cy="231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therapy-capsi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0000" y="39891600"/>
            <a:ext cx="1562400" cy="1562400"/>
          </a:xfrm>
          <a:prstGeom prst="rect">
            <a:avLst/>
          </a:prstGeom>
        </p:spPr>
      </p:pic>
      <p:sp>
        <p:nvSpPr>
          <p:cNvPr id="163" name="Oval 162"/>
          <p:cNvSpPr/>
          <p:nvPr/>
        </p:nvSpPr>
        <p:spPr>
          <a:xfrm>
            <a:off x="1209600" y="39337200"/>
            <a:ext cx="453600" cy="4536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09600" y="39337200"/>
            <a:ext cx="453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050" b="1" i="0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024000" y="39916800"/>
            <a:ext cx="22806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1820" b="1" i="0">
                <a:solidFill>
                  <a:srgbClr val="14213D"/>
                </a:solidFill>
                <a:latin typeface="Manrope"/>
              </a:rPr>
              <a:t>Build the vector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024000" y="40622400"/>
            <a:ext cx="22806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scAAV9 shell: enters neurons, spreads through cord and brain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31400" y="40471200"/>
            <a:ext cx="453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959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909400" y="39513600"/>
            <a:ext cx="4649400" cy="231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therapy-carg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1800" y="39891600"/>
            <a:ext cx="1562400" cy="1562400"/>
          </a:xfrm>
          <a:prstGeom prst="rect">
            <a:avLst/>
          </a:prstGeom>
        </p:spPr>
      </p:pic>
      <p:sp>
        <p:nvSpPr>
          <p:cNvPr id="170" name="Oval 169"/>
          <p:cNvSpPr/>
          <p:nvPr/>
        </p:nvSpPr>
        <p:spPr>
          <a:xfrm>
            <a:off x="6161400" y="39337200"/>
            <a:ext cx="453600" cy="4536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161400" y="39337200"/>
            <a:ext cx="453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050" b="1" i="0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975800" y="39916800"/>
            <a:ext cx="22806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1820" b="1" i="0">
                <a:solidFill>
                  <a:srgbClr val="14213D"/>
                </a:solidFill>
                <a:latin typeface="Manrope"/>
              </a:rPr>
              <a:t>Load the gene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75800" y="40622400"/>
            <a:ext cx="22806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Healthy human </a:t>
            </a:r>
            <a:r>
              <a:rPr sz="1330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1330" b="0" i="0">
                <a:solidFill>
                  <a:srgbClr val="4A5570"/>
                </a:solidFill>
                <a:latin typeface="Manrope"/>
              </a:rPr>
              <a:t> gene with a tiny JeT promoter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483200" y="40471200"/>
            <a:ext cx="453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959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0861200" y="39513600"/>
            <a:ext cx="4649400" cy="231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therapy-injec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63600" y="39891600"/>
            <a:ext cx="1562400" cy="1562400"/>
          </a:xfrm>
          <a:prstGeom prst="rect">
            <a:avLst/>
          </a:prstGeom>
        </p:spPr>
      </p:pic>
      <p:sp>
        <p:nvSpPr>
          <p:cNvPr id="177" name="Oval 176"/>
          <p:cNvSpPr/>
          <p:nvPr/>
        </p:nvSpPr>
        <p:spPr>
          <a:xfrm>
            <a:off x="11113200" y="39337200"/>
            <a:ext cx="453600" cy="4536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113200" y="39337200"/>
            <a:ext cx="453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050" b="1" i="0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2927600" y="39916800"/>
            <a:ext cx="22806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1820" b="1" i="0">
                <a:solidFill>
                  <a:srgbClr val="14213D"/>
                </a:solidFill>
                <a:latin typeface="Manrope"/>
              </a:rPr>
              <a:t>One lumbar injection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927600" y="40622400"/>
            <a:ext cx="22806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Into the CSF — bypassing the blood–brain barrier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5435000" y="40471200"/>
            <a:ext cx="453600" cy="4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959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5813000" y="39513600"/>
            <a:ext cx="4649400" cy="231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therapy-neuro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115400" y="39891600"/>
            <a:ext cx="1562400" cy="1562400"/>
          </a:xfrm>
          <a:prstGeom prst="rect">
            <a:avLst/>
          </a:prstGeom>
        </p:spPr>
      </p:pic>
      <p:sp>
        <p:nvSpPr>
          <p:cNvPr id="184" name="Oval 183"/>
          <p:cNvSpPr/>
          <p:nvPr/>
        </p:nvSpPr>
        <p:spPr>
          <a:xfrm>
            <a:off x="16065000" y="39337200"/>
            <a:ext cx="453600" cy="4536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6065000" y="39337200"/>
            <a:ext cx="453600" cy="45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050" b="1" i="0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7879400" y="39916800"/>
            <a:ext cx="2280600" cy="65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9"/>
              </a:spcAft>
            </a:pPr>
            <a:r>
              <a:rPr sz="1820" b="1" i="0">
                <a:solidFill>
                  <a:srgbClr val="14213D"/>
                </a:solidFill>
                <a:latin typeface="Manrope"/>
              </a:rPr>
              <a:t>Gigaxonin restored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7879400" y="40622400"/>
            <a:ext cx="22806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Neurons clear aggregates; sensory nerves regenerate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957600" y="42235200"/>
            <a:ext cx="6300000" cy="18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260000" y="42537600"/>
            <a:ext cx="5695200" cy="5728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919" b="0" i="0">
                <a:solidFill>
                  <a:srgbClr val="1A9C8E"/>
                </a:solidFill>
                <a:latin typeface="Fraunces"/>
              </a:rPr>
              <a:t>May 2015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260000" y="43186077"/>
            <a:ext cx="5695200" cy="787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first person ever to receive a therapeutic gene through the spinal fluid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560000" y="42235200"/>
            <a:ext cx="6300000" cy="18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862400" y="42537600"/>
            <a:ext cx="5695200" cy="5728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919" b="0" i="0">
                <a:solidFill>
                  <a:srgbClr val="B7801E"/>
                </a:solidFill>
                <a:latin typeface="Fraunces"/>
              </a:rPr>
              <a:t>21 July 2016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862400" y="43186077"/>
            <a:ext cx="5695200" cy="787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Hannah, aged 12, becomes the 5th child treated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4162400" y="42235200"/>
            <a:ext cx="6300000" cy="18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4464800" y="42537600"/>
            <a:ext cx="5695200" cy="5728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919" b="0" i="0">
                <a:solidFill>
                  <a:srgbClr val="E4572E"/>
                </a:solidFill>
                <a:latin typeface="Fraunces"/>
              </a:rPr>
              <a:t>1 dose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464800" y="43186077"/>
            <a:ext cx="5695200" cy="787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up to 3.5 × 10¹⁴ vector genomes, given once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0" y="44604000"/>
            <a:ext cx="21420000" cy="5796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-3528000" y="44856000"/>
            <a:ext cx="5544000" cy="5544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41000" y="44604000"/>
            <a:ext cx="75600" cy="4284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51200" y="45158400"/>
            <a:ext cx="655200" cy="655200"/>
          </a:xfrm>
          <a:prstGeom prst="ellipse">
            <a:avLst/>
          </a:prstGeom>
          <a:solidFill>
            <a:srgbClr val="0F1B33"/>
          </a:solidFill>
          <a:ln w="8001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51200" y="45158400"/>
            <a:ext cx="655200" cy="65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F6F3EC"/>
                </a:solidFill>
                <a:latin typeface="Fraunces"/>
              </a:rPr>
              <a:t>6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57600" y="4519368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562400" y="45108000"/>
            <a:ext cx="151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WHAT THE TRIAL SHOWED — NEJM, MARCH 2024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57600" y="45385200"/>
            <a:ext cx="12700800" cy="55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500" b="0" i="0">
                <a:solidFill>
                  <a:srgbClr val="F6F3EC"/>
                </a:solidFill>
                <a:latin typeface="Fraunces"/>
              </a:rPr>
              <a:t>Bending the curve of an "untreatable" disease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957600" y="46216800"/>
            <a:ext cx="2948400" cy="19152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209600" y="46468800"/>
            <a:ext cx="2444400" cy="757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5180" b="0" i="0">
                <a:solidFill>
                  <a:srgbClr val="F6F3EC"/>
                </a:solidFill>
                <a:latin typeface="Fraunces"/>
              </a:rPr>
              <a:t>14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209600" y="47301416"/>
            <a:ext cx="2444400" cy="75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children treated, followed ≈ 6 years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208400" y="46216800"/>
            <a:ext cx="2948400" cy="19152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460400" y="46468800"/>
            <a:ext cx="2444400" cy="757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5180" b="0" i="0">
                <a:solidFill>
                  <a:srgbClr val="F6F3EC"/>
                </a:solidFill>
                <a:latin typeface="Fraunces"/>
              </a:rPr>
              <a:t>99%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460400" y="47301416"/>
            <a:ext cx="2444400" cy="75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probability motor decline slowed at the best dose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7459200" y="46216800"/>
            <a:ext cx="2948400" cy="19152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711200" y="46468800"/>
            <a:ext cx="2444400" cy="757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5180" b="0" i="0">
                <a:solidFill>
                  <a:srgbClr val="F6F3EC"/>
                </a:solidFill>
                <a:latin typeface="Fraunces"/>
              </a:rPr>
              <a:t>6 / 14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711200" y="47301416"/>
            <a:ext cx="2444400" cy="75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regained or stabilised sensory nerve responses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0710000" y="46216800"/>
            <a:ext cx="2948400" cy="19152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962000" y="46468800"/>
            <a:ext cx="2444400" cy="757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5180" b="0" i="0">
                <a:solidFill>
                  <a:srgbClr val="F6F3EC"/>
                </a:solidFill>
                <a:latin typeface="Fraunces"/>
              </a:rPr>
              <a:t>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962000" y="47301416"/>
            <a:ext cx="2444400" cy="75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serious adverse event, managed with steroids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4162400" y="46116000"/>
            <a:ext cx="63000" cy="1512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4414400" y="46065600"/>
            <a:ext cx="6048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2100" b="0" i="0">
                <a:solidFill>
                  <a:srgbClr val="F6F3EC"/>
                </a:solidFill>
                <a:latin typeface="Fraunces"/>
              </a:rPr>
              <a:t>Not a cure yet — but the first proof that an "untreatable" childhood neuropathy can be slowed.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0" y="48888000"/>
            <a:ext cx="21420000" cy="2016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957600" y="49190400"/>
            <a:ext cx="13608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9"/>
              </a:spcAft>
            </a:pPr>
            <a:r>
              <a:rPr sz="839" b="0" i="0">
                <a:solidFill>
                  <a:srgbClr val="B8BCC8"/>
                </a:solidFill>
                <a:latin typeface="Manrope"/>
              </a:rPr>
              <a:t>Sources: Bharucha-Goebel DX et al. </a:t>
            </a:r>
            <a:r>
              <a:rPr sz="839" b="0" i="1">
                <a:solidFill>
                  <a:srgbClr val="B8BCC8"/>
                </a:solidFill>
                <a:latin typeface="Fraunces"/>
              </a:rPr>
              <a:t>Intrathecal Gene Therapy for Giant Axonal Neuropathy.</a:t>
            </a:r>
            <a:r>
              <a:rPr sz="839" b="0" i="0">
                <a:solidFill>
                  <a:srgbClr val="B8BCC8"/>
                </a:solidFill>
                <a:latin typeface="Manrope"/>
              </a:rPr>
              <a:t> N Engl J Med 2024;390:1092-1104 · ClinicalTrials.gov NCT02362438 · NIH News, March 2024 · Hannah's Hope Fund · The Children's Inn at NIH, "Hannah's Story" · DNA Science (PLOS), July 2016. Figures adapted from the source poster.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5120000" y="49240800"/>
            <a:ext cx="5342400" cy="90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40"/>
              </a:spcAft>
            </a:pPr>
            <a:r>
              <a:rPr sz="1959" b="0" i="0">
                <a:solidFill>
                  <a:srgbClr val="F6F3EC"/>
                </a:solidFill>
                <a:latin typeface="Fraunces"/>
              </a:rPr>
              <a:t>Giant Axonal Neuropathy</a:t>
            </a:r>
          </a:p>
          <a:p>
            <a:pPr algn="r">
              <a:lnSpc>
                <a:spcPct val="115000"/>
              </a:lnSpc>
              <a:spcAft>
                <a:spcPts val="209"/>
              </a:spcAft>
            </a:pPr>
            <a:r>
              <a:rPr sz="839" b="1" i="0">
                <a:solidFill>
                  <a:srgbClr val="7FE0D4"/>
                </a:solidFill>
                <a:latin typeface="Manrope"/>
              </a:rPr>
              <a:t>FROM GENE TO GENE THERAPY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